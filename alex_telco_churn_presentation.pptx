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~30 seconds
I wanted to make this a business problem rather than a model-shopping exercise. The question is simple: if a retention team cannot call everyone, who should they call first?
The final model catches about 78% of the customers who actually churn on completely unseen data. That is useful. It is not a crystal ball, and I am not going to pretend it is. The point is to prioritise attention better than doing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~45 seconds
The target is Churn, with Yes as the positive class. The user is a retention team and the decision is who to contact first.
That immediately changes what I care about. A false positive wastes a call or perhaps a small retention offer. A false negative means someone genuinely leaves and we never even tried. So I decided the more expensive mistake was missing a churner. That is why recall became my main metric, with precision and F1 there to stop me cheating by simply predicting Yes for everybody.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~45 seconds
The dataset has 7,043 customers. About 26.5% churned, so it is imbalanced enough that accuracy on its own is a bit flattering.
There were two useful data traps. TotalCharges looked numeric but was actually text, with 11 blanks. Every one of those customers had tenure zero, so rather than binning perfectly valid new customers I converted the field and treated their accumulated charges as zero. I also removed customerID because it is just an identifier.
I kept the cleaning boring on purpose. Boring and defensible beats clever and leaky.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~40 seconds
Recall answers the question I actually care about: of the people who genuinely left, how many did the model identify?
The baseline is deliberately stupid. It predicts the majority class, so everybody stays. That gives a churn recall of zero. It is a useful reality check because a model is only interesting if it beats doing essentially nothing.
I used the same five stratified folds for every model so the comparison is fair rather than each model getting a different exam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~45 seconds
I compared three genuinely different model families: Logistic Regression, a Decision Tree and a Random Forest. Same preprocessing pipeline, same folds, same recall scorer.
Logistic Regression came out best at about 0.544 recall. The tree was reasonably close, Random Forest slightly lower. The spread across folds also matters, so I did not treat a tiny difference as gospel.
I took Logistic Regression and the Decision Tree forward for tuning. The feature-engineering experiment I tried — a tenure band — actually made recall slightly worse, so I dropped it. No point keeping complexity just because I made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~50 seconds
Tuning mattered a lot. With balanced class weights, Logistic Regression moved from about 0.54 recall to 0.80 in cross-validation. The tuned tree reached about 0.78, so Logistic Regression still won and it stayed the easier model to explain.
I also tested the classification threshold rather than blindly accepting 0.5. My rule was: catch at least 80% of churners, then take the best precision I can get. 0.5 already did that on cross-validated training probabilities.
Then, finally, I opened the test set once. Recall was 0.783 — only 0.018 below the CV estimate. That is exactly the sort of boring consistency I wanted.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~45 seconds
This is the cost of choosing recall. The model caught 293 of the 374 churners and missed 81. But it also flagged 288 people who stayed.
The interesting bit is that the errors make sense. The missed churners looked like classic loyal customers: long tenure, longer contracts, often automatic payment. The false positives looked like classic churn risks: short tenure, month-to-month, fibre, electronic cheque.
So the model has learned a sensible population pattern. It is just not clairvoyant at an individual level — which is exactly why I would use it to prioritise outreach, not make automatic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~45 seconds
I used permutation importance because it answers a very practical question: if I scramble this original feature, how much worse does recall get?
Tenure is comfortably the biggest driver. Contract type is next, then internet service and monthly charges. The coefficient analysis told the same story in more detail: month-to-month and fibre push churn risk up; long tenure and two-year contracts push it down.
I am deliberately saying association, not causation. The model is describing patterns in this dataset. It is not proving that fibre optic internet causes somebody to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~45 seconds
Would I use it? Yes, but only for the job I designed it for. I would use it to prioritise a retention queue where contacting somebody is relatively cheap and a false alarm is tolerable.
I would not let it automatically hand out discounts or make expensive customer decisions, because precision is only about 50%.
And there are obvious blind spots: complaints, outages, service quality, competitor offers — none of that exists here. So in a real business I would monitor recall and precision over time and retrain when customer behaviour shifts. The model is useful because it narrows where to look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~30 seconds to close, then move into the 3-minute demo
So the headline is: the model catches roughly 78% of genuine churners on unseen data, and it does it with a simple, interpretable pipeline. I would trust it to prioritise a queue. I would not trust it to make the decision for me.
For the demo I will switch to the live Streamlit app. I have three example profiles here just to show the range: a very obvious high-risk customer, a very low-risk customer, and one in the middle.
[Once Streamlit is deployed: point the audience to the public link or QR and let them try their own customer profile.]
Then I will show that the app is using the same saved model and threshold as the notebook — not a separate toy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0F766E"/>
          </a:solidFill>
          <a:ln w="12700">
            <a:solidFill>
              <a:srgbClr val="0F766E"/>
            </a:solidFill>
            <a:prstDash val="solid"/>
          </a:ln>
        </p:spPr>
      </p:sp>
      <p:sp>
        <p:nvSpPr>
          <p:cNvPr id="3" name="Text 1"/>
          <p:cNvSpPr/>
          <p:nvPr/>
        </p:nvSpPr>
        <p:spPr>
          <a:xfrm>
            <a:off x="548640" y="6473952"/>
            <a:ext cx="4754880" cy="164592"/>
          </a:xfrm>
          <a:prstGeom prst="rect">
            <a:avLst/>
          </a:prstGeom>
          <a:noFill/>
          <a:ln/>
        </p:spPr>
        <p:txBody>
          <a:bodyPr wrap="square" lIns="0" tIns="0" rIns="0" bIns="0" rtlCol="0" anchor="ctr"/>
          <a:lstStyle/>
          <a:p>
            <a:pPr indent="0" marL="0">
              <a:buNone/>
            </a:pPr>
            <a:r>
              <a:rPr lang="en-US" sz="800" spc="120" kern="0" dirty="0">
                <a:solidFill>
                  <a:srgbClr val="667085"/>
                </a:solidFill>
                <a:latin typeface="Aptos" pitchFamily="34" charset="0"/>
                <a:ea typeface="Aptos" pitchFamily="34" charset="-122"/>
                <a:cs typeface="Aptos" pitchFamily="34" charset="-120"/>
              </a:rPr>
              <a:t>PROJECT 2 · CUSTOMER CHURN</a:t>
            </a:r>
            <a:endParaRPr lang="en-US" sz="800" dirty="0"/>
          </a:p>
        </p:txBody>
      </p:sp>
      <p:sp>
        <p:nvSpPr>
          <p:cNvPr id="25" name="Slide Number Placeholder 0"/>
          <p:cNvSpPr>
            <a:spLocks noGrp="1"/>
          </p:cNvSpPr>
          <p:nvPr>
            <p:ph type="sldNum" sz="quarter" idx="4294967295"/>
          </p:nvPr>
        </p:nvSpPr>
        <p:spPr>
          <a:xfrm>
            <a:off x="11201400" y="6428232"/>
            <a:ext cx="41148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98A2B3"/>
                </a:solidFill>
                <a:latin typeface="Aptos"/>
                <a:ea typeface="Aptos"/>
                <a:cs typeface="Apto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28232"/>
            <a:ext cx="41148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98A2B3"/>
                </a:solidFill>
                <a:latin typeface="Aptos"/>
                <a:ea typeface="Aptos"/>
                <a:cs typeface="Apto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01828"/>
          </a:solidFill>
          <a:ln w="12700">
            <a:solidFill>
              <a:srgbClr val="101828"/>
            </a:solidFill>
            <a:prstDash val="solid"/>
          </a:ln>
        </p:spPr>
      </p:sp>
      <p:sp>
        <p:nvSpPr>
          <p:cNvPr id="3" name="Shape 1"/>
          <p:cNvSpPr/>
          <p:nvPr/>
        </p:nvSpPr>
        <p:spPr>
          <a:xfrm>
            <a:off x="0" y="0"/>
            <a:ext cx="100584" cy="6858000"/>
          </a:xfrm>
          <a:prstGeom prst="rect">
            <a:avLst/>
          </a:prstGeom>
          <a:solidFill>
            <a:srgbClr val="0F766E"/>
          </a:solidFill>
          <a:ln w="12700">
            <a:solidFill>
              <a:srgbClr val="0F766E"/>
            </a:solidFill>
            <a:prstDash val="solid"/>
          </a:ln>
        </p:spPr>
      </p:sp>
      <p:sp>
        <p:nvSpPr>
          <p:cNvPr id="4" name="Text 2"/>
          <p:cNvSpPr/>
          <p:nvPr/>
        </p:nvSpPr>
        <p:spPr>
          <a:xfrm>
            <a:off x="822960" y="1005840"/>
            <a:ext cx="6492240" cy="1508760"/>
          </a:xfrm>
          <a:prstGeom prst="rect">
            <a:avLst/>
          </a:prstGeom>
          <a:noFill/>
          <a:ln/>
        </p:spPr>
        <p:txBody>
          <a:bodyPr wrap="square" lIns="0" tIns="0" rIns="0" bIns="0" rtlCol="0" anchor="ctr">
            <a:normAutofit/>
          </a:bodyPr>
          <a:lstStyle/>
          <a:p>
            <a:pPr indent="0" marL="0">
              <a:buNone/>
            </a:pPr>
            <a:r>
              <a:rPr lang="en-US" sz="3800" b="1" dirty="0">
                <a:solidFill>
                  <a:srgbClr val="FFFFFF"/>
                </a:solidFill>
              </a:rPr>
              <a:t>PREDICTING</a:t>
            </a:r>
            <a:endParaRPr lang="en-US" sz="3800" dirty="0"/>
          </a:p>
          <a:p>
            <a:pPr indent="0" marL="0">
              <a:buNone/>
            </a:pPr>
            <a:r>
              <a:rPr lang="en-US" sz="3800" b="1" dirty="0">
                <a:solidFill>
                  <a:srgbClr val="FFFFFF"/>
                </a:solidFill>
              </a:rPr>
              <a:t>CUSTOMER CHURN</a:t>
            </a:r>
            <a:endParaRPr lang="en-US" sz="3800" dirty="0"/>
          </a:p>
        </p:txBody>
      </p:sp>
      <p:sp>
        <p:nvSpPr>
          <p:cNvPr id="5" name="Text 3"/>
          <p:cNvSpPr/>
          <p:nvPr/>
        </p:nvSpPr>
        <p:spPr>
          <a:xfrm>
            <a:off x="841248" y="2880360"/>
            <a:ext cx="6035040" cy="438912"/>
          </a:xfrm>
          <a:prstGeom prst="rect">
            <a:avLst/>
          </a:prstGeom>
          <a:noFill/>
          <a:ln/>
        </p:spPr>
        <p:txBody>
          <a:bodyPr wrap="square" lIns="0" tIns="0" rIns="0" bIns="0" rtlCol="0" anchor="ctr"/>
          <a:lstStyle/>
          <a:p>
            <a:pPr indent="0" marL="0">
              <a:buNone/>
            </a:pPr>
            <a:r>
              <a:rPr lang="en-US" sz="2200" dirty="0">
                <a:solidFill>
                  <a:srgbClr val="D0D5DD"/>
                </a:solidFill>
              </a:rPr>
              <a:t>Who should the retention team call first?</a:t>
            </a:r>
            <a:endParaRPr lang="en-US" sz="2200" dirty="0"/>
          </a:p>
        </p:txBody>
      </p:sp>
      <p:sp>
        <p:nvSpPr>
          <p:cNvPr id="6" name="Shape 4"/>
          <p:cNvSpPr/>
          <p:nvPr/>
        </p:nvSpPr>
        <p:spPr>
          <a:xfrm>
            <a:off x="841248" y="3703320"/>
            <a:ext cx="2423160" cy="384048"/>
          </a:xfrm>
          <a:prstGeom prst="roundRect">
            <a:avLst>
              <a:gd name="adj" fmla="val 19048"/>
            </a:avLst>
          </a:prstGeom>
          <a:solidFill>
            <a:srgbClr val="0F766E"/>
          </a:solidFill>
          <a:ln w="12700">
            <a:solidFill>
              <a:srgbClr val="0F766E"/>
            </a:solidFill>
            <a:prstDash val="solid"/>
          </a:ln>
        </p:spPr>
      </p:sp>
      <p:sp>
        <p:nvSpPr>
          <p:cNvPr id="7" name="Text 5"/>
          <p:cNvSpPr/>
          <p:nvPr/>
        </p:nvSpPr>
        <p:spPr>
          <a:xfrm>
            <a:off x="914400" y="3767328"/>
            <a:ext cx="2276856" cy="201168"/>
          </a:xfrm>
          <a:prstGeom prst="rect">
            <a:avLst/>
          </a:prstGeom>
          <a:noFill/>
          <a:ln/>
        </p:spPr>
        <p:txBody>
          <a:bodyPr wrap="square" lIns="0" tIns="0" rIns="0" bIns="0" rtlCol="0" anchor="ctr"/>
          <a:lstStyle/>
          <a:p>
            <a:pPr algn="ctr" indent="0" marL="0">
              <a:buNone/>
            </a:pPr>
            <a:r>
              <a:rPr lang="en-US" sz="1100" b="1" dirty="0">
                <a:solidFill>
                  <a:srgbClr val="FFFFFF"/>
                </a:solidFill>
              </a:rPr>
              <a:t>TELCO · CLASSIFICATION</a:t>
            </a:r>
            <a:endParaRPr lang="en-US" sz="1100" dirty="0"/>
          </a:p>
        </p:txBody>
      </p:sp>
      <p:sp>
        <p:nvSpPr>
          <p:cNvPr id="8" name="Text 6"/>
          <p:cNvSpPr/>
          <p:nvPr/>
        </p:nvSpPr>
        <p:spPr>
          <a:xfrm>
            <a:off x="841248" y="5349240"/>
            <a:ext cx="6309360" cy="292608"/>
          </a:xfrm>
          <a:prstGeom prst="rect">
            <a:avLst/>
          </a:prstGeom>
          <a:noFill/>
          <a:ln/>
        </p:spPr>
        <p:txBody>
          <a:bodyPr wrap="square" lIns="0" tIns="0" rIns="0" bIns="0" rtlCol="0" anchor="ctr"/>
          <a:lstStyle/>
          <a:p>
            <a:pPr indent="0" marL="0">
              <a:buNone/>
            </a:pPr>
            <a:r>
              <a:rPr lang="en-US" sz="1400" dirty="0">
                <a:solidFill>
                  <a:srgbClr val="98A2B3"/>
                </a:solidFill>
              </a:rPr>
              <a:t>Alex  ·  Project 2  ·  Data Science &amp; Machine Learning</a:t>
            </a:r>
            <a:endParaRPr lang="en-US" sz="1400" dirty="0"/>
          </a:p>
        </p:txBody>
      </p:sp>
      <p:sp>
        <p:nvSpPr>
          <p:cNvPr id="9" name="Shape 7"/>
          <p:cNvSpPr/>
          <p:nvPr/>
        </p:nvSpPr>
        <p:spPr>
          <a:xfrm>
            <a:off x="8046720" y="1115568"/>
            <a:ext cx="3017520" cy="3154680"/>
          </a:xfrm>
          <a:prstGeom prst="roundRect">
            <a:avLst>
              <a:gd name="adj" fmla="val 4848"/>
            </a:avLst>
          </a:prstGeom>
          <a:solidFill>
            <a:srgbClr val="172033"/>
          </a:solidFill>
          <a:ln w="12700">
            <a:solidFill>
              <a:srgbClr val="344054"/>
            </a:solidFill>
            <a:prstDash val="solid"/>
          </a:ln>
        </p:spPr>
      </p:sp>
      <p:sp>
        <p:nvSpPr>
          <p:cNvPr id="10" name="Text 8"/>
          <p:cNvSpPr/>
          <p:nvPr/>
        </p:nvSpPr>
        <p:spPr>
          <a:xfrm>
            <a:off x="8394192" y="1600200"/>
            <a:ext cx="2286000" cy="749808"/>
          </a:xfrm>
          <a:prstGeom prst="rect">
            <a:avLst/>
          </a:prstGeom>
          <a:noFill/>
          <a:ln/>
        </p:spPr>
        <p:txBody>
          <a:bodyPr wrap="square" lIns="0" tIns="0" rIns="0" bIns="0" rtlCol="0" anchor="ctr"/>
          <a:lstStyle/>
          <a:p>
            <a:pPr algn="ctr" indent="0" marL="0">
              <a:buNone/>
            </a:pPr>
            <a:r>
              <a:rPr lang="en-US" sz="5400" b="1" dirty="0">
                <a:solidFill>
                  <a:srgbClr val="FFFFFF"/>
                </a:solidFill>
              </a:rPr>
              <a:t>78%</a:t>
            </a:r>
            <a:endParaRPr lang="en-US" sz="5400" dirty="0"/>
          </a:p>
        </p:txBody>
      </p:sp>
      <p:sp>
        <p:nvSpPr>
          <p:cNvPr id="11" name="Text 9"/>
          <p:cNvSpPr/>
          <p:nvPr/>
        </p:nvSpPr>
        <p:spPr>
          <a:xfrm>
            <a:off x="8321040" y="2487168"/>
            <a:ext cx="2468880" cy="713232"/>
          </a:xfrm>
          <a:prstGeom prst="rect">
            <a:avLst/>
          </a:prstGeom>
          <a:noFill/>
          <a:ln/>
        </p:spPr>
        <p:txBody>
          <a:bodyPr wrap="square" lIns="0" tIns="0" rIns="0" bIns="0" rtlCol="0" anchor="ctr"/>
          <a:lstStyle/>
          <a:p>
            <a:pPr algn="ctr" indent="0" marL="0">
              <a:buNone/>
            </a:pPr>
            <a:r>
              <a:rPr lang="en-US" sz="1700" dirty="0">
                <a:solidFill>
                  <a:srgbClr val="D0D5DD"/>
                </a:solidFill>
              </a:rPr>
              <a:t>of actual churners</a:t>
            </a:r>
            <a:endParaRPr lang="en-US" sz="1700" dirty="0"/>
          </a:p>
          <a:p>
            <a:pPr algn="ctr" indent="0" marL="0">
              <a:buNone/>
            </a:pPr>
            <a:r>
              <a:rPr lang="en-US" sz="1700" dirty="0">
                <a:solidFill>
                  <a:srgbClr val="D0D5DD"/>
                </a:solidFill>
              </a:rPr>
              <a:t>identified on unseen data</a:t>
            </a:r>
            <a:endParaRPr lang="en-US" sz="1700" dirty="0"/>
          </a:p>
        </p:txBody>
      </p:sp>
      <p:sp>
        <p:nvSpPr>
          <p:cNvPr id="12" name="Shape 10"/>
          <p:cNvSpPr/>
          <p:nvPr/>
        </p:nvSpPr>
        <p:spPr>
          <a:xfrm>
            <a:off x="8641080" y="3456432"/>
            <a:ext cx="1783080" cy="0"/>
          </a:xfrm>
          <a:prstGeom prst="line">
            <a:avLst/>
          </a:prstGeom>
          <a:noFill/>
          <a:ln w="38100">
            <a:solidFill>
              <a:srgbClr val="0F766E"/>
            </a:solidFill>
            <a:prstDash val="solid"/>
          </a:ln>
        </p:spPr>
      </p:sp>
      <p:sp>
        <p:nvSpPr>
          <p:cNvPr id="13" name="Text 11"/>
          <p:cNvSpPr/>
          <p:nvPr/>
        </p:nvSpPr>
        <p:spPr>
          <a:xfrm>
            <a:off x="8348472" y="3657600"/>
            <a:ext cx="2423160" cy="310896"/>
          </a:xfrm>
          <a:prstGeom prst="rect">
            <a:avLst/>
          </a:prstGeom>
          <a:noFill/>
          <a:ln/>
        </p:spPr>
        <p:txBody>
          <a:bodyPr wrap="square" lIns="0" tIns="0" rIns="0" bIns="0" rtlCol="0" anchor="ctr"/>
          <a:lstStyle/>
          <a:p>
            <a:pPr algn="ctr" indent="0" marL="0">
              <a:buNone/>
            </a:pPr>
            <a:r>
              <a:rPr lang="en-US" sz="1500" b="1" dirty="0">
                <a:solidFill>
                  <a:srgbClr val="DDF4EF"/>
                </a:solidFill>
              </a:rPr>
              <a:t>Useful, not magic.</a:t>
            </a:r>
            <a:endParaRPr lang="en-US" sz="1500" dirty="0"/>
          </a:p>
        </p:txBody>
      </p:sp>
      <p:sp>
        <p:nvSpPr>
          <p:cNvPr id="25" name="Slide Number Placeholder 0"/>
          <p:cNvSpPr>
            <a:spLocks noGrp="1"/>
          </p:cNvSpPr>
          <p:nvPr>
            <p:ph type="sldNum" sz="quarter" idx="4294967295"/>
          </p:nvPr>
        </p:nvSpPr>
        <p:spPr>
          <a:xfrm>
            <a:off x="11201400" y="6428232"/>
            <a:ext cx="41148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98A2B3"/>
                </a:solidFill>
                <a:latin typeface="Aptos"/>
                <a:ea typeface="Aptos"/>
                <a:cs typeface="Apto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384048"/>
            <a:ext cx="4206240" cy="256032"/>
          </a:xfrm>
          <a:prstGeom prst="rect">
            <a:avLst/>
          </a:prstGeom>
          <a:noFill/>
          <a:ln/>
        </p:spPr>
        <p:txBody>
          <a:bodyPr wrap="square" lIns="0" tIns="0" rIns="0" bIns="0" rtlCol="0" anchor="ctr"/>
          <a:lstStyle/>
          <a:p>
            <a:pPr indent="0" marL="0">
              <a:buNone/>
            </a:pPr>
            <a:r>
              <a:rPr lang="en-US" sz="1000" b="1" spc="150" kern="0" dirty="0">
                <a:solidFill>
                  <a:srgbClr val="0F766E"/>
                </a:solidFill>
              </a:rPr>
              <a:t>1 · THE PROBLEM</a:t>
            </a:r>
            <a:endParaRPr lang="en-US" sz="1000" dirty="0"/>
          </a:p>
        </p:txBody>
      </p:sp>
      <p:sp>
        <p:nvSpPr>
          <p:cNvPr id="3" name="Text 1"/>
          <p:cNvSpPr/>
          <p:nvPr/>
        </p:nvSpPr>
        <p:spPr>
          <a:xfrm>
            <a:off x="640080" y="749808"/>
            <a:ext cx="10927080" cy="548640"/>
          </a:xfrm>
          <a:prstGeom prst="rect">
            <a:avLst/>
          </a:prstGeom>
          <a:noFill/>
          <a:ln/>
        </p:spPr>
        <p:txBody>
          <a:bodyPr wrap="square" lIns="0" tIns="0" rIns="0" bIns="0" rtlCol="0" anchor="ctr"/>
          <a:lstStyle/>
          <a:p>
            <a:pPr indent="0" marL="0">
              <a:buNone/>
            </a:pPr>
            <a:r>
              <a:rPr lang="en-US" sz="2700" b="1" dirty="0">
                <a:solidFill>
                  <a:srgbClr val="101828"/>
                </a:solidFill>
              </a:rPr>
              <a:t>The prediction has a job to do</a:t>
            </a:r>
            <a:endParaRPr lang="en-US" sz="2700" dirty="0"/>
          </a:p>
        </p:txBody>
      </p:sp>
      <p:sp>
        <p:nvSpPr>
          <p:cNvPr id="4" name="Text 2"/>
          <p:cNvSpPr/>
          <p:nvPr/>
        </p:nvSpPr>
        <p:spPr>
          <a:xfrm>
            <a:off x="685800" y="1554480"/>
            <a:ext cx="1097280" cy="228600"/>
          </a:xfrm>
          <a:prstGeom prst="rect">
            <a:avLst/>
          </a:prstGeom>
          <a:noFill/>
          <a:ln/>
        </p:spPr>
        <p:txBody>
          <a:bodyPr wrap="square" lIns="0" tIns="0" rIns="0" bIns="0" rtlCol="0" anchor="ctr"/>
          <a:lstStyle/>
          <a:p>
            <a:pPr indent="0" marL="0">
              <a:buNone/>
            </a:pPr>
            <a:r>
              <a:rPr lang="en-US" sz="1200" b="1" dirty="0">
                <a:solidFill>
                  <a:srgbClr val="667085"/>
                </a:solidFill>
              </a:rPr>
              <a:t>Target</a:t>
            </a:r>
            <a:endParaRPr lang="en-US" sz="1200" dirty="0"/>
          </a:p>
        </p:txBody>
      </p:sp>
      <p:sp>
        <p:nvSpPr>
          <p:cNvPr id="5" name="Text 3"/>
          <p:cNvSpPr/>
          <p:nvPr/>
        </p:nvSpPr>
        <p:spPr>
          <a:xfrm>
            <a:off x="685800" y="1847088"/>
            <a:ext cx="2743200" cy="502920"/>
          </a:xfrm>
          <a:prstGeom prst="rect">
            <a:avLst/>
          </a:prstGeom>
          <a:noFill/>
          <a:ln/>
        </p:spPr>
        <p:txBody>
          <a:bodyPr wrap="square" lIns="0" tIns="0" rIns="0" bIns="0" rtlCol="0" anchor="ctr"/>
          <a:lstStyle/>
          <a:p>
            <a:pPr indent="0" marL="0">
              <a:buNone/>
            </a:pPr>
            <a:r>
              <a:rPr lang="en-US" sz="2800" b="1" dirty="0">
                <a:solidFill>
                  <a:srgbClr val="101828"/>
                </a:solidFill>
              </a:rPr>
              <a:t>Churn = Yes</a:t>
            </a:r>
            <a:endParaRPr lang="en-US" sz="2800" dirty="0"/>
          </a:p>
        </p:txBody>
      </p:sp>
      <p:sp>
        <p:nvSpPr>
          <p:cNvPr id="6" name="Text 4"/>
          <p:cNvSpPr/>
          <p:nvPr/>
        </p:nvSpPr>
        <p:spPr>
          <a:xfrm>
            <a:off x="685800" y="2404872"/>
            <a:ext cx="1828800" cy="228600"/>
          </a:xfrm>
          <a:prstGeom prst="rect">
            <a:avLst/>
          </a:prstGeom>
          <a:noFill/>
          <a:ln/>
        </p:spPr>
        <p:txBody>
          <a:bodyPr wrap="square" lIns="0" tIns="0" rIns="0" bIns="0" rtlCol="0" anchor="ctr"/>
          <a:lstStyle/>
          <a:p>
            <a:pPr indent="0" marL="0">
              <a:buNone/>
            </a:pPr>
            <a:r>
              <a:rPr lang="en-US" sz="1100" dirty="0">
                <a:solidFill>
                  <a:srgbClr val="667085"/>
                </a:solidFill>
              </a:rPr>
              <a:t>Positive class</a:t>
            </a:r>
            <a:endParaRPr lang="en-US" sz="1100" dirty="0"/>
          </a:p>
        </p:txBody>
      </p:sp>
      <p:sp>
        <p:nvSpPr>
          <p:cNvPr id="7" name="Shape 5"/>
          <p:cNvSpPr/>
          <p:nvPr/>
        </p:nvSpPr>
        <p:spPr>
          <a:xfrm>
            <a:off x="3794760" y="1572768"/>
            <a:ext cx="0" cy="4023360"/>
          </a:xfrm>
          <a:prstGeom prst="line">
            <a:avLst/>
          </a:prstGeom>
          <a:noFill/>
          <a:ln w="12700">
            <a:solidFill>
              <a:srgbClr val="D0D5DD"/>
            </a:solidFill>
            <a:prstDash val="solid"/>
          </a:ln>
        </p:spPr>
      </p:sp>
      <p:sp>
        <p:nvSpPr>
          <p:cNvPr id="8" name="Shape 6"/>
          <p:cNvSpPr/>
          <p:nvPr/>
        </p:nvSpPr>
        <p:spPr>
          <a:xfrm>
            <a:off x="4251960" y="1554480"/>
            <a:ext cx="1554480" cy="384048"/>
          </a:xfrm>
          <a:prstGeom prst="roundRect">
            <a:avLst>
              <a:gd name="adj" fmla="val 19048"/>
            </a:avLst>
          </a:prstGeom>
          <a:solidFill>
            <a:srgbClr val="DDF4EF"/>
          </a:solidFill>
          <a:ln w="12700">
            <a:solidFill>
              <a:srgbClr val="DDF4EF"/>
            </a:solidFill>
            <a:prstDash val="solid"/>
          </a:ln>
        </p:spPr>
      </p:sp>
      <p:sp>
        <p:nvSpPr>
          <p:cNvPr id="9" name="Text 7"/>
          <p:cNvSpPr/>
          <p:nvPr/>
        </p:nvSpPr>
        <p:spPr>
          <a:xfrm>
            <a:off x="4325112" y="1618488"/>
            <a:ext cx="1408176" cy="201168"/>
          </a:xfrm>
          <a:prstGeom prst="rect">
            <a:avLst/>
          </a:prstGeom>
          <a:noFill/>
          <a:ln/>
        </p:spPr>
        <p:txBody>
          <a:bodyPr wrap="square" lIns="0" tIns="0" rIns="0" bIns="0" rtlCol="0" anchor="ctr"/>
          <a:lstStyle/>
          <a:p>
            <a:pPr algn="ctr" indent="0" marL="0">
              <a:buNone/>
            </a:pPr>
            <a:r>
              <a:rPr lang="en-US" sz="1100" b="1" dirty="0">
                <a:solidFill>
                  <a:srgbClr val="115E59"/>
                </a:solidFill>
              </a:rPr>
              <a:t>WHO USES IT?</a:t>
            </a:r>
            <a:endParaRPr lang="en-US" sz="1100" dirty="0"/>
          </a:p>
        </p:txBody>
      </p:sp>
      <p:sp>
        <p:nvSpPr>
          <p:cNvPr id="10" name="Text 8"/>
          <p:cNvSpPr/>
          <p:nvPr/>
        </p:nvSpPr>
        <p:spPr>
          <a:xfrm>
            <a:off x="4251960" y="2029968"/>
            <a:ext cx="2834640" cy="384048"/>
          </a:xfrm>
          <a:prstGeom prst="rect">
            <a:avLst/>
          </a:prstGeom>
          <a:noFill/>
          <a:ln/>
        </p:spPr>
        <p:txBody>
          <a:bodyPr wrap="square" lIns="0" tIns="0" rIns="0" bIns="0" rtlCol="0" anchor="ctr"/>
          <a:lstStyle/>
          <a:p>
            <a:pPr indent="0" marL="0">
              <a:buNone/>
            </a:pPr>
            <a:r>
              <a:rPr lang="en-US" sz="2300" b="1" dirty="0">
                <a:solidFill>
                  <a:srgbClr val="101828"/>
                </a:solidFill>
              </a:rPr>
              <a:t>Customer retention team</a:t>
            </a:r>
            <a:endParaRPr lang="en-US" sz="2300" dirty="0"/>
          </a:p>
        </p:txBody>
      </p:sp>
      <p:sp>
        <p:nvSpPr>
          <p:cNvPr id="11" name="Shape 9"/>
          <p:cNvSpPr/>
          <p:nvPr/>
        </p:nvSpPr>
        <p:spPr>
          <a:xfrm>
            <a:off x="4251960" y="2816352"/>
            <a:ext cx="1645920" cy="384048"/>
          </a:xfrm>
          <a:prstGeom prst="roundRect">
            <a:avLst>
              <a:gd name="adj" fmla="val 19048"/>
            </a:avLst>
          </a:prstGeom>
          <a:solidFill>
            <a:srgbClr val="DDF4EF"/>
          </a:solidFill>
          <a:ln w="12700">
            <a:solidFill>
              <a:srgbClr val="DDF4EF"/>
            </a:solidFill>
            <a:prstDash val="solid"/>
          </a:ln>
        </p:spPr>
      </p:sp>
      <p:sp>
        <p:nvSpPr>
          <p:cNvPr id="12" name="Text 10"/>
          <p:cNvSpPr/>
          <p:nvPr/>
        </p:nvSpPr>
        <p:spPr>
          <a:xfrm>
            <a:off x="4325112" y="2880360"/>
            <a:ext cx="1499616" cy="201168"/>
          </a:xfrm>
          <a:prstGeom prst="rect">
            <a:avLst/>
          </a:prstGeom>
          <a:noFill/>
          <a:ln/>
        </p:spPr>
        <p:txBody>
          <a:bodyPr wrap="square" lIns="0" tIns="0" rIns="0" bIns="0" rtlCol="0" anchor="ctr"/>
          <a:lstStyle/>
          <a:p>
            <a:pPr algn="ctr" indent="0" marL="0">
              <a:buNone/>
            </a:pPr>
            <a:r>
              <a:rPr lang="en-US" sz="1100" b="1" dirty="0">
                <a:solidFill>
                  <a:srgbClr val="115E59"/>
                </a:solidFill>
              </a:rPr>
              <a:t>WHAT DECISION?</a:t>
            </a:r>
            <a:endParaRPr lang="en-US" sz="1100" dirty="0"/>
          </a:p>
        </p:txBody>
      </p:sp>
      <p:sp>
        <p:nvSpPr>
          <p:cNvPr id="13" name="Text 11"/>
          <p:cNvSpPr/>
          <p:nvPr/>
        </p:nvSpPr>
        <p:spPr>
          <a:xfrm>
            <a:off x="4251960" y="3273552"/>
            <a:ext cx="2926080" cy="365760"/>
          </a:xfrm>
          <a:prstGeom prst="rect">
            <a:avLst/>
          </a:prstGeom>
          <a:noFill/>
          <a:ln/>
        </p:spPr>
        <p:txBody>
          <a:bodyPr wrap="square" lIns="0" tIns="0" rIns="0" bIns="0" rtlCol="0" anchor="ctr"/>
          <a:lstStyle/>
          <a:p>
            <a:pPr indent="0" marL="0">
              <a:buNone/>
            </a:pPr>
            <a:r>
              <a:rPr lang="en-US" sz="2300" b="1" dirty="0">
                <a:solidFill>
                  <a:srgbClr val="101828"/>
                </a:solidFill>
              </a:rPr>
              <a:t>Who gets contacted first?</a:t>
            </a:r>
            <a:endParaRPr lang="en-US" sz="2300" dirty="0"/>
          </a:p>
        </p:txBody>
      </p:sp>
      <p:sp>
        <p:nvSpPr>
          <p:cNvPr id="14" name="Shape 12"/>
          <p:cNvSpPr/>
          <p:nvPr/>
        </p:nvSpPr>
        <p:spPr>
          <a:xfrm>
            <a:off x="7818120" y="1554480"/>
            <a:ext cx="1737360" cy="384048"/>
          </a:xfrm>
          <a:prstGeom prst="roundRect">
            <a:avLst>
              <a:gd name="adj" fmla="val 19048"/>
            </a:avLst>
          </a:prstGeom>
          <a:solidFill>
            <a:srgbClr val="DDF4EF"/>
          </a:solidFill>
          <a:ln w="12700">
            <a:solidFill>
              <a:srgbClr val="DDF4EF"/>
            </a:solidFill>
            <a:prstDash val="solid"/>
          </a:ln>
        </p:spPr>
      </p:sp>
      <p:sp>
        <p:nvSpPr>
          <p:cNvPr id="15" name="Text 13"/>
          <p:cNvSpPr/>
          <p:nvPr/>
        </p:nvSpPr>
        <p:spPr>
          <a:xfrm>
            <a:off x="7891272" y="1618488"/>
            <a:ext cx="1591056" cy="201168"/>
          </a:xfrm>
          <a:prstGeom prst="rect">
            <a:avLst/>
          </a:prstGeom>
          <a:noFill/>
          <a:ln/>
        </p:spPr>
        <p:txBody>
          <a:bodyPr wrap="square" lIns="0" tIns="0" rIns="0" bIns="0" rtlCol="0" anchor="ctr"/>
          <a:lstStyle/>
          <a:p>
            <a:pPr algn="ctr" indent="0" marL="0">
              <a:buNone/>
            </a:pPr>
            <a:r>
              <a:rPr lang="en-US" sz="1100" b="1" dirty="0">
                <a:solidFill>
                  <a:srgbClr val="115E59"/>
                </a:solidFill>
              </a:rPr>
              <a:t>COST OF A MISS</a:t>
            </a:r>
            <a:endParaRPr lang="en-US" sz="1100" dirty="0"/>
          </a:p>
        </p:txBody>
      </p:sp>
      <p:sp>
        <p:nvSpPr>
          <p:cNvPr id="16" name="Text 14"/>
          <p:cNvSpPr/>
          <p:nvPr/>
        </p:nvSpPr>
        <p:spPr>
          <a:xfrm>
            <a:off x="7818120" y="2029968"/>
            <a:ext cx="2194560" cy="320040"/>
          </a:xfrm>
          <a:prstGeom prst="rect">
            <a:avLst/>
          </a:prstGeom>
          <a:noFill/>
          <a:ln/>
        </p:spPr>
        <p:txBody>
          <a:bodyPr wrap="square" lIns="0" tIns="0" rIns="0" bIns="0" rtlCol="0" anchor="ctr"/>
          <a:lstStyle/>
          <a:p>
            <a:pPr indent="0" marL="0">
              <a:buNone/>
            </a:pPr>
            <a:r>
              <a:rPr lang="en-US" sz="2000" b="1" dirty="0">
                <a:solidFill>
                  <a:srgbClr val="B42318"/>
                </a:solidFill>
              </a:rPr>
              <a:t>False negative</a:t>
            </a:r>
            <a:endParaRPr lang="en-US" sz="2000" dirty="0"/>
          </a:p>
        </p:txBody>
      </p:sp>
      <p:sp>
        <p:nvSpPr>
          <p:cNvPr id="17" name="Text 15"/>
          <p:cNvSpPr/>
          <p:nvPr/>
        </p:nvSpPr>
        <p:spPr>
          <a:xfrm>
            <a:off x="7818120" y="2441448"/>
            <a:ext cx="3291840" cy="960120"/>
          </a:xfrm>
          <a:prstGeom prst="rect">
            <a:avLst/>
          </a:prstGeom>
          <a:noFill/>
          <a:ln/>
        </p:spPr>
        <p:txBody>
          <a:bodyPr wrap="square" lIns="0" tIns="0" rIns="0" bIns="0" rtlCol="0" anchor="ctr"/>
          <a:lstStyle/>
          <a:p>
            <a:pPr indent="0" marL="0">
              <a:buNone/>
            </a:pPr>
            <a:r>
              <a:rPr lang="en-US" sz="1600" dirty="0">
                <a:solidFill>
                  <a:srgbClr val="101828"/>
                </a:solidFill>
              </a:rPr>
              <a:t>A genuine churner is missed.</a:t>
            </a:r>
            <a:endParaRPr lang="en-US" sz="1600" dirty="0"/>
          </a:p>
          <a:p>
            <a:pPr indent="0" marL="0">
              <a:buNone/>
            </a:pPr>
            <a:r>
              <a:rPr lang="en-US" sz="1600" dirty="0">
                <a:solidFill>
                  <a:srgbClr val="101828"/>
                </a:solidFill>
              </a:rPr>
              <a:t>The business loses the chance to intervene.</a:t>
            </a:r>
            <a:endParaRPr lang="en-US" sz="1600" dirty="0"/>
          </a:p>
        </p:txBody>
      </p:sp>
      <p:sp>
        <p:nvSpPr>
          <p:cNvPr id="18" name="Shape 16"/>
          <p:cNvSpPr/>
          <p:nvPr/>
        </p:nvSpPr>
        <p:spPr>
          <a:xfrm>
            <a:off x="7818120" y="3703320"/>
            <a:ext cx="1325880" cy="384048"/>
          </a:xfrm>
          <a:prstGeom prst="roundRect">
            <a:avLst>
              <a:gd name="adj" fmla="val 19048"/>
            </a:avLst>
          </a:prstGeom>
          <a:solidFill>
            <a:srgbClr val="DDF4EF"/>
          </a:solidFill>
          <a:ln w="12700">
            <a:solidFill>
              <a:srgbClr val="DDF4EF"/>
            </a:solidFill>
            <a:prstDash val="solid"/>
          </a:ln>
        </p:spPr>
      </p:sp>
      <p:sp>
        <p:nvSpPr>
          <p:cNvPr id="19" name="Text 17"/>
          <p:cNvSpPr/>
          <p:nvPr/>
        </p:nvSpPr>
        <p:spPr>
          <a:xfrm>
            <a:off x="7891272" y="3767328"/>
            <a:ext cx="1179576" cy="201168"/>
          </a:xfrm>
          <a:prstGeom prst="rect">
            <a:avLst/>
          </a:prstGeom>
          <a:noFill/>
          <a:ln/>
        </p:spPr>
        <p:txBody>
          <a:bodyPr wrap="square" lIns="0" tIns="0" rIns="0" bIns="0" rtlCol="0" anchor="ctr"/>
          <a:lstStyle/>
          <a:p>
            <a:pPr algn="ctr" indent="0" marL="0">
              <a:buNone/>
            </a:pPr>
            <a:r>
              <a:rPr lang="en-US" sz="1100" b="1" dirty="0">
                <a:solidFill>
                  <a:srgbClr val="115E59"/>
                </a:solidFill>
              </a:rPr>
              <a:t>TRADE-OFF</a:t>
            </a:r>
            <a:endParaRPr lang="en-US" sz="1100" dirty="0"/>
          </a:p>
        </p:txBody>
      </p:sp>
      <p:sp>
        <p:nvSpPr>
          <p:cNvPr id="20" name="Text 18"/>
          <p:cNvSpPr/>
          <p:nvPr/>
        </p:nvSpPr>
        <p:spPr>
          <a:xfrm>
            <a:off x="7818120" y="4160520"/>
            <a:ext cx="3383280" cy="914400"/>
          </a:xfrm>
          <a:prstGeom prst="rect">
            <a:avLst/>
          </a:prstGeom>
          <a:noFill/>
          <a:ln/>
        </p:spPr>
        <p:txBody>
          <a:bodyPr wrap="square" lIns="0" tIns="0" rIns="0" bIns="0" rtlCol="0" anchor="ctr"/>
          <a:lstStyle/>
          <a:p>
            <a:pPr indent="0" marL="0">
              <a:buNone/>
            </a:pPr>
            <a:r>
              <a:rPr lang="en-US" sz="1600" b="1" dirty="0">
                <a:solidFill>
                  <a:srgbClr val="101828"/>
                </a:solidFill>
              </a:rPr>
              <a:t>I would rather make some extra calls than miss most of the people leaving.</a:t>
            </a:r>
            <a:endParaRPr lang="en-US" sz="1600" dirty="0"/>
          </a:p>
        </p:txBody>
      </p:sp>
      <p:sp>
        <p:nvSpPr>
          <p:cNvPr id="25" name="Slide Number Placeholder 0"/>
          <p:cNvSpPr>
            <a:spLocks noGrp="1"/>
          </p:cNvSpPr>
          <p:nvPr>
            <p:ph type="sldNum" sz="quarter" idx="4294967295"/>
          </p:nvPr>
        </p:nvSpPr>
        <p:spPr>
          <a:xfrm>
            <a:off x="11201400" y="6428232"/>
            <a:ext cx="41148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98A2B3"/>
                </a:solidFill>
                <a:latin typeface="Aptos"/>
                <a:ea typeface="Aptos"/>
                <a:cs typeface="Apto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40080" y="384048"/>
            <a:ext cx="4206240" cy="256032"/>
          </a:xfrm>
          <a:prstGeom prst="rect">
            <a:avLst/>
          </a:prstGeom>
          <a:noFill/>
          <a:ln/>
        </p:spPr>
        <p:txBody>
          <a:bodyPr wrap="square" lIns="0" tIns="0" rIns="0" bIns="0" rtlCol="0" anchor="ctr"/>
          <a:lstStyle/>
          <a:p>
            <a:pPr indent="0" marL="0">
              <a:buNone/>
            </a:pPr>
            <a:r>
              <a:rPr lang="en-US" sz="1000" b="1" spc="150" kern="0" dirty="0">
                <a:solidFill>
                  <a:srgbClr val="0F766E"/>
                </a:solidFill>
              </a:rPr>
              <a:t>2 · THE DATA</a:t>
            </a:r>
            <a:endParaRPr lang="en-US" sz="1000" dirty="0"/>
          </a:p>
        </p:txBody>
      </p:sp>
      <p:sp>
        <p:nvSpPr>
          <p:cNvPr id="3" name="Text 1"/>
          <p:cNvSpPr/>
          <p:nvPr/>
        </p:nvSpPr>
        <p:spPr>
          <a:xfrm>
            <a:off x="640080" y="749808"/>
            <a:ext cx="10927080" cy="548640"/>
          </a:xfrm>
          <a:prstGeom prst="rect">
            <a:avLst/>
          </a:prstGeom>
          <a:noFill/>
          <a:ln/>
        </p:spPr>
        <p:txBody>
          <a:bodyPr wrap="square" lIns="0" tIns="0" rIns="0" bIns="0" rtlCol="0" anchor="ctr"/>
          <a:lstStyle/>
          <a:p>
            <a:pPr indent="0" marL="0">
              <a:buNone/>
            </a:pPr>
            <a:r>
              <a:rPr lang="en-US" sz="2700" b="1" dirty="0">
                <a:solidFill>
                  <a:srgbClr val="101828"/>
                </a:solidFill>
              </a:rPr>
              <a:t>7,043 customers — and a few traps</a:t>
            </a:r>
            <a:endParaRPr lang="en-US" sz="2700" dirty="0"/>
          </a:p>
        </p:txBody>
      </p:sp>
      <p:sp>
        <p:nvSpPr>
          <p:cNvPr id="4" name="Shape 2"/>
          <p:cNvSpPr/>
          <p:nvPr/>
        </p:nvSpPr>
        <p:spPr>
          <a:xfrm>
            <a:off x="685800" y="1417320"/>
            <a:ext cx="2148840" cy="1115568"/>
          </a:xfrm>
          <a:prstGeom prst="roundRect">
            <a:avLst>
              <a:gd name="adj" fmla="val 6557"/>
            </a:avLst>
          </a:prstGeom>
          <a:solidFill>
            <a:srgbClr val="FFFFFF"/>
          </a:solidFill>
          <a:ln w="12700">
            <a:solidFill>
              <a:srgbClr val="E4E7EC"/>
            </a:solidFill>
            <a:prstDash val="solid"/>
          </a:ln>
        </p:spPr>
      </p:sp>
      <p:sp>
        <p:nvSpPr>
          <p:cNvPr id="5" name="Shape 3"/>
          <p:cNvSpPr/>
          <p:nvPr/>
        </p:nvSpPr>
        <p:spPr>
          <a:xfrm>
            <a:off x="685800" y="1417320"/>
            <a:ext cx="54864" cy="1115568"/>
          </a:xfrm>
          <a:prstGeom prst="rect">
            <a:avLst/>
          </a:prstGeom>
          <a:solidFill>
            <a:srgbClr val="0F766E"/>
          </a:solidFill>
          <a:ln w="12700">
            <a:solidFill>
              <a:srgbClr val="0F766E"/>
            </a:solidFill>
            <a:prstDash val="solid"/>
          </a:ln>
        </p:spPr>
      </p:sp>
      <p:sp>
        <p:nvSpPr>
          <p:cNvPr id="6" name="Text 4"/>
          <p:cNvSpPr/>
          <p:nvPr/>
        </p:nvSpPr>
        <p:spPr>
          <a:xfrm>
            <a:off x="886968" y="1581912"/>
            <a:ext cx="1828800" cy="384048"/>
          </a:xfrm>
          <a:prstGeom prst="rect">
            <a:avLst/>
          </a:prstGeom>
          <a:noFill/>
          <a:ln/>
        </p:spPr>
        <p:txBody>
          <a:bodyPr wrap="square" lIns="0" tIns="0" rIns="0" bIns="0" rtlCol="0" anchor="ctr"/>
          <a:lstStyle/>
          <a:p>
            <a:pPr indent="0" marL="0">
              <a:buNone/>
            </a:pPr>
            <a:r>
              <a:rPr lang="en-US" sz="2500" b="1" dirty="0">
                <a:solidFill>
                  <a:srgbClr val="101828"/>
                </a:solidFill>
              </a:rPr>
              <a:t>7,043</a:t>
            </a:r>
            <a:endParaRPr lang="en-US" sz="2500" dirty="0"/>
          </a:p>
        </p:txBody>
      </p:sp>
      <p:sp>
        <p:nvSpPr>
          <p:cNvPr id="7" name="Text 5"/>
          <p:cNvSpPr/>
          <p:nvPr/>
        </p:nvSpPr>
        <p:spPr>
          <a:xfrm>
            <a:off x="886968" y="2020824"/>
            <a:ext cx="1828800" cy="219456"/>
          </a:xfrm>
          <a:prstGeom prst="rect">
            <a:avLst/>
          </a:prstGeom>
          <a:noFill/>
          <a:ln/>
        </p:spPr>
        <p:txBody>
          <a:bodyPr wrap="square" lIns="0" tIns="0" rIns="0" bIns="0" rtlCol="0" anchor="ctr"/>
          <a:lstStyle/>
          <a:p>
            <a:pPr indent="0" marL="0">
              <a:buNone/>
            </a:pPr>
            <a:r>
              <a:rPr lang="en-US" sz="1100" b="1" dirty="0">
                <a:solidFill>
                  <a:srgbClr val="667085"/>
                </a:solidFill>
              </a:rPr>
              <a:t>Customers</a:t>
            </a:r>
            <a:endParaRPr lang="en-US" sz="1100" dirty="0"/>
          </a:p>
        </p:txBody>
      </p:sp>
      <p:sp>
        <p:nvSpPr>
          <p:cNvPr id="8" name="Text 6"/>
          <p:cNvSpPr/>
          <p:nvPr/>
        </p:nvSpPr>
        <p:spPr>
          <a:xfrm>
            <a:off x="886968" y="2267712"/>
            <a:ext cx="1828800" cy="164592"/>
          </a:xfrm>
          <a:prstGeom prst="rect">
            <a:avLst/>
          </a:prstGeom>
          <a:noFill/>
          <a:ln/>
        </p:spPr>
        <p:txBody>
          <a:bodyPr wrap="square" lIns="0" tIns="0" rIns="0" bIns="0" rtlCol="0" anchor="ctr"/>
          <a:lstStyle/>
          <a:p>
            <a:pPr indent="0" marL="0">
              <a:buNone/>
            </a:pPr>
            <a:r>
              <a:rPr lang="en-US" sz="900" dirty="0">
                <a:solidFill>
                  <a:srgbClr val="667085"/>
                </a:solidFill>
              </a:rPr>
              <a:t>one row = one customer</a:t>
            </a:r>
            <a:endParaRPr lang="en-US" sz="900" dirty="0"/>
          </a:p>
        </p:txBody>
      </p:sp>
      <p:sp>
        <p:nvSpPr>
          <p:cNvPr id="9" name="Shape 7"/>
          <p:cNvSpPr/>
          <p:nvPr/>
        </p:nvSpPr>
        <p:spPr>
          <a:xfrm>
            <a:off x="3017520" y="1417320"/>
            <a:ext cx="2148840" cy="1115568"/>
          </a:xfrm>
          <a:prstGeom prst="roundRect">
            <a:avLst>
              <a:gd name="adj" fmla="val 6557"/>
            </a:avLst>
          </a:prstGeom>
          <a:solidFill>
            <a:srgbClr val="FFFFFF"/>
          </a:solidFill>
          <a:ln w="12700">
            <a:solidFill>
              <a:srgbClr val="E4E7EC"/>
            </a:solidFill>
            <a:prstDash val="solid"/>
          </a:ln>
        </p:spPr>
      </p:sp>
      <p:sp>
        <p:nvSpPr>
          <p:cNvPr id="10" name="Shape 8"/>
          <p:cNvSpPr/>
          <p:nvPr/>
        </p:nvSpPr>
        <p:spPr>
          <a:xfrm>
            <a:off x="3017520" y="1417320"/>
            <a:ext cx="54864" cy="1115568"/>
          </a:xfrm>
          <a:prstGeom prst="rect">
            <a:avLst/>
          </a:prstGeom>
          <a:solidFill>
            <a:srgbClr val="D97706"/>
          </a:solidFill>
          <a:ln w="12700">
            <a:solidFill>
              <a:srgbClr val="D97706"/>
            </a:solidFill>
            <a:prstDash val="solid"/>
          </a:ln>
        </p:spPr>
      </p:sp>
      <p:sp>
        <p:nvSpPr>
          <p:cNvPr id="11" name="Text 9"/>
          <p:cNvSpPr/>
          <p:nvPr/>
        </p:nvSpPr>
        <p:spPr>
          <a:xfrm>
            <a:off x="3218688" y="1581912"/>
            <a:ext cx="1828800" cy="384048"/>
          </a:xfrm>
          <a:prstGeom prst="rect">
            <a:avLst/>
          </a:prstGeom>
          <a:noFill/>
          <a:ln/>
        </p:spPr>
        <p:txBody>
          <a:bodyPr wrap="square" lIns="0" tIns="0" rIns="0" bIns="0" rtlCol="0" anchor="ctr"/>
          <a:lstStyle/>
          <a:p>
            <a:pPr indent="0" marL="0">
              <a:buNone/>
            </a:pPr>
            <a:r>
              <a:rPr lang="en-US" sz="2500" b="1" dirty="0">
                <a:solidFill>
                  <a:srgbClr val="101828"/>
                </a:solidFill>
              </a:rPr>
              <a:t>26.5%</a:t>
            </a:r>
            <a:endParaRPr lang="en-US" sz="2500" dirty="0"/>
          </a:p>
        </p:txBody>
      </p:sp>
      <p:sp>
        <p:nvSpPr>
          <p:cNvPr id="12" name="Text 10"/>
          <p:cNvSpPr/>
          <p:nvPr/>
        </p:nvSpPr>
        <p:spPr>
          <a:xfrm>
            <a:off x="3218688" y="2020824"/>
            <a:ext cx="1828800" cy="219456"/>
          </a:xfrm>
          <a:prstGeom prst="rect">
            <a:avLst/>
          </a:prstGeom>
          <a:noFill/>
          <a:ln/>
        </p:spPr>
        <p:txBody>
          <a:bodyPr wrap="square" lIns="0" tIns="0" rIns="0" bIns="0" rtlCol="0" anchor="ctr"/>
          <a:lstStyle/>
          <a:p>
            <a:pPr indent="0" marL="0">
              <a:buNone/>
            </a:pPr>
            <a:r>
              <a:rPr lang="en-US" sz="1100" b="1" dirty="0">
                <a:solidFill>
                  <a:srgbClr val="667085"/>
                </a:solidFill>
              </a:rPr>
              <a:t>Churn rate</a:t>
            </a:r>
            <a:endParaRPr lang="en-US" sz="1100" dirty="0"/>
          </a:p>
        </p:txBody>
      </p:sp>
      <p:sp>
        <p:nvSpPr>
          <p:cNvPr id="13" name="Text 11"/>
          <p:cNvSpPr/>
          <p:nvPr/>
        </p:nvSpPr>
        <p:spPr>
          <a:xfrm>
            <a:off x="3218688" y="2267712"/>
            <a:ext cx="1828800" cy="164592"/>
          </a:xfrm>
          <a:prstGeom prst="rect">
            <a:avLst/>
          </a:prstGeom>
          <a:noFill/>
          <a:ln/>
        </p:spPr>
        <p:txBody>
          <a:bodyPr wrap="square" lIns="0" tIns="0" rIns="0" bIns="0" rtlCol="0" anchor="ctr"/>
          <a:lstStyle/>
          <a:p>
            <a:pPr indent="0" marL="0">
              <a:buNone/>
            </a:pPr>
            <a:r>
              <a:rPr lang="en-US" sz="900" dirty="0">
                <a:solidFill>
                  <a:srgbClr val="667085"/>
                </a:solidFill>
              </a:rPr>
              <a:t>moderately imbalanced</a:t>
            </a:r>
            <a:endParaRPr lang="en-US" sz="900" dirty="0"/>
          </a:p>
        </p:txBody>
      </p:sp>
      <p:sp>
        <p:nvSpPr>
          <p:cNvPr id="14" name="Shape 12"/>
          <p:cNvSpPr/>
          <p:nvPr/>
        </p:nvSpPr>
        <p:spPr>
          <a:xfrm>
            <a:off x="5349240" y="1417320"/>
            <a:ext cx="2148840" cy="1115568"/>
          </a:xfrm>
          <a:prstGeom prst="roundRect">
            <a:avLst>
              <a:gd name="adj" fmla="val 6557"/>
            </a:avLst>
          </a:prstGeom>
          <a:solidFill>
            <a:srgbClr val="FFFFFF"/>
          </a:solidFill>
          <a:ln w="12700">
            <a:solidFill>
              <a:srgbClr val="E4E7EC"/>
            </a:solidFill>
            <a:prstDash val="solid"/>
          </a:ln>
        </p:spPr>
      </p:sp>
      <p:sp>
        <p:nvSpPr>
          <p:cNvPr id="15" name="Shape 13"/>
          <p:cNvSpPr/>
          <p:nvPr/>
        </p:nvSpPr>
        <p:spPr>
          <a:xfrm>
            <a:off x="5349240" y="1417320"/>
            <a:ext cx="54864" cy="1115568"/>
          </a:xfrm>
          <a:prstGeom prst="rect">
            <a:avLst/>
          </a:prstGeom>
          <a:solidFill>
            <a:srgbClr val="175CD3"/>
          </a:solidFill>
          <a:ln w="12700">
            <a:solidFill>
              <a:srgbClr val="175CD3"/>
            </a:solidFill>
            <a:prstDash val="solid"/>
          </a:ln>
        </p:spPr>
      </p:sp>
      <p:sp>
        <p:nvSpPr>
          <p:cNvPr id="16" name="Text 14"/>
          <p:cNvSpPr/>
          <p:nvPr/>
        </p:nvSpPr>
        <p:spPr>
          <a:xfrm>
            <a:off x="5550408" y="1581912"/>
            <a:ext cx="1828800" cy="384048"/>
          </a:xfrm>
          <a:prstGeom prst="rect">
            <a:avLst/>
          </a:prstGeom>
          <a:noFill/>
          <a:ln/>
        </p:spPr>
        <p:txBody>
          <a:bodyPr wrap="square" lIns="0" tIns="0" rIns="0" bIns="0" rtlCol="0" anchor="ctr"/>
          <a:lstStyle/>
          <a:p>
            <a:pPr indent="0" marL="0">
              <a:buNone/>
            </a:pPr>
            <a:r>
              <a:rPr lang="en-US" sz="2500" b="1" dirty="0">
                <a:solidFill>
                  <a:srgbClr val="101828"/>
                </a:solidFill>
              </a:rPr>
              <a:t>11</a:t>
            </a:r>
            <a:endParaRPr lang="en-US" sz="2500" dirty="0"/>
          </a:p>
        </p:txBody>
      </p:sp>
      <p:sp>
        <p:nvSpPr>
          <p:cNvPr id="17" name="Text 15"/>
          <p:cNvSpPr/>
          <p:nvPr/>
        </p:nvSpPr>
        <p:spPr>
          <a:xfrm>
            <a:off x="5550408" y="2020824"/>
            <a:ext cx="1828800" cy="219456"/>
          </a:xfrm>
          <a:prstGeom prst="rect">
            <a:avLst/>
          </a:prstGeom>
          <a:noFill/>
          <a:ln/>
        </p:spPr>
        <p:txBody>
          <a:bodyPr wrap="square" lIns="0" tIns="0" rIns="0" bIns="0" rtlCol="0" anchor="ctr"/>
          <a:lstStyle/>
          <a:p>
            <a:pPr indent="0" marL="0">
              <a:buNone/>
            </a:pPr>
            <a:r>
              <a:rPr lang="en-US" sz="1100" b="1" dirty="0">
                <a:solidFill>
                  <a:srgbClr val="667085"/>
                </a:solidFill>
              </a:rPr>
              <a:t>Blank TotalCharges</a:t>
            </a:r>
            <a:endParaRPr lang="en-US" sz="1100" dirty="0"/>
          </a:p>
        </p:txBody>
      </p:sp>
      <p:sp>
        <p:nvSpPr>
          <p:cNvPr id="18" name="Text 16"/>
          <p:cNvSpPr/>
          <p:nvPr/>
        </p:nvSpPr>
        <p:spPr>
          <a:xfrm>
            <a:off x="5550408" y="2267712"/>
            <a:ext cx="1828800" cy="164592"/>
          </a:xfrm>
          <a:prstGeom prst="rect">
            <a:avLst/>
          </a:prstGeom>
          <a:noFill/>
          <a:ln/>
        </p:spPr>
        <p:txBody>
          <a:bodyPr wrap="square" lIns="0" tIns="0" rIns="0" bIns="0" rtlCol="0" anchor="ctr"/>
          <a:lstStyle/>
          <a:p>
            <a:pPr indent="0" marL="0">
              <a:buNone/>
            </a:pPr>
            <a:r>
              <a:rPr lang="en-US" sz="900" dirty="0">
                <a:solidFill>
                  <a:srgbClr val="667085"/>
                </a:solidFill>
              </a:rPr>
              <a:t>all tenure = 0</a:t>
            </a:r>
            <a:endParaRPr lang="en-US" sz="900" dirty="0"/>
          </a:p>
        </p:txBody>
      </p:sp>
      <p:sp>
        <p:nvSpPr>
          <p:cNvPr id="19" name="Shape 17"/>
          <p:cNvSpPr/>
          <p:nvPr/>
        </p:nvSpPr>
        <p:spPr>
          <a:xfrm>
            <a:off x="7680960" y="1417320"/>
            <a:ext cx="2148840" cy="1115568"/>
          </a:xfrm>
          <a:prstGeom prst="roundRect">
            <a:avLst>
              <a:gd name="adj" fmla="val 6557"/>
            </a:avLst>
          </a:prstGeom>
          <a:solidFill>
            <a:srgbClr val="FFFFFF"/>
          </a:solidFill>
          <a:ln w="12700">
            <a:solidFill>
              <a:srgbClr val="E4E7EC"/>
            </a:solidFill>
            <a:prstDash val="solid"/>
          </a:ln>
        </p:spPr>
      </p:sp>
      <p:sp>
        <p:nvSpPr>
          <p:cNvPr id="20" name="Shape 18"/>
          <p:cNvSpPr/>
          <p:nvPr/>
        </p:nvSpPr>
        <p:spPr>
          <a:xfrm>
            <a:off x="7680960" y="1417320"/>
            <a:ext cx="54864" cy="1115568"/>
          </a:xfrm>
          <a:prstGeom prst="rect">
            <a:avLst/>
          </a:prstGeom>
          <a:solidFill>
            <a:srgbClr val="067647"/>
          </a:solidFill>
          <a:ln w="12700">
            <a:solidFill>
              <a:srgbClr val="067647"/>
            </a:solidFill>
            <a:prstDash val="solid"/>
          </a:ln>
        </p:spPr>
      </p:sp>
      <p:sp>
        <p:nvSpPr>
          <p:cNvPr id="21" name="Text 19"/>
          <p:cNvSpPr/>
          <p:nvPr/>
        </p:nvSpPr>
        <p:spPr>
          <a:xfrm>
            <a:off x="7882128" y="1581912"/>
            <a:ext cx="1828800" cy="384048"/>
          </a:xfrm>
          <a:prstGeom prst="rect">
            <a:avLst/>
          </a:prstGeom>
          <a:noFill/>
          <a:ln/>
        </p:spPr>
        <p:txBody>
          <a:bodyPr wrap="square" lIns="0" tIns="0" rIns="0" bIns="0" rtlCol="0" anchor="ctr"/>
          <a:lstStyle/>
          <a:p>
            <a:pPr indent="0" marL="0">
              <a:buNone/>
            </a:pPr>
            <a:r>
              <a:rPr lang="en-US" sz="2500" b="1" dirty="0">
                <a:solidFill>
                  <a:srgbClr val="101828"/>
                </a:solidFill>
              </a:rPr>
              <a:t>1 column</a:t>
            </a:r>
            <a:endParaRPr lang="en-US" sz="2500" dirty="0"/>
          </a:p>
        </p:txBody>
      </p:sp>
      <p:sp>
        <p:nvSpPr>
          <p:cNvPr id="22" name="Text 20"/>
          <p:cNvSpPr/>
          <p:nvPr/>
        </p:nvSpPr>
        <p:spPr>
          <a:xfrm>
            <a:off x="7882128" y="2020824"/>
            <a:ext cx="1828800" cy="219456"/>
          </a:xfrm>
          <a:prstGeom prst="rect">
            <a:avLst/>
          </a:prstGeom>
          <a:noFill/>
          <a:ln/>
        </p:spPr>
        <p:txBody>
          <a:bodyPr wrap="square" lIns="0" tIns="0" rIns="0" bIns="0" rtlCol="0" anchor="ctr"/>
          <a:lstStyle/>
          <a:p>
            <a:pPr indent="0" marL="0">
              <a:buNone/>
            </a:pPr>
            <a:r>
              <a:rPr lang="en-US" sz="1100" b="1" dirty="0">
                <a:solidFill>
                  <a:srgbClr val="667085"/>
                </a:solidFill>
              </a:rPr>
              <a:t>Identifier removed</a:t>
            </a:r>
            <a:endParaRPr lang="en-US" sz="1100" dirty="0"/>
          </a:p>
        </p:txBody>
      </p:sp>
      <p:sp>
        <p:nvSpPr>
          <p:cNvPr id="23" name="Text 21"/>
          <p:cNvSpPr/>
          <p:nvPr/>
        </p:nvSpPr>
        <p:spPr>
          <a:xfrm>
            <a:off x="7882128" y="2267712"/>
            <a:ext cx="1828800" cy="164592"/>
          </a:xfrm>
          <a:prstGeom prst="rect">
            <a:avLst/>
          </a:prstGeom>
          <a:noFill/>
          <a:ln/>
        </p:spPr>
        <p:txBody>
          <a:bodyPr wrap="square" lIns="0" tIns="0" rIns="0" bIns="0" rtlCol="0" anchor="ctr"/>
          <a:lstStyle/>
          <a:p>
            <a:pPr indent="0" marL="0">
              <a:buNone/>
            </a:pPr>
            <a:r>
              <a:rPr lang="en-US" sz="900" dirty="0">
                <a:solidFill>
                  <a:srgbClr val="667085"/>
                </a:solidFill>
              </a:rPr>
              <a:t>customerID dropped</a:t>
            </a:r>
            <a:endParaRPr lang="en-US" sz="900" dirty="0"/>
          </a:p>
        </p:txBody>
      </p:sp>
      <p:sp>
        <p:nvSpPr>
          <p:cNvPr id="24" name="Text 22"/>
          <p:cNvSpPr/>
          <p:nvPr/>
        </p:nvSpPr>
        <p:spPr>
          <a:xfrm>
            <a:off x="685800" y="2907792"/>
            <a:ext cx="2286000" cy="256032"/>
          </a:xfrm>
          <a:prstGeom prst="rect">
            <a:avLst/>
          </a:prstGeom>
          <a:noFill/>
          <a:ln/>
        </p:spPr>
        <p:txBody>
          <a:bodyPr wrap="square" lIns="0" tIns="0" rIns="0" bIns="0" rtlCol="0" anchor="ctr"/>
          <a:lstStyle/>
          <a:p>
            <a:pPr indent="0" marL="0">
              <a:buNone/>
            </a:pPr>
            <a:r>
              <a:rPr lang="en-US" sz="1300" b="1" dirty="0">
                <a:solidFill>
                  <a:srgbClr val="667085"/>
                </a:solidFill>
              </a:rPr>
              <a:t>What the row contains</a:t>
            </a:r>
            <a:endParaRPr lang="en-US" sz="1300" dirty="0"/>
          </a:p>
        </p:txBody>
      </p:sp>
      <p:sp>
        <p:nvSpPr>
          <p:cNvPr id="25" name="Shape 23"/>
          <p:cNvSpPr/>
          <p:nvPr/>
        </p:nvSpPr>
        <p:spPr>
          <a:xfrm>
            <a:off x="713232" y="3401568"/>
            <a:ext cx="82296" cy="82296"/>
          </a:xfrm>
          <a:prstGeom prst="ellipse">
            <a:avLst/>
          </a:prstGeom>
          <a:solidFill>
            <a:srgbClr val="0F766E"/>
          </a:solidFill>
          <a:ln w="12700">
            <a:solidFill>
              <a:srgbClr val="0F766E"/>
            </a:solidFill>
            <a:prstDash val="solid"/>
          </a:ln>
        </p:spPr>
      </p:sp>
      <p:sp>
        <p:nvSpPr>
          <p:cNvPr id="26" name="Text 24"/>
          <p:cNvSpPr/>
          <p:nvPr/>
        </p:nvSpPr>
        <p:spPr>
          <a:xfrm>
            <a:off x="896112" y="3310128"/>
            <a:ext cx="4663440" cy="475488"/>
          </a:xfrm>
          <a:prstGeom prst="rect">
            <a:avLst/>
          </a:prstGeom>
          <a:noFill/>
          <a:ln/>
        </p:spPr>
        <p:txBody>
          <a:bodyPr wrap="square" lIns="0" tIns="0" rIns="0" bIns="0" rtlCol="0" anchor="ctr"/>
          <a:lstStyle/>
          <a:p>
            <a:pPr indent="0" marL="0">
              <a:buNone/>
            </a:pPr>
            <a:r>
              <a:rPr lang="en-US" sz="1600" dirty="0">
                <a:solidFill>
                  <a:srgbClr val="101828"/>
                </a:solidFill>
              </a:rPr>
              <a:t>Demographics and household information</a:t>
            </a:r>
            <a:endParaRPr lang="en-US" sz="1600" dirty="0"/>
          </a:p>
        </p:txBody>
      </p:sp>
      <p:sp>
        <p:nvSpPr>
          <p:cNvPr id="27" name="Shape 25"/>
          <p:cNvSpPr/>
          <p:nvPr/>
        </p:nvSpPr>
        <p:spPr>
          <a:xfrm>
            <a:off x="713232" y="3968496"/>
            <a:ext cx="82296" cy="82296"/>
          </a:xfrm>
          <a:prstGeom prst="ellipse">
            <a:avLst/>
          </a:prstGeom>
          <a:solidFill>
            <a:srgbClr val="0F766E"/>
          </a:solidFill>
          <a:ln w="12700">
            <a:solidFill>
              <a:srgbClr val="0F766E"/>
            </a:solidFill>
            <a:prstDash val="solid"/>
          </a:ln>
        </p:spPr>
      </p:sp>
      <p:sp>
        <p:nvSpPr>
          <p:cNvPr id="28" name="Text 26"/>
          <p:cNvSpPr/>
          <p:nvPr/>
        </p:nvSpPr>
        <p:spPr>
          <a:xfrm>
            <a:off x="896112" y="3877056"/>
            <a:ext cx="4663440" cy="475488"/>
          </a:xfrm>
          <a:prstGeom prst="rect">
            <a:avLst/>
          </a:prstGeom>
          <a:noFill/>
          <a:ln/>
        </p:spPr>
        <p:txBody>
          <a:bodyPr wrap="square" lIns="0" tIns="0" rIns="0" bIns="0" rtlCol="0" anchor="ctr"/>
          <a:lstStyle/>
          <a:p>
            <a:pPr indent="0" marL="0">
              <a:buNone/>
            </a:pPr>
            <a:r>
              <a:rPr lang="en-US" sz="1600" dirty="0">
                <a:solidFill>
                  <a:srgbClr val="101828"/>
                </a:solidFill>
              </a:rPr>
              <a:t>Services, contract, billing and payment behaviour</a:t>
            </a:r>
            <a:endParaRPr lang="en-US" sz="1600" dirty="0"/>
          </a:p>
        </p:txBody>
      </p:sp>
      <p:sp>
        <p:nvSpPr>
          <p:cNvPr id="29" name="Shape 27"/>
          <p:cNvSpPr/>
          <p:nvPr/>
        </p:nvSpPr>
        <p:spPr>
          <a:xfrm>
            <a:off x="713232" y="4535424"/>
            <a:ext cx="82296" cy="82296"/>
          </a:xfrm>
          <a:prstGeom prst="ellipse">
            <a:avLst/>
          </a:prstGeom>
          <a:solidFill>
            <a:srgbClr val="0F766E"/>
          </a:solidFill>
          <a:ln w="12700">
            <a:solidFill>
              <a:srgbClr val="0F766E"/>
            </a:solidFill>
            <a:prstDash val="solid"/>
          </a:ln>
        </p:spPr>
      </p:sp>
      <p:sp>
        <p:nvSpPr>
          <p:cNvPr id="30" name="Text 28"/>
          <p:cNvSpPr/>
          <p:nvPr/>
        </p:nvSpPr>
        <p:spPr>
          <a:xfrm>
            <a:off x="896112" y="4443984"/>
            <a:ext cx="4663440" cy="475488"/>
          </a:xfrm>
          <a:prstGeom prst="rect">
            <a:avLst/>
          </a:prstGeom>
          <a:noFill/>
          <a:ln/>
        </p:spPr>
        <p:txBody>
          <a:bodyPr wrap="square" lIns="0" tIns="0" rIns="0" bIns="0" rtlCol="0" anchor="ctr"/>
          <a:lstStyle/>
          <a:p>
            <a:pPr indent="0" marL="0">
              <a:buNone/>
            </a:pPr>
            <a:r>
              <a:rPr lang="en-US" sz="1600" dirty="0">
                <a:solidFill>
                  <a:srgbClr val="101828"/>
                </a:solidFill>
              </a:rPr>
              <a:t>Tenure, monthly charges and total charges</a:t>
            </a:r>
            <a:endParaRPr lang="en-US" sz="1600" dirty="0"/>
          </a:p>
        </p:txBody>
      </p:sp>
      <p:sp>
        <p:nvSpPr>
          <p:cNvPr id="31" name="Shape 29"/>
          <p:cNvSpPr/>
          <p:nvPr/>
        </p:nvSpPr>
        <p:spPr>
          <a:xfrm>
            <a:off x="6400800" y="3017520"/>
            <a:ext cx="4937760" cy="2240280"/>
          </a:xfrm>
          <a:prstGeom prst="roundRect">
            <a:avLst>
              <a:gd name="adj" fmla="val 4898"/>
            </a:avLst>
          </a:prstGeom>
          <a:solidFill>
            <a:srgbClr val="FFFFFF"/>
          </a:solidFill>
          <a:ln w="12700">
            <a:solidFill>
              <a:srgbClr val="E4E7EC"/>
            </a:solidFill>
            <a:prstDash val="solid"/>
          </a:ln>
        </p:spPr>
      </p:sp>
      <p:sp>
        <p:nvSpPr>
          <p:cNvPr id="32" name="Text 30"/>
          <p:cNvSpPr/>
          <p:nvPr/>
        </p:nvSpPr>
        <p:spPr>
          <a:xfrm>
            <a:off x="6720840" y="3310128"/>
            <a:ext cx="4023360" cy="256032"/>
          </a:xfrm>
          <a:prstGeom prst="rect">
            <a:avLst/>
          </a:prstGeom>
          <a:noFill/>
          <a:ln/>
        </p:spPr>
        <p:txBody>
          <a:bodyPr wrap="square" lIns="0" tIns="0" rIns="0" bIns="0" rtlCol="0" anchor="ctr"/>
          <a:lstStyle/>
          <a:p>
            <a:pPr indent="0" marL="0">
              <a:buNone/>
            </a:pPr>
            <a:r>
              <a:rPr lang="en-US" sz="1700" b="1" dirty="0">
                <a:solidFill>
                  <a:srgbClr val="101828"/>
                </a:solidFill>
              </a:rPr>
              <a:t>Cleaning choices that mattered</a:t>
            </a:r>
            <a:endParaRPr lang="en-US" sz="1700" dirty="0"/>
          </a:p>
        </p:txBody>
      </p:sp>
      <p:sp>
        <p:nvSpPr>
          <p:cNvPr id="33" name="Text 31"/>
          <p:cNvSpPr/>
          <p:nvPr/>
        </p:nvSpPr>
        <p:spPr>
          <a:xfrm>
            <a:off x="6720840" y="3767328"/>
            <a:ext cx="1417320" cy="219456"/>
          </a:xfrm>
          <a:prstGeom prst="rect">
            <a:avLst/>
          </a:prstGeom>
          <a:noFill/>
          <a:ln/>
        </p:spPr>
        <p:txBody>
          <a:bodyPr wrap="square" lIns="0" tIns="0" rIns="0" bIns="0" rtlCol="0" anchor="ctr"/>
          <a:lstStyle/>
          <a:p>
            <a:pPr indent="0" marL="0">
              <a:buNone/>
            </a:pPr>
            <a:r>
              <a:rPr lang="en-US" sz="1300" b="1" dirty="0">
                <a:solidFill>
                  <a:srgbClr val="115E59"/>
                </a:solidFill>
              </a:rPr>
              <a:t>TotalCharges</a:t>
            </a:r>
            <a:endParaRPr lang="en-US" sz="1300" dirty="0"/>
          </a:p>
        </p:txBody>
      </p:sp>
      <p:sp>
        <p:nvSpPr>
          <p:cNvPr id="34" name="Text 32"/>
          <p:cNvSpPr/>
          <p:nvPr/>
        </p:nvSpPr>
        <p:spPr>
          <a:xfrm>
            <a:off x="8229600" y="3730752"/>
            <a:ext cx="2651760" cy="310896"/>
          </a:xfrm>
          <a:prstGeom prst="rect">
            <a:avLst/>
          </a:prstGeom>
          <a:noFill/>
          <a:ln/>
        </p:spPr>
        <p:txBody>
          <a:bodyPr wrap="square" lIns="0" tIns="0" rIns="0" bIns="0" rtlCol="0" anchor="ctr"/>
          <a:lstStyle/>
          <a:p>
            <a:pPr indent="0" marL="0">
              <a:buNone/>
            </a:pPr>
            <a:r>
              <a:rPr lang="en-US" sz="1300" dirty="0">
                <a:solidFill>
                  <a:srgbClr val="101828"/>
                </a:solidFill>
              </a:rPr>
              <a:t>text → numeric; 11 new customers filled with 0</a:t>
            </a:r>
            <a:endParaRPr lang="en-US" sz="1300" dirty="0"/>
          </a:p>
        </p:txBody>
      </p:sp>
      <p:sp>
        <p:nvSpPr>
          <p:cNvPr id="35" name="Text 33"/>
          <p:cNvSpPr/>
          <p:nvPr/>
        </p:nvSpPr>
        <p:spPr>
          <a:xfrm>
            <a:off x="6720840" y="4315968"/>
            <a:ext cx="1417320" cy="219456"/>
          </a:xfrm>
          <a:prstGeom prst="rect">
            <a:avLst/>
          </a:prstGeom>
          <a:noFill/>
          <a:ln/>
        </p:spPr>
        <p:txBody>
          <a:bodyPr wrap="square" lIns="0" tIns="0" rIns="0" bIns="0" rtlCol="0" anchor="ctr"/>
          <a:lstStyle/>
          <a:p>
            <a:pPr indent="0" marL="0">
              <a:buNone/>
            </a:pPr>
            <a:r>
              <a:rPr lang="en-US" sz="1300" b="1" dirty="0">
                <a:solidFill>
                  <a:srgbClr val="115E59"/>
                </a:solidFill>
              </a:rPr>
              <a:t>customerID</a:t>
            </a:r>
            <a:endParaRPr lang="en-US" sz="1300" dirty="0"/>
          </a:p>
        </p:txBody>
      </p:sp>
      <p:sp>
        <p:nvSpPr>
          <p:cNvPr id="36" name="Text 34"/>
          <p:cNvSpPr/>
          <p:nvPr/>
        </p:nvSpPr>
        <p:spPr>
          <a:xfrm>
            <a:off x="8229600" y="4279392"/>
            <a:ext cx="2651760" cy="310896"/>
          </a:xfrm>
          <a:prstGeom prst="rect">
            <a:avLst/>
          </a:prstGeom>
          <a:noFill/>
          <a:ln/>
        </p:spPr>
        <p:txBody>
          <a:bodyPr wrap="square" lIns="0" tIns="0" rIns="0" bIns="0" rtlCol="0" anchor="ctr"/>
          <a:lstStyle/>
          <a:p>
            <a:pPr indent="0" marL="0">
              <a:buNone/>
            </a:pPr>
            <a:r>
              <a:rPr lang="en-US" sz="1300" dirty="0">
                <a:solidFill>
                  <a:srgbClr val="101828"/>
                </a:solidFill>
              </a:rPr>
              <a:t>dropped: it identifies people, not churn risk</a:t>
            </a:r>
            <a:endParaRPr lang="en-US" sz="1300" dirty="0"/>
          </a:p>
        </p:txBody>
      </p:sp>
      <p:sp>
        <p:nvSpPr>
          <p:cNvPr id="37" name="Text 35"/>
          <p:cNvSpPr/>
          <p:nvPr/>
        </p:nvSpPr>
        <p:spPr>
          <a:xfrm>
            <a:off x="685800" y="5806440"/>
            <a:ext cx="6126480" cy="219456"/>
          </a:xfrm>
          <a:prstGeom prst="rect">
            <a:avLst/>
          </a:prstGeom>
          <a:noFill/>
          <a:ln/>
        </p:spPr>
        <p:txBody>
          <a:bodyPr wrap="square" lIns="0" tIns="0" rIns="0" bIns="0" rtlCol="0" anchor="ctr"/>
          <a:lstStyle/>
          <a:p>
            <a:pPr indent="0" marL="0">
              <a:buNone/>
            </a:pPr>
            <a:r>
              <a:rPr lang="en-US" sz="1000" dirty="0">
                <a:solidFill>
                  <a:srgbClr val="667085"/>
                </a:solidFill>
              </a:rPr>
              <a:t>Source: IBM Telco Customer Churn sample · Apache 2.0</a:t>
            </a:r>
            <a:endParaRPr lang="en-US" sz="1000" dirty="0"/>
          </a:p>
        </p:txBody>
      </p:sp>
      <p:sp>
        <p:nvSpPr>
          <p:cNvPr id="25" name="Slide Number Placeholder 0"/>
          <p:cNvSpPr>
            <a:spLocks noGrp="1"/>
          </p:cNvSpPr>
          <p:nvPr>
            <p:ph type="sldNum" sz="quarter" idx="4294967295"/>
          </p:nvPr>
        </p:nvSpPr>
        <p:spPr>
          <a:xfrm>
            <a:off x="11201400" y="6428232"/>
            <a:ext cx="41148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98A2B3"/>
                </a:solidFill>
                <a:latin typeface="Aptos"/>
                <a:ea typeface="Aptos"/>
                <a:cs typeface="Apto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384048"/>
            <a:ext cx="4206240" cy="256032"/>
          </a:xfrm>
          <a:prstGeom prst="rect">
            <a:avLst/>
          </a:prstGeom>
          <a:noFill/>
          <a:ln/>
        </p:spPr>
        <p:txBody>
          <a:bodyPr wrap="square" lIns="0" tIns="0" rIns="0" bIns="0" rtlCol="0" anchor="ctr"/>
          <a:lstStyle/>
          <a:p>
            <a:pPr indent="0" marL="0">
              <a:buNone/>
            </a:pPr>
            <a:r>
              <a:rPr lang="en-US" sz="1000" b="1" spc="150" kern="0" dirty="0">
                <a:solidFill>
                  <a:srgbClr val="0F766E"/>
                </a:solidFill>
              </a:rPr>
              <a:t>3 · METRIC + BASELINE</a:t>
            </a:r>
            <a:endParaRPr lang="en-US" sz="1000" dirty="0"/>
          </a:p>
        </p:txBody>
      </p:sp>
      <p:sp>
        <p:nvSpPr>
          <p:cNvPr id="3" name="Text 1"/>
          <p:cNvSpPr/>
          <p:nvPr/>
        </p:nvSpPr>
        <p:spPr>
          <a:xfrm>
            <a:off x="640080" y="749808"/>
            <a:ext cx="10927080" cy="548640"/>
          </a:xfrm>
          <a:prstGeom prst="rect">
            <a:avLst/>
          </a:prstGeom>
          <a:noFill/>
          <a:ln/>
        </p:spPr>
        <p:txBody>
          <a:bodyPr wrap="square" lIns="0" tIns="0" rIns="0" bIns="0" rtlCol="0" anchor="ctr"/>
          <a:lstStyle/>
          <a:p>
            <a:pPr indent="0" marL="0">
              <a:buNone/>
            </a:pPr>
            <a:r>
              <a:rPr lang="en-US" sz="2700" b="1" dirty="0">
                <a:solidFill>
                  <a:srgbClr val="101828"/>
                </a:solidFill>
              </a:rPr>
              <a:t>Recall is the score I care about</a:t>
            </a:r>
            <a:endParaRPr lang="en-US" sz="2700" dirty="0"/>
          </a:p>
        </p:txBody>
      </p:sp>
      <p:sp>
        <p:nvSpPr>
          <p:cNvPr id="4" name="Shape 2"/>
          <p:cNvSpPr/>
          <p:nvPr/>
        </p:nvSpPr>
        <p:spPr>
          <a:xfrm>
            <a:off x="731520" y="1444752"/>
            <a:ext cx="4754880" cy="3474720"/>
          </a:xfrm>
          <a:prstGeom prst="roundRect">
            <a:avLst>
              <a:gd name="adj" fmla="val 3684"/>
            </a:avLst>
          </a:prstGeom>
          <a:solidFill>
            <a:srgbClr val="FFFFFF"/>
          </a:solidFill>
          <a:ln w="12700">
            <a:solidFill>
              <a:srgbClr val="E4E7EC"/>
            </a:solidFill>
            <a:prstDash val="solid"/>
          </a:ln>
        </p:spPr>
      </p:sp>
      <p:sp>
        <p:nvSpPr>
          <p:cNvPr id="5" name="Text 3"/>
          <p:cNvSpPr/>
          <p:nvPr/>
        </p:nvSpPr>
        <p:spPr>
          <a:xfrm>
            <a:off x="1051560" y="1810512"/>
            <a:ext cx="1920240" cy="310896"/>
          </a:xfrm>
          <a:prstGeom prst="rect">
            <a:avLst/>
          </a:prstGeom>
          <a:noFill/>
          <a:ln/>
        </p:spPr>
        <p:txBody>
          <a:bodyPr wrap="square" lIns="0" tIns="0" rIns="0" bIns="0" rtlCol="0" anchor="ctr"/>
          <a:lstStyle/>
          <a:p>
            <a:pPr indent="0" marL="0">
              <a:buNone/>
            </a:pPr>
            <a:r>
              <a:rPr lang="en-US" sz="2300" b="1" dirty="0">
                <a:solidFill>
                  <a:srgbClr val="101828"/>
                </a:solidFill>
              </a:rPr>
              <a:t>Why recall?</a:t>
            </a:r>
            <a:endParaRPr lang="en-US" sz="2300" dirty="0"/>
          </a:p>
        </p:txBody>
      </p:sp>
      <p:sp>
        <p:nvSpPr>
          <p:cNvPr id="6" name="Text 4"/>
          <p:cNvSpPr/>
          <p:nvPr/>
        </p:nvSpPr>
        <p:spPr>
          <a:xfrm>
            <a:off x="1051560" y="2359152"/>
            <a:ext cx="3794760" cy="822960"/>
          </a:xfrm>
          <a:prstGeom prst="rect">
            <a:avLst/>
          </a:prstGeom>
          <a:noFill/>
          <a:ln/>
        </p:spPr>
        <p:txBody>
          <a:bodyPr wrap="square" lIns="0" tIns="0" rIns="0" bIns="0" rtlCol="0" anchor="ctr"/>
          <a:lstStyle/>
          <a:p>
            <a:pPr indent="0" marL="0">
              <a:buNone/>
            </a:pPr>
            <a:r>
              <a:rPr lang="en-US" sz="1900" dirty="0">
                <a:solidFill>
                  <a:srgbClr val="101828"/>
                </a:solidFill>
              </a:rPr>
              <a:t>Of the customers who really churn…</a:t>
            </a:r>
            <a:endParaRPr lang="en-US" sz="1900" dirty="0"/>
          </a:p>
          <a:p>
            <a:pPr indent="0" marL="0">
              <a:buNone/>
            </a:pPr>
            <a:r>
              <a:rPr lang="en-US" sz="1900" dirty="0">
                <a:solidFill>
                  <a:srgbClr val="101828"/>
                </a:solidFill>
              </a:rPr>
              <a:t>how many did I actually catch?</a:t>
            </a:r>
            <a:endParaRPr lang="en-US" sz="1900" dirty="0"/>
          </a:p>
        </p:txBody>
      </p:sp>
      <p:sp>
        <p:nvSpPr>
          <p:cNvPr id="7" name="Text 5"/>
          <p:cNvSpPr/>
          <p:nvPr/>
        </p:nvSpPr>
        <p:spPr>
          <a:xfrm>
            <a:off x="1051560" y="3502152"/>
            <a:ext cx="3840480" cy="310896"/>
          </a:xfrm>
          <a:prstGeom prst="rect">
            <a:avLst/>
          </a:prstGeom>
          <a:noFill/>
          <a:ln/>
        </p:spPr>
        <p:txBody>
          <a:bodyPr wrap="square" lIns="0" tIns="0" rIns="0" bIns="0" rtlCol="0" anchor="ctr"/>
          <a:lstStyle/>
          <a:p>
            <a:pPr indent="0" marL="0">
              <a:buNone/>
            </a:pPr>
            <a:r>
              <a:rPr lang="en-US" sz="1500" b="1" dirty="0">
                <a:solidFill>
                  <a:srgbClr val="B42318"/>
                </a:solidFill>
              </a:rPr>
              <a:t>False negative = missed retention opportunity</a:t>
            </a:r>
            <a:endParaRPr lang="en-US" sz="1500" dirty="0"/>
          </a:p>
        </p:txBody>
      </p:sp>
      <p:sp>
        <p:nvSpPr>
          <p:cNvPr id="8" name="Text 6"/>
          <p:cNvSpPr/>
          <p:nvPr/>
        </p:nvSpPr>
        <p:spPr>
          <a:xfrm>
            <a:off x="1051560" y="4041648"/>
            <a:ext cx="3886200" cy="594360"/>
          </a:xfrm>
          <a:prstGeom prst="rect">
            <a:avLst/>
          </a:prstGeom>
          <a:noFill/>
          <a:ln/>
        </p:spPr>
        <p:txBody>
          <a:bodyPr wrap="square" lIns="0" tIns="0" rIns="0" bIns="0" rtlCol="0" anchor="ctr"/>
          <a:lstStyle/>
          <a:p>
            <a:pPr indent="0" marL="0">
              <a:buNone/>
            </a:pPr>
            <a:r>
              <a:rPr lang="en-US" sz="1400" dirty="0">
                <a:solidFill>
                  <a:srgbClr val="667085"/>
                </a:solidFill>
              </a:rPr>
              <a:t>Precision still matters, because calls and offers are not free.</a:t>
            </a:r>
            <a:endParaRPr lang="en-US" sz="1400" dirty="0"/>
          </a:p>
        </p:txBody>
      </p:sp>
      <p:sp>
        <p:nvSpPr>
          <p:cNvPr id="9" name="Shape 7"/>
          <p:cNvSpPr/>
          <p:nvPr/>
        </p:nvSpPr>
        <p:spPr>
          <a:xfrm>
            <a:off x="5989320" y="1444752"/>
            <a:ext cx="5303520" cy="3474720"/>
          </a:xfrm>
          <a:prstGeom prst="roundRect">
            <a:avLst>
              <a:gd name="adj" fmla="val 3684"/>
            </a:avLst>
          </a:prstGeom>
          <a:solidFill>
            <a:srgbClr val="F2F4F7"/>
          </a:solidFill>
          <a:ln w="12700">
            <a:solidFill>
              <a:srgbClr val="E4E7EC"/>
            </a:solidFill>
            <a:prstDash val="solid"/>
          </a:ln>
        </p:spPr>
      </p:sp>
      <p:sp>
        <p:nvSpPr>
          <p:cNvPr id="10" name="Text 8"/>
          <p:cNvSpPr/>
          <p:nvPr/>
        </p:nvSpPr>
        <p:spPr>
          <a:xfrm>
            <a:off x="6355080" y="1810512"/>
            <a:ext cx="2286000" cy="310896"/>
          </a:xfrm>
          <a:prstGeom prst="rect">
            <a:avLst/>
          </a:prstGeom>
          <a:noFill/>
          <a:ln/>
        </p:spPr>
        <p:txBody>
          <a:bodyPr wrap="square" lIns="0" tIns="0" rIns="0" bIns="0" rtlCol="0" anchor="ctr"/>
          <a:lstStyle/>
          <a:p>
            <a:pPr indent="0" marL="0">
              <a:buNone/>
            </a:pPr>
            <a:r>
              <a:rPr lang="en-US" sz="2300" b="1" dirty="0">
                <a:solidFill>
                  <a:srgbClr val="101828"/>
                </a:solidFill>
              </a:rPr>
              <a:t>The score to beat</a:t>
            </a:r>
            <a:endParaRPr lang="en-US" sz="2300" dirty="0"/>
          </a:p>
        </p:txBody>
      </p:sp>
      <p:sp>
        <p:nvSpPr>
          <p:cNvPr id="11" name="Text 9"/>
          <p:cNvSpPr/>
          <p:nvPr/>
        </p:nvSpPr>
        <p:spPr>
          <a:xfrm>
            <a:off x="6400800" y="2395728"/>
            <a:ext cx="2148840" cy="749808"/>
          </a:xfrm>
          <a:prstGeom prst="rect">
            <a:avLst/>
          </a:prstGeom>
          <a:noFill/>
          <a:ln/>
        </p:spPr>
        <p:txBody>
          <a:bodyPr wrap="square" lIns="0" tIns="0" rIns="0" bIns="0" rtlCol="0" anchor="ctr"/>
          <a:lstStyle/>
          <a:p>
            <a:pPr indent="0" marL="0">
              <a:buNone/>
            </a:pPr>
            <a:r>
              <a:rPr lang="en-US" sz="4800" b="1" dirty="0">
                <a:solidFill>
                  <a:srgbClr val="D97706"/>
                </a:solidFill>
              </a:rPr>
              <a:t>0.000</a:t>
            </a:r>
            <a:endParaRPr lang="en-US" sz="4800" dirty="0"/>
          </a:p>
        </p:txBody>
      </p:sp>
      <p:sp>
        <p:nvSpPr>
          <p:cNvPr id="12" name="Text 10"/>
          <p:cNvSpPr/>
          <p:nvPr/>
        </p:nvSpPr>
        <p:spPr>
          <a:xfrm>
            <a:off x="8321040" y="2624328"/>
            <a:ext cx="2057400" cy="274320"/>
          </a:xfrm>
          <a:prstGeom prst="rect">
            <a:avLst/>
          </a:prstGeom>
          <a:noFill/>
          <a:ln/>
        </p:spPr>
        <p:txBody>
          <a:bodyPr wrap="square" lIns="0" tIns="0" rIns="0" bIns="0" rtlCol="0" anchor="ctr"/>
          <a:lstStyle/>
          <a:p>
            <a:pPr indent="0" marL="0">
              <a:buNone/>
            </a:pPr>
            <a:r>
              <a:rPr lang="en-US" sz="1400" b="1" dirty="0">
                <a:solidFill>
                  <a:srgbClr val="667085"/>
                </a:solidFill>
              </a:rPr>
              <a:t>Dummy baseline recall</a:t>
            </a:r>
            <a:endParaRPr lang="en-US" sz="1400" dirty="0"/>
          </a:p>
        </p:txBody>
      </p:sp>
      <p:sp>
        <p:nvSpPr>
          <p:cNvPr id="13" name="Text 11"/>
          <p:cNvSpPr/>
          <p:nvPr/>
        </p:nvSpPr>
        <p:spPr>
          <a:xfrm>
            <a:off x="6355080" y="3456432"/>
            <a:ext cx="4297680" cy="960120"/>
          </a:xfrm>
          <a:prstGeom prst="rect">
            <a:avLst/>
          </a:prstGeom>
          <a:noFill/>
          <a:ln/>
        </p:spPr>
        <p:txBody>
          <a:bodyPr wrap="square" lIns="0" tIns="0" rIns="0" bIns="0" rtlCol="0" anchor="ctr"/>
          <a:lstStyle/>
          <a:p>
            <a:pPr indent="0" marL="0">
              <a:buNone/>
            </a:pPr>
            <a:r>
              <a:rPr lang="en-US" sz="1600" dirty="0">
                <a:solidFill>
                  <a:srgbClr val="101828"/>
                </a:solidFill>
              </a:rPr>
              <a:t>The dummy predicts “No churn” for everyone.</a:t>
            </a:r>
            <a:endParaRPr lang="en-US" sz="1600" dirty="0"/>
          </a:p>
          <a:p>
            <a:pPr indent="0" marL="0">
              <a:buNone/>
            </a:pPr>
            <a:r>
              <a:rPr lang="en-US" sz="1600" dirty="0">
                <a:solidFill>
                  <a:srgbClr val="101828"/>
                </a:solidFill>
              </a:rPr>
              <a:t>Great accuracy. Completely useless for finding churners.</a:t>
            </a:r>
            <a:endParaRPr lang="en-US" sz="1600" dirty="0"/>
          </a:p>
        </p:txBody>
      </p:sp>
      <p:sp>
        <p:nvSpPr>
          <p:cNvPr id="14" name="Text 12"/>
          <p:cNvSpPr/>
          <p:nvPr/>
        </p:nvSpPr>
        <p:spPr>
          <a:xfrm>
            <a:off x="6355080" y="4572000"/>
            <a:ext cx="4023360" cy="219456"/>
          </a:xfrm>
          <a:prstGeom prst="rect">
            <a:avLst/>
          </a:prstGeom>
          <a:noFill/>
          <a:ln/>
        </p:spPr>
        <p:txBody>
          <a:bodyPr wrap="square" lIns="0" tIns="0" rIns="0" bIns="0" rtlCol="0" anchor="ctr"/>
          <a:lstStyle/>
          <a:p>
            <a:pPr indent="0" marL="0">
              <a:buNone/>
            </a:pPr>
            <a:r>
              <a:rPr lang="en-US" sz="1100" b="1" dirty="0">
                <a:solidFill>
                  <a:srgbClr val="115E59"/>
                </a:solidFill>
              </a:rPr>
              <a:t>Same 5-fold stratified CV used for every model</a:t>
            </a:r>
            <a:endParaRPr lang="en-US" sz="1100" dirty="0"/>
          </a:p>
        </p:txBody>
      </p:sp>
      <p:sp>
        <p:nvSpPr>
          <p:cNvPr id="25" name="Slide Number Placeholder 0"/>
          <p:cNvSpPr>
            <a:spLocks noGrp="1"/>
          </p:cNvSpPr>
          <p:nvPr>
            <p:ph type="sldNum" sz="quarter" idx="4294967295"/>
          </p:nvPr>
        </p:nvSpPr>
        <p:spPr>
          <a:xfrm>
            <a:off x="11201400" y="6428232"/>
            <a:ext cx="41148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98A2B3"/>
                </a:solidFill>
                <a:latin typeface="Aptos"/>
                <a:ea typeface="Aptos"/>
                <a:cs typeface="Apto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384048"/>
            <a:ext cx="4206240" cy="256032"/>
          </a:xfrm>
          <a:prstGeom prst="rect">
            <a:avLst/>
          </a:prstGeom>
          <a:noFill/>
          <a:ln/>
        </p:spPr>
        <p:txBody>
          <a:bodyPr wrap="square" lIns="0" tIns="0" rIns="0" bIns="0" rtlCol="0" anchor="ctr"/>
          <a:lstStyle/>
          <a:p>
            <a:pPr indent="0" marL="0">
              <a:buNone/>
            </a:pPr>
            <a:r>
              <a:rPr lang="en-US" sz="1000" b="1" spc="150" kern="0" dirty="0">
                <a:solidFill>
                  <a:srgbClr val="0F766E"/>
                </a:solidFill>
              </a:rPr>
              <a:t>4 · WHAT I TRIED</a:t>
            </a:r>
            <a:endParaRPr lang="en-US" sz="1000" dirty="0"/>
          </a:p>
        </p:txBody>
      </p:sp>
      <p:sp>
        <p:nvSpPr>
          <p:cNvPr id="3" name="Text 1"/>
          <p:cNvSpPr/>
          <p:nvPr/>
        </p:nvSpPr>
        <p:spPr>
          <a:xfrm>
            <a:off x="640080" y="749808"/>
            <a:ext cx="10927080" cy="548640"/>
          </a:xfrm>
          <a:prstGeom prst="rect">
            <a:avLst/>
          </a:prstGeom>
          <a:noFill/>
          <a:ln/>
        </p:spPr>
        <p:txBody>
          <a:bodyPr wrap="square" lIns="0" tIns="0" rIns="0" bIns="0" rtlCol="0" anchor="ctr"/>
          <a:lstStyle/>
          <a:p>
            <a:pPr indent="0" marL="0">
              <a:buNone/>
            </a:pPr>
            <a:r>
              <a:rPr lang="en-US" sz="2700" b="1" dirty="0">
                <a:solidFill>
                  <a:srgbClr val="101828"/>
                </a:solidFill>
              </a:rPr>
              <a:t>Three model families. Same folds.</a:t>
            </a:r>
            <a:endParaRPr lang="en-US" sz="2700" dirty="0"/>
          </a:p>
        </p:txBody>
      </p:sp>
      <p:sp>
        <p:nvSpPr>
          <p:cNvPr id="4" name="Text 2"/>
          <p:cNvSpPr/>
          <p:nvPr/>
        </p:nvSpPr>
        <p:spPr>
          <a:xfrm>
            <a:off x="9738360" y="1170432"/>
            <a:ext cx="1371600" cy="228600"/>
          </a:xfrm>
          <a:prstGeom prst="rect">
            <a:avLst/>
          </a:prstGeom>
          <a:noFill/>
          <a:ln/>
        </p:spPr>
        <p:txBody>
          <a:bodyPr wrap="square" lIns="0" tIns="0" rIns="0" bIns="0" rtlCol="0" anchor="ctr"/>
          <a:lstStyle/>
          <a:p>
            <a:pPr algn="r" indent="0" marL="0">
              <a:buNone/>
            </a:pPr>
            <a:r>
              <a:rPr lang="en-US" sz="1100" b="1" dirty="0">
                <a:solidFill>
                  <a:srgbClr val="667085"/>
                </a:solidFill>
              </a:rPr>
              <a:t>Mean CV recall</a:t>
            </a:r>
            <a:endParaRPr lang="en-US" sz="1100" dirty="0"/>
          </a:p>
        </p:txBody>
      </p:sp>
      <p:sp>
        <p:nvSpPr>
          <p:cNvPr id="5" name="Text 3"/>
          <p:cNvSpPr/>
          <p:nvPr/>
        </p:nvSpPr>
        <p:spPr>
          <a:xfrm>
            <a:off x="777240" y="1645920"/>
            <a:ext cx="2514600" cy="256032"/>
          </a:xfrm>
          <a:prstGeom prst="rect">
            <a:avLst/>
          </a:prstGeom>
          <a:noFill/>
          <a:ln/>
        </p:spPr>
        <p:txBody>
          <a:bodyPr wrap="square" lIns="0" tIns="0" rIns="0" bIns="0" rtlCol="0" anchor="ctr"/>
          <a:lstStyle/>
          <a:p>
            <a:pPr indent="0" marL="0">
              <a:buNone/>
            </a:pPr>
            <a:r>
              <a:rPr lang="en-US" sz="1600" b="1" dirty="0">
                <a:solidFill>
                  <a:srgbClr val="101828"/>
                </a:solidFill>
              </a:rPr>
              <a:t>Logistic Regression</a:t>
            </a:r>
            <a:endParaRPr lang="en-US" sz="1600" dirty="0"/>
          </a:p>
        </p:txBody>
      </p:sp>
      <p:sp>
        <p:nvSpPr>
          <p:cNvPr id="6" name="Shape 4"/>
          <p:cNvSpPr/>
          <p:nvPr/>
        </p:nvSpPr>
        <p:spPr>
          <a:xfrm>
            <a:off x="3749040" y="1572768"/>
            <a:ext cx="6812280" cy="438912"/>
          </a:xfrm>
          <a:prstGeom prst="roundRect">
            <a:avLst>
              <a:gd name="adj" fmla="val 12500"/>
            </a:avLst>
          </a:prstGeom>
          <a:solidFill>
            <a:srgbClr val="EAECF0"/>
          </a:solidFill>
          <a:ln w="12700">
            <a:solidFill>
              <a:srgbClr val="EAECF0"/>
            </a:solidFill>
            <a:prstDash val="solid"/>
          </a:ln>
        </p:spPr>
      </p:sp>
      <p:sp>
        <p:nvSpPr>
          <p:cNvPr id="7" name="Shape 5"/>
          <p:cNvSpPr/>
          <p:nvPr/>
        </p:nvSpPr>
        <p:spPr>
          <a:xfrm>
            <a:off x="3749040" y="1572768"/>
            <a:ext cx="5699258" cy="438912"/>
          </a:xfrm>
          <a:prstGeom prst="roundRect">
            <a:avLst>
              <a:gd name="adj" fmla="val 12500"/>
            </a:avLst>
          </a:prstGeom>
          <a:solidFill>
            <a:srgbClr val="0F766E"/>
          </a:solidFill>
          <a:ln w="12700">
            <a:solidFill>
              <a:srgbClr val="0F766E"/>
            </a:solidFill>
            <a:prstDash val="solid"/>
          </a:ln>
        </p:spPr>
      </p:sp>
      <p:sp>
        <p:nvSpPr>
          <p:cNvPr id="8" name="Text 6"/>
          <p:cNvSpPr/>
          <p:nvPr/>
        </p:nvSpPr>
        <p:spPr>
          <a:xfrm>
            <a:off x="10287000" y="1645920"/>
            <a:ext cx="777240" cy="237744"/>
          </a:xfrm>
          <a:prstGeom prst="rect">
            <a:avLst/>
          </a:prstGeom>
          <a:noFill/>
          <a:ln/>
        </p:spPr>
        <p:txBody>
          <a:bodyPr wrap="square" lIns="0" tIns="0" rIns="0" bIns="0" rtlCol="0" anchor="ctr"/>
          <a:lstStyle/>
          <a:p>
            <a:pPr algn="r" indent="0" marL="0">
              <a:buNone/>
            </a:pPr>
            <a:r>
              <a:rPr lang="en-US" sz="1500" b="1" dirty="0">
                <a:solidFill>
                  <a:srgbClr val="101828"/>
                </a:solidFill>
              </a:rPr>
              <a:t>0.544</a:t>
            </a:r>
            <a:endParaRPr lang="en-US" sz="1500" dirty="0"/>
          </a:p>
        </p:txBody>
      </p:sp>
      <p:sp>
        <p:nvSpPr>
          <p:cNvPr id="9" name="Text 7"/>
          <p:cNvSpPr/>
          <p:nvPr/>
        </p:nvSpPr>
        <p:spPr>
          <a:xfrm>
            <a:off x="777240" y="2633472"/>
            <a:ext cx="2514600" cy="256032"/>
          </a:xfrm>
          <a:prstGeom prst="rect">
            <a:avLst/>
          </a:prstGeom>
          <a:noFill/>
          <a:ln/>
        </p:spPr>
        <p:txBody>
          <a:bodyPr wrap="square" lIns="0" tIns="0" rIns="0" bIns="0" rtlCol="0" anchor="ctr"/>
          <a:lstStyle/>
          <a:p>
            <a:pPr indent="0" marL="0">
              <a:buNone/>
            </a:pPr>
            <a:r>
              <a:rPr lang="en-US" sz="1600" dirty="0">
                <a:solidFill>
                  <a:srgbClr val="101828"/>
                </a:solidFill>
              </a:rPr>
              <a:t>Decision Tree</a:t>
            </a:r>
            <a:endParaRPr lang="en-US" sz="1600" dirty="0"/>
          </a:p>
        </p:txBody>
      </p:sp>
      <p:sp>
        <p:nvSpPr>
          <p:cNvPr id="10" name="Shape 8"/>
          <p:cNvSpPr/>
          <p:nvPr/>
        </p:nvSpPr>
        <p:spPr>
          <a:xfrm>
            <a:off x="3749040" y="2560320"/>
            <a:ext cx="6812280" cy="438912"/>
          </a:xfrm>
          <a:prstGeom prst="roundRect">
            <a:avLst>
              <a:gd name="adj" fmla="val 12500"/>
            </a:avLst>
          </a:prstGeom>
          <a:solidFill>
            <a:srgbClr val="EAECF0"/>
          </a:solidFill>
          <a:ln w="12700">
            <a:solidFill>
              <a:srgbClr val="EAECF0"/>
            </a:solidFill>
            <a:prstDash val="solid"/>
          </a:ln>
        </p:spPr>
      </p:sp>
      <p:sp>
        <p:nvSpPr>
          <p:cNvPr id="11" name="Shape 9"/>
          <p:cNvSpPr/>
          <p:nvPr/>
        </p:nvSpPr>
        <p:spPr>
          <a:xfrm>
            <a:off x="3749040" y="2560320"/>
            <a:ext cx="5243360" cy="438912"/>
          </a:xfrm>
          <a:prstGeom prst="roundRect">
            <a:avLst>
              <a:gd name="adj" fmla="val 12500"/>
            </a:avLst>
          </a:prstGeom>
          <a:solidFill>
            <a:srgbClr val="175CD3"/>
          </a:solidFill>
          <a:ln w="12700">
            <a:solidFill>
              <a:srgbClr val="175CD3"/>
            </a:solidFill>
            <a:prstDash val="solid"/>
          </a:ln>
        </p:spPr>
      </p:sp>
      <p:sp>
        <p:nvSpPr>
          <p:cNvPr id="12" name="Text 10"/>
          <p:cNvSpPr/>
          <p:nvPr/>
        </p:nvSpPr>
        <p:spPr>
          <a:xfrm>
            <a:off x="10287000" y="2633472"/>
            <a:ext cx="777240" cy="237744"/>
          </a:xfrm>
          <a:prstGeom prst="rect">
            <a:avLst/>
          </a:prstGeom>
          <a:noFill/>
          <a:ln/>
        </p:spPr>
        <p:txBody>
          <a:bodyPr wrap="square" lIns="0" tIns="0" rIns="0" bIns="0" rtlCol="0" anchor="ctr"/>
          <a:lstStyle/>
          <a:p>
            <a:pPr algn="r" indent="0" marL="0">
              <a:buNone/>
            </a:pPr>
            <a:r>
              <a:rPr lang="en-US" sz="1500" b="1" dirty="0">
                <a:solidFill>
                  <a:srgbClr val="101828"/>
                </a:solidFill>
              </a:rPr>
              <a:t>0.500</a:t>
            </a:r>
            <a:endParaRPr lang="en-US" sz="1500" dirty="0"/>
          </a:p>
        </p:txBody>
      </p:sp>
      <p:sp>
        <p:nvSpPr>
          <p:cNvPr id="13" name="Text 11"/>
          <p:cNvSpPr/>
          <p:nvPr/>
        </p:nvSpPr>
        <p:spPr>
          <a:xfrm>
            <a:off x="777240" y="3621024"/>
            <a:ext cx="2514600" cy="256032"/>
          </a:xfrm>
          <a:prstGeom prst="rect">
            <a:avLst/>
          </a:prstGeom>
          <a:noFill/>
          <a:ln/>
        </p:spPr>
        <p:txBody>
          <a:bodyPr wrap="square" lIns="0" tIns="0" rIns="0" bIns="0" rtlCol="0" anchor="ctr"/>
          <a:lstStyle/>
          <a:p>
            <a:pPr indent="0" marL="0">
              <a:buNone/>
            </a:pPr>
            <a:r>
              <a:rPr lang="en-US" sz="1600" dirty="0">
                <a:solidFill>
                  <a:srgbClr val="101828"/>
                </a:solidFill>
              </a:rPr>
              <a:t>Random Forest</a:t>
            </a:r>
            <a:endParaRPr lang="en-US" sz="1600" dirty="0"/>
          </a:p>
        </p:txBody>
      </p:sp>
      <p:sp>
        <p:nvSpPr>
          <p:cNvPr id="14" name="Shape 12"/>
          <p:cNvSpPr/>
          <p:nvPr/>
        </p:nvSpPr>
        <p:spPr>
          <a:xfrm>
            <a:off x="3749040" y="3547872"/>
            <a:ext cx="6812280" cy="438912"/>
          </a:xfrm>
          <a:prstGeom prst="roundRect">
            <a:avLst>
              <a:gd name="adj" fmla="val 12500"/>
            </a:avLst>
          </a:prstGeom>
          <a:solidFill>
            <a:srgbClr val="EAECF0"/>
          </a:solidFill>
          <a:ln w="12700">
            <a:solidFill>
              <a:srgbClr val="EAECF0"/>
            </a:solidFill>
            <a:prstDash val="solid"/>
          </a:ln>
        </p:spPr>
      </p:sp>
      <p:sp>
        <p:nvSpPr>
          <p:cNvPr id="15" name="Shape 13"/>
          <p:cNvSpPr/>
          <p:nvPr/>
        </p:nvSpPr>
        <p:spPr>
          <a:xfrm>
            <a:off x="3749040" y="3547872"/>
            <a:ext cx="5089297" cy="438912"/>
          </a:xfrm>
          <a:prstGeom prst="roundRect">
            <a:avLst>
              <a:gd name="adj" fmla="val 12500"/>
            </a:avLst>
          </a:prstGeom>
          <a:solidFill>
            <a:srgbClr val="D97706"/>
          </a:solidFill>
          <a:ln w="12700">
            <a:solidFill>
              <a:srgbClr val="D97706"/>
            </a:solidFill>
            <a:prstDash val="solid"/>
          </a:ln>
        </p:spPr>
      </p:sp>
      <p:sp>
        <p:nvSpPr>
          <p:cNvPr id="16" name="Text 14"/>
          <p:cNvSpPr/>
          <p:nvPr/>
        </p:nvSpPr>
        <p:spPr>
          <a:xfrm>
            <a:off x="10287000" y="3621024"/>
            <a:ext cx="777240" cy="237744"/>
          </a:xfrm>
          <a:prstGeom prst="rect">
            <a:avLst/>
          </a:prstGeom>
          <a:noFill/>
          <a:ln/>
        </p:spPr>
        <p:txBody>
          <a:bodyPr wrap="square" lIns="0" tIns="0" rIns="0" bIns="0" rtlCol="0" anchor="ctr"/>
          <a:lstStyle/>
          <a:p>
            <a:pPr algn="r" indent="0" marL="0">
              <a:buNone/>
            </a:pPr>
            <a:r>
              <a:rPr lang="en-US" sz="1500" b="1" dirty="0">
                <a:solidFill>
                  <a:srgbClr val="101828"/>
                </a:solidFill>
              </a:rPr>
              <a:t>0.486</a:t>
            </a:r>
            <a:endParaRPr lang="en-US" sz="1500" dirty="0"/>
          </a:p>
        </p:txBody>
      </p:sp>
      <p:sp>
        <p:nvSpPr>
          <p:cNvPr id="17" name="Text 15"/>
          <p:cNvSpPr/>
          <p:nvPr/>
        </p:nvSpPr>
        <p:spPr>
          <a:xfrm>
            <a:off x="777240" y="4608576"/>
            <a:ext cx="2514600" cy="256032"/>
          </a:xfrm>
          <a:prstGeom prst="rect">
            <a:avLst/>
          </a:prstGeom>
          <a:noFill/>
          <a:ln/>
        </p:spPr>
        <p:txBody>
          <a:bodyPr wrap="square" lIns="0" tIns="0" rIns="0" bIns="0" rtlCol="0" anchor="ctr"/>
          <a:lstStyle/>
          <a:p>
            <a:pPr indent="0" marL="0">
              <a:buNone/>
            </a:pPr>
            <a:r>
              <a:rPr lang="en-US" sz="1600" dirty="0">
                <a:solidFill>
                  <a:srgbClr val="101828"/>
                </a:solidFill>
              </a:rPr>
              <a:t>Dummy baseline</a:t>
            </a:r>
            <a:endParaRPr lang="en-US" sz="1600" dirty="0"/>
          </a:p>
        </p:txBody>
      </p:sp>
      <p:sp>
        <p:nvSpPr>
          <p:cNvPr id="18" name="Shape 16"/>
          <p:cNvSpPr/>
          <p:nvPr/>
        </p:nvSpPr>
        <p:spPr>
          <a:xfrm>
            <a:off x="3749040" y="4535424"/>
            <a:ext cx="6812280" cy="438912"/>
          </a:xfrm>
          <a:prstGeom prst="roundRect">
            <a:avLst>
              <a:gd name="adj" fmla="val 12500"/>
            </a:avLst>
          </a:prstGeom>
          <a:solidFill>
            <a:srgbClr val="EAECF0"/>
          </a:solidFill>
          <a:ln w="12700">
            <a:solidFill>
              <a:srgbClr val="EAECF0"/>
            </a:solidFill>
            <a:prstDash val="solid"/>
          </a:ln>
        </p:spPr>
      </p:sp>
      <p:sp>
        <p:nvSpPr>
          <p:cNvPr id="19" name="Text 17"/>
          <p:cNvSpPr/>
          <p:nvPr/>
        </p:nvSpPr>
        <p:spPr>
          <a:xfrm>
            <a:off x="10287000" y="4608576"/>
            <a:ext cx="777240" cy="237744"/>
          </a:xfrm>
          <a:prstGeom prst="rect">
            <a:avLst/>
          </a:prstGeom>
          <a:noFill/>
          <a:ln/>
        </p:spPr>
        <p:txBody>
          <a:bodyPr wrap="square" lIns="0" tIns="0" rIns="0" bIns="0" rtlCol="0" anchor="ctr"/>
          <a:lstStyle/>
          <a:p>
            <a:pPr algn="r" indent="0" marL="0">
              <a:buNone/>
            </a:pPr>
            <a:r>
              <a:rPr lang="en-US" sz="1500" b="1" dirty="0">
                <a:solidFill>
                  <a:srgbClr val="101828"/>
                </a:solidFill>
              </a:rPr>
              <a:t>0.000</a:t>
            </a:r>
            <a:endParaRPr lang="en-US" sz="1500" dirty="0"/>
          </a:p>
        </p:txBody>
      </p:sp>
      <p:sp>
        <p:nvSpPr>
          <p:cNvPr id="20" name="Shape 18"/>
          <p:cNvSpPr/>
          <p:nvPr/>
        </p:nvSpPr>
        <p:spPr>
          <a:xfrm>
            <a:off x="777240" y="5486400"/>
            <a:ext cx="10332720" cy="603504"/>
          </a:xfrm>
          <a:prstGeom prst="roundRect">
            <a:avLst>
              <a:gd name="adj" fmla="val 15152"/>
            </a:avLst>
          </a:prstGeom>
          <a:solidFill>
            <a:srgbClr val="DDF4EF"/>
          </a:solidFill>
          <a:ln w="12700">
            <a:solidFill>
              <a:srgbClr val="DDF4EF"/>
            </a:solidFill>
            <a:prstDash val="solid"/>
          </a:ln>
        </p:spPr>
      </p:sp>
      <p:sp>
        <p:nvSpPr>
          <p:cNvPr id="21" name="Text 19"/>
          <p:cNvSpPr/>
          <p:nvPr/>
        </p:nvSpPr>
        <p:spPr>
          <a:xfrm>
            <a:off x="1051560" y="5669280"/>
            <a:ext cx="9829800" cy="237744"/>
          </a:xfrm>
          <a:prstGeom prst="rect">
            <a:avLst/>
          </a:prstGeom>
          <a:noFill/>
          <a:ln/>
        </p:spPr>
        <p:txBody>
          <a:bodyPr wrap="square" lIns="0" tIns="0" rIns="0" bIns="0" rtlCol="0" anchor="ctr"/>
          <a:lstStyle/>
          <a:p>
            <a:pPr algn="ctr" indent="0" marL="0">
              <a:buNone/>
            </a:pPr>
            <a:r>
              <a:rPr lang="en-US" sz="1600" b="1" dirty="0">
                <a:solidFill>
                  <a:srgbClr val="115E59"/>
                </a:solidFill>
              </a:rPr>
              <a:t>Winner before tuning: Logistic Regression · simple, strongest recall, easy to explain</a:t>
            </a:r>
            <a:endParaRPr lang="en-US" sz="1600" dirty="0"/>
          </a:p>
        </p:txBody>
      </p:sp>
      <p:sp>
        <p:nvSpPr>
          <p:cNvPr id="25" name="Slide Number Placeholder 0"/>
          <p:cNvSpPr>
            <a:spLocks noGrp="1"/>
          </p:cNvSpPr>
          <p:nvPr>
            <p:ph type="sldNum" sz="quarter" idx="4294967295"/>
          </p:nvPr>
        </p:nvSpPr>
        <p:spPr>
          <a:xfrm>
            <a:off x="11201400" y="6428232"/>
            <a:ext cx="41148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98A2B3"/>
                </a:solidFill>
                <a:latin typeface="Aptos"/>
                <a:ea typeface="Aptos"/>
                <a:cs typeface="Apto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384048"/>
            <a:ext cx="4206240" cy="256032"/>
          </a:xfrm>
          <a:prstGeom prst="rect">
            <a:avLst/>
          </a:prstGeom>
          <a:noFill/>
          <a:ln/>
        </p:spPr>
        <p:txBody>
          <a:bodyPr wrap="square" lIns="0" tIns="0" rIns="0" bIns="0" rtlCol="0" anchor="ctr"/>
          <a:lstStyle/>
          <a:p>
            <a:pPr indent="0" marL="0">
              <a:buNone/>
            </a:pPr>
            <a:r>
              <a:rPr lang="en-US" sz="1000" b="1" spc="150" kern="0" dirty="0">
                <a:solidFill>
                  <a:srgbClr val="0F766E"/>
                </a:solidFill>
              </a:rPr>
              <a:t>5 · FINAL MODEL</a:t>
            </a:r>
            <a:endParaRPr lang="en-US" sz="1000" dirty="0"/>
          </a:p>
        </p:txBody>
      </p:sp>
      <p:sp>
        <p:nvSpPr>
          <p:cNvPr id="3" name="Text 1"/>
          <p:cNvSpPr/>
          <p:nvPr/>
        </p:nvSpPr>
        <p:spPr>
          <a:xfrm>
            <a:off x="640080" y="749808"/>
            <a:ext cx="10927080" cy="548640"/>
          </a:xfrm>
          <a:prstGeom prst="rect">
            <a:avLst/>
          </a:prstGeom>
          <a:noFill/>
          <a:ln/>
        </p:spPr>
        <p:txBody>
          <a:bodyPr wrap="square" lIns="0" tIns="0" rIns="0" bIns="0" rtlCol="0" anchor="ctr"/>
          <a:lstStyle/>
          <a:p>
            <a:pPr indent="0" marL="0">
              <a:buNone/>
            </a:pPr>
            <a:r>
              <a:rPr lang="en-US" sz="2700" b="1" dirty="0">
                <a:solidFill>
                  <a:srgbClr val="101828"/>
                </a:solidFill>
              </a:rPr>
              <a:t>Tuning changed the picture</a:t>
            </a:r>
            <a:endParaRPr lang="en-US" sz="2700" dirty="0"/>
          </a:p>
        </p:txBody>
      </p:sp>
      <p:sp>
        <p:nvSpPr>
          <p:cNvPr id="4" name="Shape 2"/>
          <p:cNvSpPr/>
          <p:nvPr/>
        </p:nvSpPr>
        <p:spPr>
          <a:xfrm>
            <a:off x="731520" y="1417320"/>
            <a:ext cx="2331720" cy="1115568"/>
          </a:xfrm>
          <a:prstGeom prst="roundRect">
            <a:avLst>
              <a:gd name="adj" fmla="val 6557"/>
            </a:avLst>
          </a:prstGeom>
          <a:solidFill>
            <a:srgbClr val="FFFFFF"/>
          </a:solidFill>
          <a:ln w="12700">
            <a:solidFill>
              <a:srgbClr val="E4E7EC"/>
            </a:solidFill>
            <a:prstDash val="solid"/>
          </a:ln>
        </p:spPr>
      </p:sp>
      <p:sp>
        <p:nvSpPr>
          <p:cNvPr id="5" name="Shape 3"/>
          <p:cNvSpPr/>
          <p:nvPr/>
        </p:nvSpPr>
        <p:spPr>
          <a:xfrm>
            <a:off x="731520" y="1417320"/>
            <a:ext cx="54864" cy="1115568"/>
          </a:xfrm>
          <a:prstGeom prst="rect">
            <a:avLst/>
          </a:prstGeom>
          <a:solidFill>
            <a:srgbClr val="0F766E"/>
          </a:solidFill>
          <a:ln w="12700">
            <a:solidFill>
              <a:srgbClr val="0F766E"/>
            </a:solidFill>
            <a:prstDash val="solid"/>
          </a:ln>
        </p:spPr>
      </p:sp>
      <p:sp>
        <p:nvSpPr>
          <p:cNvPr id="6" name="Text 4"/>
          <p:cNvSpPr/>
          <p:nvPr/>
        </p:nvSpPr>
        <p:spPr>
          <a:xfrm>
            <a:off x="932688" y="1581912"/>
            <a:ext cx="2011680" cy="384048"/>
          </a:xfrm>
          <a:prstGeom prst="rect">
            <a:avLst/>
          </a:prstGeom>
          <a:noFill/>
          <a:ln/>
        </p:spPr>
        <p:txBody>
          <a:bodyPr wrap="square" lIns="0" tIns="0" rIns="0" bIns="0" rtlCol="0" anchor="ctr"/>
          <a:lstStyle/>
          <a:p>
            <a:pPr indent="0" marL="0">
              <a:buNone/>
            </a:pPr>
            <a:r>
              <a:rPr lang="en-US" sz="2500" b="1" dirty="0">
                <a:solidFill>
                  <a:srgbClr val="101828"/>
                </a:solidFill>
              </a:rPr>
              <a:t>0.801</a:t>
            </a:r>
            <a:endParaRPr lang="en-US" sz="2500" dirty="0"/>
          </a:p>
        </p:txBody>
      </p:sp>
      <p:sp>
        <p:nvSpPr>
          <p:cNvPr id="7" name="Text 5"/>
          <p:cNvSpPr/>
          <p:nvPr/>
        </p:nvSpPr>
        <p:spPr>
          <a:xfrm>
            <a:off x="932688" y="2020824"/>
            <a:ext cx="2011680" cy="219456"/>
          </a:xfrm>
          <a:prstGeom prst="rect">
            <a:avLst/>
          </a:prstGeom>
          <a:noFill/>
          <a:ln/>
        </p:spPr>
        <p:txBody>
          <a:bodyPr wrap="square" lIns="0" tIns="0" rIns="0" bIns="0" rtlCol="0" anchor="ctr"/>
          <a:lstStyle/>
          <a:p>
            <a:pPr indent="0" marL="0">
              <a:buNone/>
            </a:pPr>
            <a:r>
              <a:rPr lang="en-US" sz="1100" b="1" dirty="0">
                <a:solidFill>
                  <a:srgbClr val="667085"/>
                </a:solidFill>
              </a:rPr>
              <a:t>CV recall</a:t>
            </a:r>
            <a:endParaRPr lang="en-US" sz="1100" dirty="0"/>
          </a:p>
        </p:txBody>
      </p:sp>
      <p:sp>
        <p:nvSpPr>
          <p:cNvPr id="8" name="Text 6"/>
          <p:cNvSpPr/>
          <p:nvPr/>
        </p:nvSpPr>
        <p:spPr>
          <a:xfrm>
            <a:off x="932688" y="2267712"/>
            <a:ext cx="2011680" cy="164592"/>
          </a:xfrm>
          <a:prstGeom prst="rect">
            <a:avLst/>
          </a:prstGeom>
          <a:noFill/>
          <a:ln/>
        </p:spPr>
        <p:txBody>
          <a:bodyPr wrap="square" lIns="0" tIns="0" rIns="0" bIns="0" rtlCol="0" anchor="ctr"/>
          <a:lstStyle/>
          <a:p>
            <a:pPr indent="0" marL="0">
              <a:buNone/>
            </a:pPr>
            <a:r>
              <a:rPr lang="en-US" sz="900" dirty="0">
                <a:solidFill>
                  <a:srgbClr val="667085"/>
                </a:solidFill>
              </a:rPr>
              <a:t>5-fold spread ± 0.038</a:t>
            </a:r>
            <a:endParaRPr lang="en-US" sz="900" dirty="0"/>
          </a:p>
        </p:txBody>
      </p:sp>
      <p:sp>
        <p:nvSpPr>
          <p:cNvPr id="9" name="Shape 7"/>
          <p:cNvSpPr/>
          <p:nvPr/>
        </p:nvSpPr>
        <p:spPr>
          <a:xfrm>
            <a:off x="3291840" y="1417320"/>
            <a:ext cx="2331720" cy="1115568"/>
          </a:xfrm>
          <a:prstGeom prst="roundRect">
            <a:avLst>
              <a:gd name="adj" fmla="val 6557"/>
            </a:avLst>
          </a:prstGeom>
          <a:solidFill>
            <a:srgbClr val="FFFFFF"/>
          </a:solidFill>
          <a:ln w="12700">
            <a:solidFill>
              <a:srgbClr val="E4E7EC"/>
            </a:solidFill>
            <a:prstDash val="solid"/>
          </a:ln>
        </p:spPr>
      </p:sp>
      <p:sp>
        <p:nvSpPr>
          <p:cNvPr id="10" name="Shape 8"/>
          <p:cNvSpPr/>
          <p:nvPr/>
        </p:nvSpPr>
        <p:spPr>
          <a:xfrm>
            <a:off x="3291840" y="1417320"/>
            <a:ext cx="54864" cy="1115568"/>
          </a:xfrm>
          <a:prstGeom prst="rect">
            <a:avLst/>
          </a:prstGeom>
          <a:solidFill>
            <a:srgbClr val="067647"/>
          </a:solidFill>
          <a:ln w="12700">
            <a:solidFill>
              <a:srgbClr val="067647"/>
            </a:solidFill>
            <a:prstDash val="solid"/>
          </a:ln>
        </p:spPr>
      </p:sp>
      <p:sp>
        <p:nvSpPr>
          <p:cNvPr id="11" name="Text 9"/>
          <p:cNvSpPr/>
          <p:nvPr/>
        </p:nvSpPr>
        <p:spPr>
          <a:xfrm>
            <a:off x="3493008" y="1581912"/>
            <a:ext cx="2011680" cy="384048"/>
          </a:xfrm>
          <a:prstGeom prst="rect">
            <a:avLst/>
          </a:prstGeom>
          <a:noFill/>
          <a:ln/>
        </p:spPr>
        <p:txBody>
          <a:bodyPr wrap="square" lIns="0" tIns="0" rIns="0" bIns="0" rtlCol="0" anchor="ctr"/>
          <a:lstStyle/>
          <a:p>
            <a:pPr indent="0" marL="0">
              <a:buNone/>
            </a:pPr>
            <a:r>
              <a:rPr lang="en-US" sz="2500" b="1" dirty="0">
                <a:solidFill>
                  <a:srgbClr val="101828"/>
                </a:solidFill>
              </a:rPr>
              <a:t>0.783</a:t>
            </a:r>
            <a:endParaRPr lang="en-US" sz="2500" dirty="0"/>
          </a:p>
        </p:txBody>
      </p:sp>
      <p:sp>
        <p:nvSpPr>
          <p:cNvPr id="12" name="Text 10"/>
          <p:cNvSpPr/>
          <p:nvPr/>
        </p:nvSpPr>
        <p:spPr>
          <a:xfrm>
            <a:off x="3493008" y="2020824"/>
            <a:ext cx="2011680" cy="219456"/>
          </a:xfrm>
          <a:prstGeom prst="rect">
            <a:avLst/>
          </a:prstGeom>
          <a:noFill/>
          <a:ln/>
        </p:spPr>
        <p:txBody>
          <a:bodyPr wrap="square" lIns="0" tIns="0" rIns="0" bIns="0" rtlCol="0" anchor="ctr"/>
          <a:lstStyle/>
          <a:p>
            <a:pPr indent="0" marL="0">
              <a:buNone/>
            </a:pPr>
            <a:r>
              <a:rPr lang="en-US" sz="1100" b="1" dirty="0">
                <a:solidFill>
                  <a:srgbClr val="667085"/>
                </a:solidFill>
              </a:rPr>
              <a:t>Test recall</a:t>
            </a:r>
            <a:endParaRPr lang="en-US" sz="1100" dirty="0"/>
          </a:p>
        </p:txBody>
      </p:sp>
      <p:sp>
        <p:nvSpPr>
          <p:cNvPr id="13" name="Text 11"/>
          <p:cNvSpPr/>
          <p:nvPr/>
        </p:nvSpPr>
        <p:spPr>
          <a:xfrm>
            <a:off x="3493008" y="2267712"/>
            <a:ext cx="2011680" cy="164592"/>
          </a:xfrm>
          <a:prstGeom prst="rect">
            <a:avLst/>
          </a:prstGeom>
          <a:noFill/>
          <a:ln/>
        </p:spPr>
        <p:txBody>
          <a:bodyPr wrap="square" lIns="0" tIns="0" rIns="0" bIns="0" rtlCol="0" anchor="ctr"/>
          <a:lstStyle/>
          <a:p>
            <a:pPr indent="0" marL="0">
              <a:buNone/>
            </a:pPr>
            <a:r>
              <a:rPr lang="en-US" sz="900" dirty="0">
                <a:solidFill>
                  <a:srgbClr val="667085"/>
                </a:solidFill>
              </a:rPr>
              <a:t>only 0.018 below CV</a:t>
            </a:r>
            <a:endParaRPr lang="en-US" sz="900" dirty="0"/>
          </a:p>
        </p:txBody>
      </p:sp>
      <p:sp>
        <p:nvSpPr>
          <p:cNvPr id="14" name="Shape 12"/>
          <p:cNvSpPr/>
          <p:nvPr/>
        </p:nvSpPr>
        <p:spPr>
          <a:xfrm>
            <a:off x="5852160" y="1417320"/>
            <a:ext cx="2331720" cy="1115568"/>
          </a:xfrm>
          <a:prstGeom prst="roundRect">
            <a:avLst>
              <a:gd name="adj" fmla="val 6557"/>
            </a:avLst>
          </a:prstGeom>
          <a:solidFill>
            <a:srgbClr val="FFFFFF"/>
          </a:solidFill>
          <a:ln w="12700">
            <a:solidFill>
              <a:srgbClr val="E4E7EC"/>
            </a:solidFill>
            <a:prstDash val="solid"/>
          </a:ln>
        </p:spPr>
      </p:sp>
      <p:sp>
        <p:nvSpPr>
          <p:cNvPr id="15" name="Shape 13"/>
          <p:cNvSpPr/>
          <p:nvPr/>
        </p:nvSpPr>
        <p:spPr>
          <a:xfrm>
            <a:off x="5852160" y="1417320"/>
            <a:ext cx="54864" cy="1115568"/>
          </a:xfrm>
          <a:prstGeom prst="rect">
            <a:avLst/>
          </a:prstGeom>
          <a:solidFill>
            <a:srgbClr val="D97706"/>
          </a:solidFill>
          <a:ln w="12700">
            <a:solidFill>
              <a:srgbClr val="D97706"/>
            </a:solidFill>
            <a:prstDash val="solid"/>
          </a:ln>
        </p:spPr>
      </p:sp>
      <p:sp>
        <p:nvSpPr>
          <p:cNvPr id="16" name="Text 14"/>
          <p:cNvSpPr/>
          <p:nvPr/>
        </p:nvSpPr>
        <p:spPr>
          <a:xfrm>
            <a:off x="6053328" y="1581912"/>
            <a:ext cx="2011680" cy="384048"/>
          </a:xfrm>
          <a:prstGeom prst="rect">
            <a:avLst/>
          </a:prstGeom>
          <a:noFill/>
          <a:ln/>
        </p:spPr>
        <p:txBody>
          <a:bodyPr wrap="square" lIns="0" tIns="0" rIns="0" bIns="0" rtlCol="0" anchor="ctr"/>
          <a:lstStyle/>
          <a:p>
            <a:pPr indent="0" marL="0">
              <a:buNone/>
            </a:pPr>
            <a:r>
              <a:rPr lang="en-US" sz="2500" b="1" dirty="0">
                <a:solidFill>
                  <a:srgbClr val="101828"/>
                </a:solidFill>
              </a:rPr>
              <a:t>0.504</a:t>
            </a:r>
            <a:endParaRPr lang="en-US" sz="2500" dirty="0"/>
          </a:p>
        </p:txBody>
      </p:sp>
      <p:sp>
        <p:nvSpPr>
          <p:cNvPr id="17" name="Text 15"/>
          <p:cNvSpPr/>
          <p:nvPr/>
        </p:nvSpPr>
        <p:spPr>
          <a:xfrm>
            <a:off x="6053328" y="2020824"/>
            <a:ext cx="2011680" cy="219456"/>
          </a:xfrm>
          <a:prstGeom prst="rect">
            <a:avLst/>
          </a:prstGeom>
          <a:noFill/>
          <a:ln/>
        </p:spPr>
        <p:txBody>
          <a:bodyPr wrap="square" lIns="0" tIns="0" rIns="0" bIns="0" rtlCol="0" anchor="ctr"/>
          <a:lstStyle/>
          <a:p>
            <a:pPr indent="0" marL="0">
              <a:buNone/>
            </a:pPr>
            <a:r>
              <a:rPr lang="en-US" sz="1100" b="1" dirty="0">
                <a:solidFill>
                  <a:srgbClr val="667085"/>
                </a:solidFill>
              </a:rPr>
              <a:t>Precision</a:t>
            </a:r>
            <a:endParaRPr lang="en-US" sz="1100" dirty="0"/>
          </a:p>
        </p:txBody>
      </p:sp>
      <p:sp>
        <p:nvSpPr>
          <p:cNvPr id="18" name="Text 16"/>
          <p:cNvSpPr/>
          <p:nvPr/>
        </p:nvSpPr>
        <p:spPr>
          <a:xfrm>
            <a:off x="6053328" y="2267712"/>
            <a:ext cx="2011680" cy="164592"/>
          </a:xfrm>
          <a:prstGeom prst="rect">
            <a:avLst/>
          </a:prstGeom>
          <a:noFill/>
          <a:ln/>
        </p:spPr>
        <p:txBody>
          <a:bodyPr wrap="square" lIns="0" tIns="0" rIns="0" bIns="0" rtlCol="0" anchor="ctr"/>
          <a:lstStyle/>
          <a:p>
            <a:pPr indent="0" marL="0">
              <a:buNone/>
            </a:pPr>
            <a:r>
              <a:rPr lang="en-US" sz="900" dirty="0">
                <a:solidFill>
                  <a:srgbClr val="667085"/>
                </a:solidFill>
              </a:rPr>
              <a:t>about half of flags churn</a:t>
            </a:r>
            <a:endParaRPr lang="en-US" sz="900" dirty="0"/>
          </a:p>
        </p:txBody>
      </p:sp>
      <p:sp>
        <p:nvSpPr>
          <p:cNvPr id="19" name="Shape 17"/>
          <p:cNvSpPr/>
          <p:nvPr/>
        </p:nvSpPr>
        <p:spPr>
          <a:xfrm>
            <a:off x="8412480" y="1417320"/>
            <a:ext cx="2331720" cy="1115568"/>
          </a:xfrm>
          <a:prstGeom prst="roundRect">
            <a:avLst>
              <a:gd name="adj" fmla="val 6557"/>
            </a:avLst>
          </a:prstGeom>
          <a:solidFill>
            <a:srgbClr val="FFFFFF"/>
          </a:solidFill>
          <a:ln w="12700">
            <a:solidFill>
              <a:srgbClr val="E4E7EC"/>
            </a:solidFill>
            <a:prstDash val="solid"/>
          </a:ln>
        </p:spPr>
      </p:sp>
      <p:sp>
        <p:nvSpPr>
          <p:cNvPr id="20" name="Shape 18"/>
          <p:cNvSpPr/>
          <p:nvPr/>
        </p:nvSpPr>
        <p:spPr>
          <a:xfrm>
            <a:off x="8412480" y="1417320"/>
            <a:ext cx="54864" cy="1115568"/>
          </a:xfrm>
          <a:prstGeom prst="rect">
            <a:avLst/>
          </a:prstGeom>
          <a:solidFill>
            <a:srgbClr val="175CD3"/>
          </a:solidFill>
          <a:ln w="12700">
            <a:solidFill>
              <a:srgbClr val="175CD3"/>
            </a:solidFill>
            <a:prstDash val="solid"/>
          </a:ln>
        </p:spPr>
      </p:sp>
      <p:sp>
        <p:nvSpPr>
          <p:cNvPr id="21" name="Text 19"/>
          <p:cNvSpPr/>
          <p:nvPr/>
        </p:nvSpPr>
        <p:spPr>
          <a:xfrm>
            <a:off x="8613648" y="1581912"/>
            <a:ext cx="2011680" cy="384048"/>
          </a:xfrm>
          <a:prstGeom prst="rect">
            <a:avLst/>
          </a:prstGeom>
          <a:noFill/>
          <a:ln/>
        </p:spPr>
        <p:txBody>
          <a:bodyPr wrap="square" lIns="0" tIns="0" rIns="0" bIns="0" rtlCol="0" anchor="ctr"/>
          <a:lstStyle/>
          <a:p>
            <a:pPr indent="0" marL="0">
              <a:buNone/>
            </a:pPr>
            <a:r>
              <a:rPr lang="en-US" sz="2500" b="1" dirty="0">
                <a:solidFill>
                  <a:srgbClr val="101828"/>
                </a:solidFill>
              </a:rPr>
              <a:t>0.614</a:t>
            </a:r>
            <a:endParaRPr lang="en-US" sz="2500" dirty="0"/>
          </a:p>
        </p:txBody>
      </p:sp>
      <p:sp>
        <p:nvSpPr>
          <p:cNvPr id="22" name="Text 20"/>
          <p:cNvSpPr/>
          <p:nvPr/>
        </p:nvSpPr>
        <p:spPr>
          <a:xfrm>
            <a:off x="8613648" y="2020824"/>
            <a:ext cx="2011680" cy="219456"/>
          </a:xfrm>
          <a:prstGeom prst="rect">
            <a:avLst/>
          </a:prstGeom>
          <a:noFill/>
          <a:ln/>
        </p:spPr>
        <p:txBody>
          <a:bodyPr wrap="square" lIns="0" tIns="0" rIns="0" bIns="0" rtlCol="0" anchor="ctr"/>
          <a:lstStyle/>
          <a:p>
            <a:pPr indent="0" marL="0">
              <a:buNone/>
            </a:pPr>
            <a:r>
              <a:rPr lang="en-US" sz="1100" b="1" dirty="0">
                <a:solidFill>
                  <a:srgbClr val="667085"/>
                </a:solidFill>
              </a:rPr>
              <a:t>F1</a:t>
            </a:r>
            <a:endParaRPr lang="en-US" sz="1100" dirty="0"/>
          </a:p>
        </p:txBody>
      </p:sp>
      <p:sp>
        <p:nvSpPr>
          <p:cNvPr id="23" name="Text 21"/>
          <p:cNvSpPr/>
          <p:nvPr/>
        </p:nvSpPr>
        <p:spPr>
          <a:xfrm>
            <a:off x="8613648" y="2267712"/>
            <a:ext cx="2011680" cy="164592"/>
          </a:xfrm>
          <a:prstGeom prst="rect">
            <a:avLst/>
          </a:prstGeom>
          <a:noFill/>
          <a:ln/>
        </p:spPr>
        <p:txBody>
          <a:bodyPr wrap="square" lIns="0" tIns="0" rIns="0" bIns="0" rtlCol="0" anchor="ctr"/>
          <a:lstStyle/>
          <a:p>
            <a:pPr indent="0" marL="0">
              <a:buNone/>
            </a:pPr>
            <a:r>
              <a:rPr lang="en-US" sz="900" dirty="0">
                <a:solidFill>
                  <a:srgbClr val="667085"/>
                </a:solidFill>
              </a:rPr>
              <a:t>precision/recall balance</a:t>
            </a:r>
            <a:endParaRPr lang="en-US" sz="900" dirty="0"/>
          </a:p>
        </p:txBody>
      </p:sp>
      <p:sp>
        <p:nvSpPr>
          <p:cNvPr id="24" name="Shape 22"/>
          <p:cNvSpPr/>
          <p:nvPr/>
        </p:nvSpPr>
        <p:spPr>
          <a:xfrm>
            <a:off x="731520" y="2971800"/>
            <a:ext cx="5029200" cy="2103120"/>
          </a:xfrm>
          <a:prstGeom prst="roundRect">
            <a:avLst>
              <a:gd name="adj" fmla="val 5217"/>
            </a:avLst>
          </a:prstGeom>
          <a:solidFill>
            <a:srgbClr val="FFFFFF"/>
          </a:solidFill>
          <a:ln w="12700">
            <a:solidFill>
              <a:srgbClr val="E4E7EC"/>
            </a:solidFill>
            <a:prstDash val="solid"/>
          </a:ln>
        </p:spPr>
      </p:sp>
      <p:sp>
        <p:nvSpPr>
          <p:cNvPr id="25" name="Text 23"/>
          <p:cNvSpPr/>
          <p:nvPr/>
        </p:nvSpPr>
        <p:spPr>
          <a:xfrm>
            <a:off x="1051560" y="3337560"/>
            <a:ext cx="1828800" cy="256032"/>
          </a:xfrm>
          <a:prstGeom prst="rect">
            <a:avLst/>
          </a:prstGeom>
          <a:noFill/>
          <a:ln/>
        </p:spPr>
        <p:txBody>
          <a:bodyPr wrap="square" lIns="0" tIns="0" rIns="0" bIns="0" rtlCol="0" anchor="ctr"/>
          <a:lstStyle/>
          <a:p>
            <a:pPr indent="0" marL="0">
              <a:buNone/>
            </a:pPr>
            <a:r>
              <a:rPr lang="en-US" sz="1400" b="1" dirty="0">
                <a:solidFill>
                  <a:srgbClr val="667085"/>
                </a:solidFill>
              </a:rPr>
              <a:t>Chosen model</a:t>
            </a:r>
            <a:endParaRPr lang="en-US" sz="1400" dirty="0"/>
          </a:p>
        </p:txBody>
      </p:sp>
      <p:sp>
        <p:nvSpPr>
          <p:cNvPr id="26" name="Text 24"/>
          <p:cNvSpPr/>
          <p:nvPr/>
        </p:nvSpPr>
        <p:spPr>
          <a:xfrm>
            <a:off x="1051560" y="3730752"/>
            <a:ext cx="3291840" cy="411480"/>
          </a:xfrm>
          <a:prstGeom prst="rect">
            <a:avLst/>
          </a:prstGeom>
          <a:noFill/>
          <a:ln/>
        </p:spPr>
        <p:txBody>
          <a:bodyPr wrap="square" lIns="0" tIns="0" rIns="0" bIns="0" rtlCol="0" anchor="ctr"/>
          <a:lstStyle/>
          <a:p>
            <a:pPr indent="0" marL="0">
              <a:buNone/>
            </a:pPr>
            <a:r>
              <a:rPr lang="en-US" sz="2700" b="1" dirty="0">
                <a:solidFill>
                  <a:srgbClr val="101828"/>
                </a:solidFill>
              </a:rPr>
              <a:t>Logistic Regression</a:t>
            </a:r>
            <a:endParaRPr lang="en-US" sz="2700" dirty="0"/>
          </a:p>
        </p:txBody>
      </p:sp>
      <p:sp>
        <p:nvSpPr>
          <p:cNvPr id="27" name="Shape 25"/>
          <p:cNvSpPr/>
          <p:nvPr/>
        </p:nvSpPr>
        <p:spPr>
          <a:xfrm>
            <a:off x="1051560" y="4370832"/>
            <a:ext cx="1051560" cy="384048"/>
          </a:xfrm>
          <a:prstGeom prst="roundRect">
            <a:avLst>
              <a:gd name="adj" fmla="val 19048"/>
            </a:avLst>
          </a:prstGeom>
          <a:solidFill>
            <a:srgbClr val="F2F4F7"/>
          </a:solidFill>
          <a:ln w="12700">
            <a:solidFill>
              <a:srgbClr val="F2F4F7"/>
            </a:solidFill>
            <a:prstDash val="solid"/>
          </a:ln>
        </p:spPr>
      </p:sp>
      <p:sp>
        <p:nvSpPr>
          <p:cNvPr id="28" name="Text 26"/>
          <p:cNvSpPr/>
          <p:nvPr/>
        </p:nvSpPr>
        <p:spPr>
          <a:xfrm>
            <a:off x="1124712" y="4434840"/>
            <a:ext cx="905256" cy="201168"/>
          </a:xfrm>
          <a:prstGeom prst="rect">
            <a:avLst/>
          </a:prstGeom>
          <a:noFill/>
          <a:ln/>
        </p:spPr>
        <p:txBody>
          <a:bodyPr wrap="square" lIns="0" tIns="0" rIns="0" bIns="0" rtlCol="0" anchor="ctr"/>
          <a:lstStyle/>
          <a:p>
            <a:pPr algn="ctr" indent="0" marL="0">
              <a:buNone/>
            </a:pPr>
            <a:r>
              <a:rPr lang="en-US" sz="1100" b="1" dirty="0">
                <a:solidFill>
                  <a:srgbClr val="101828"/>
                </a:solidFill>
              </a:rPr>
              <a:t>C = 1</a:t>
            </a:r>
            <a:endParaRPr lang="en-US" sz="1100" dirty="0"/>
          </a:p>
        </p:txBody>
      </p:sp>
      <p:sp>
        <p:nvSpPr>
          <p:cNvPr id="29" name="Shape 27"/>
          <p:cNvSpPr/>
          <p:nvPr/>
        </p:nvSpPr>
        <p:spPr>
          <a:xfrm>
            <a:off x="2240280" y="4370832"/>
            <a:ext cx="2331720" cy="384048"/>
          </a:xfrm>
          <a:prstGeom prst="roundRect">
            <a:avLst>
              <a:gd name="adj" fmla="val 19048"/>
            </a:avLst>
          </a:prstGeom>
          <a:solidFill>
            <a:srgbClr val="F2F4F7"/>
          </a:solidFill>
          <a:ln w="12700">
            <a:solidFill>
              <a:srgbClr val="F2F4F7"/>
            </a:solidFill>
            <a:prstDash val="solid"/>
          </a:ln>
        </p:spPr>
      </p:sp>
      <p:sp>
        <p:nvSpPr>
          <p:cNvPr id="30" name="Text 28"/>
          <p:cNvSpPr/>
          <p:nvPr/>
        </p:nvSpPr>
        <p:spPr>
          <a:xfrm>
            <a:off x="2313432" y="4434840"/>
            <a:ext cx="2185416" cy="201168"/>
          </a:xfrm>
          <a:prstGeom prst="rect">
            <a:avLst/>
          </a:prstGeom>
          <a:noFill/>
          <a:ln/>
        </p:spPr>
        <p:txBody>
          <a:bodyPr wrap="square" lIns="0" tIns="0" rIns="0" bIns="0" rtlCol="0" anchor="ctr"/>
          <a:lstStyle/>
          <a:p>
            <a:pPr algn="ctr" indent="0" marL="0">
              <a:buNone/>
            </a:pPr>
            <a:r>
              <a:rPr lang="en-US" sz="1100" b="1" dirty="0">
                <a:solidFill>
                  <a:srgbClr val="101828"/>
                </a:solidFill>
              </a:rPr>
              <a:t>class_weight = balanced</a:t>
            </a:r>
            <a:endParaRPr lang="en-US" sz="1100" dirty="0"/>
          </a:p>
        </p:txBody>
      </p:sp>
      <p:sp>
        <p:nvSpPr>
          <p:cNvPr id="31" name="Shape 29"/>
          <p:cNvSpPr/>
          <p:nvPr/>
        </p:nvSpPr>
        <p:spPr>
          <a:xfrm>
            <a:off x="6217920" y="2971800"/>
            <a:ext cx="4937760" cy="2103120"/>
          </a:xfrm>
          <a:prstGeom prst="roundRect">
            <a:avLst>
              <a:gd name="adj" fmla="val 5217"/>
            </a:avLst>
          </a:prstGeom>
          <a:solidFill>
            <a:srgbClr val="F2F4F7"/>
          </a:solidFill>
          <a:ln w="12700">
            <a:solidFill>
              <a:srgbClr val="E4E7EC"/>
            </a:solidFill>
            <a:prstDash val="solid"/>
          </a:ln>
        </p:spPr>
      </p:sp>
      <p:sp>
        <p:nvSpPr>
          <p:cNvPr id="32" name="Text 30"/>
          <p:cNvSpPr/>
          <p:nvPr/>
        </p:nvSpPr>
        <p:spPr>
          <a:xfrm>
            <a:off x="6537960" y="3337560"/>
            <a:ext cx="1371600" cy="256032"/>
          </a:xfrm>
          <a:prstGeom prst="rect">
            <a:avLst/>
          </a:prstGeom>
          <a:noFill/>
          <a:ln/>
        </p:spPr>
        <p:txBody>
          <a:bodyPr wrap="square" lIns="0" tIns="0" rIns="0" bIns="0" rtlCol="0" anchor="ctr"/>
          <a:lstStyle/>
          <a:p>
            <a:pPr indent="0" marL="0">
              <a:buNone/>
            </a:pPr>
            <a:r>
              <a:rPr lang="en-US" sz="1400" b="1" dirty="0">
                <a:solidFill>
                  <a:srgbClr val="667085"/>
                </a:solidFill>
              </a:rPr>
              <a:t>Threshold</a:t>
            </a:r>
            <a:endParaRPr lang="en-US" sz="1400" dirty="0"/>
          </a:p>
        </p:txBody>
      </p:sp>
      <p:sp>
        <p:nvSpPr>
          <p:cNvPr id="33" name="Text 31"/>
          <p:cNvSpPr/>
          <p:nvPr/>
        </p:nvSpPr>
        <p:spPr>
          <a:xfrm>
            <a:off x="6537960" y="3675888"/>
            <a:ext cx="1417320" cy="502920"/>
          </a:xfrm>
          <a:prstGeom prst="rect">
            <a:avLst/>
          </a:prstGeom>
          <a:noFill/>
          <a:ln/>
        </p:spPr>
        <p:txBody>
          <a:bodyPr wrap="square" lIns="0" tIns="0" rIns="0" bIns="0" rtlCol="0" anchor="ctr"/>
          <a:lstStyle/>
          <a:p>
            <a:pPr indent="0" marL="0">
              <a:buNone/>
            </a:pPr>
            <a:r>
              <a:rPr lang="en-US" sz="3300" b="1" dirty="0">
                <a:solidFill>
                  <a:srgbClr val="101828"/>
                </a:solidFill>
              </a:rPr>
              <a:t>0.50</a:t>
            </a:r>
            <a:endParaRPr lang="en-US" sz="3300" dirty="0"/>
          </a:p>
        </p:txBody>
      </p:sp>
      <p:sp>
        <p:nvSpPr>
          <p:cNvPr id="34" name="Text 32"/>
          <p:cNvSpPr/>
          <p:nvPr/>
        </p:nvSpPr>
        <p:spPr>
          <a:xfrm>
            <a:off x="7955280" y="3502152"/>
            <a:ext cx="2834640" cy="1115568"/>
          </a:xfrm>
          <a:prstGeom prst="rect">
            <a:avLst/>
          </a:prstGeom>
          <a:noFill/>
          <a:ln/>
        </p:spPr>
        <p:txBody>
          <a:bodyPr wrap="square" lIns="0" tIns="0" rIns="0" bIns="0" rtlCol="0" anchor="ctr"/>
          <a:lstStyle/>
          <a:p>
            <a:pPr indent="0" marL="0">
              <a:buNone/>
            </a:pPr>
            <a:r>
              <a:rPr lang="en-US" sz="1500" dirty="0">
                <a:solidFill>
                  <a:srgbClr val="101828"/>
                </a:solidFill>
              </a:rPr>
              <a:t>I tested the precision/recall trade-off using cross-validated training probabilities. 0.50 already met the ≥80% recall target with the best precision.</a:t>
            </a:r>
            <a:endParaRPr lang="en-US" sz="1500" dirty="0"/>
          </a:p>
        </p:txBody>
      </p:sp>
      <p:sp>
        <p:nvSpPr>
          <p:cNvPr id="35" name="Text 33"/>
          <p:cNvSpPr/>
          <p:nvPr/>
        </p:nvSpPr>
        <p:spPr>
          <a:xfrm>
            <a:off x="777240" y="5605272"/>
            <a:ext cx="10241280" cy="274320"/>
          </a:xfrm>
          <a:prstGeom prst="rect">
            <a:avLst/>
          </a:prstGeom>
          <a:noFill/>
          <a:ln/>
        </p:spPr>
        <p:txBody>
          <a:bodyPr wrap="square" lIns="0" tIns="0" rIns="0" bIns="0" rtlCol="0" anchor="ctr"/>
          <a:lstStyle/>
          <a:p>
            <a:pPr algn="ctr" indent="0" marL="0">
              <a:buNone/>
            </a:pPr>
            <a:r>
              <a:rPr lang="en-US" sz="1400" b="1" dirty="0">
                <a:solidFill>
                  <a:srgbClr val="115E59"/>
                </a:solidFill>
              </a:rPr>
              <a:t>Untouched test set used once — after model + threshold were fixed.</a:t>
            </a:r>
            <a:endParaRPr lang="en-US" sz="1400" dirty="0"/>
          </a:p>
        </p:txBody>
      </p:sp>
      <p:sp>
        <p:nvSpPr>
          <p:cNvPr id="25" name="Slide Number Placeholder 0"/>
          <p:cNvSpPr>
            <a:spLocks noGrp="1"/>
          </p:cNvSpPr>
          <p:nvPr>
            <p:ph type="sldNum" sz="quarter" idx="4294967295"/>
          </p:nvPr>
        </p:nvSpPr>
        <p:spPr>
          <a:xfrm>
            <a:off x="11201400" y="6428232"/>
            <a:ext cx="41148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98A2B3"/>
                </a:solidFill>
                <a:latin typeface="Aptos"/>
                <a:ea typeface="Aptos"/>
                <a:cs typeface="Apto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40080" y="384048"/>
            <a:ext cx="4206240" cy="256032"/>
          </a:xfrm>
          <a:prstGeom prst="rect">
            <a:avLst/>
          </a:prstGeom>
          <a:noFill/>
          <a:ln/>
        </p:spPr>
        <p:txBody>
          <a:bodyPr wrap="square" lIns="0" tIns="0" rIns="0" bIns="0" rtlCol="0" anchor="ctr"/>
          <a:lstStyle/>
          <a:p>
            <a:pPr indent="0" marL="0">
              <a:buNone/>
            </a:pPr>
            <a:r>
              <a:rPr lang="en-US" sz="1000" b="1" spc="150" kern="0" dirty="0">
                <a:solidFill>
                  <a:srgbClr val="0F766E"/>
                </a:solidFill>
              </a:rPr>
              <a:t>6 · WHERE IT GOES WRONG</a:t>
            </a:r>
            <a:endParaRPr lang="en-US" sz="1000" dirty="0"/>
          </a:p>
        </p:txBody>
      </p:sp>
      <p:sp>
        <p:nvSpPr>
          <p:cNvPr id="3" name="Text 1"/>
          <p:cNvSpPr/>
          <p:nvPr/>
        </p:nvSpPr>
        <p:spPr>
          <a:xfrm>
            <a:off x="640080" y="749808"/>
            <a:ext cx="10927080" cy="548640"/>
          </a:xfrm>
          <a:prstGeom prst="rect">
            <a:avLst/>
          </a:prstGeom>
          <a:noFill/>
          <a:ln/>
        </p:spPr>
        <p:txBody>
          <a:bodyPr wrap="square" lIns="0" tIns="0" rIns="0" bIns="0" rtlCol="0" anchor="ctr"/>
          <a:lstStyle/>
          <a:p>
            <a:pPr indent="0" marL="0">
              <a:buNone/>
            </a:pPr>
            <a:r>
              <a:rPr lang="en-US" sz="2700" b="1" dirty="0">
                <a:solidFill>
                  <a:srgbClr val="101828"/>
                </a:solidFill>
              </a:rPr>
              <a:t>The mistakes are the trade-off</a:t>
            </a:r>
            <a:endParaRPr lang="en-US" sz="2700" dirty="0"/>
          </a:p>
        </p:txBody>
      </p:sp>
      <p:sp>
        <p:nvSpPr>
          <p:cNvPr id="4" name="Text 2"/>
          <p:cNvSpPr/>
          <p:nvPr/>
        </p:nvSpPr>
        <p:spPr>
          <a:xfrm>
            <a:off x="804672" y="1389888"/>
            <a:ext cx="1051560" cy="182880"/>
          </a:xfrm>
          <a:prstGeom prst="rect">
            <a:avLst/>
          </a:prstGeom>
          <a:noFill/>
          <a:ln/>
        </p:spPr>
        <p:txBody>
          <a:bodyPr wrap="square" lIns="0" tIns="0" rIns="0" bIns="0" rtlCol="0" anchor="ctr"/>
          <a:lstStyle/>
          <a:p>
            <a:pPr indent="0" marL="0">
              <a:buNone/>
            </a:pPr>
            <a:r>
              <a:rPr lang="en-US" sz="1000" b="1" spc="100" kern="0" dirty="0">
                <a:solidFill>
                  <a:srgbClr val="667085"/>
                </a:solidFill>
              </a:rPr>
              <a:t>TRUE LABEL</a:t>
            </a:r>
            <a:endParaRPr lang="en-US" sz="1000" dirty="0"/>
          </a:p>
        </p:txBody>
      </p:sp>
      <p:sp>
        <p:nvSpPr>
          <p:cNvPr id="5" name="Text 3"/>
          <p:cNvSpPr/>
          <p:nvPr/>
        </p:nvSpPr>
        <p:spPr>
          <a:xfrm>
            <a:off x="3977640" y="1389888"/>
            <a:ext cx="1828800" cy="219456"/>
          </a:xfrm>
          <a:prstGeom prst="rect">
            <a:avLst/>
          </a:prstGeom>
          <a:noFill/>
          <a:ln/>
        </p:spPr>
        <p:txBody>
          <a:bodyPr wrap="square" lIns="0" tIns="0" rIns="0" bIns="0" rtlCol="0" anchor="ctr"/>
          <a:lstStyle/>
          <a:p>
            <a:pPr algn="ctr" indent="0" marL="0">
              <a:buNone/>
            </a:pPr>
            <a:r>
              <a:rPr lang="en-US" sz="1200" b="1" dirty="0">
                <a:solidFill>
                  <a:srgbClr val="667085"/>
                </a:solidFill>
              </a:rPr>
              <a:t>Predicted stay</a:t>
            </a:r>
            <a:endParaRPr lang="en-US" sz="1200" dirty="0"/>
          </a:p>
        </p:txBody>
      </p:sp>
      <p:sp>
        <p:nvSpPr>
          <p:cNvPr id="6" name="Text 4"/>
          <p:cNvSpPr/>
          <p:nvPr/>
        </p:nvSpPr>
        <p:spPr>
          <a:xfrm>
            <a:off x="6766560" y="1389888"/>
            <a:ext cx="1828800" cy="219456"/>
          </a:xfrm>
          <a:prstGeom prst="rect">
            <a:avLst/>
          </a:prstGeom>
          <a:noFill/>
          <a:ln/>
        </p:spPr>
        <p:txBody>
          <a:bodyPr wrap="square" lIns="0" tIns="0" rIns="0" bIns="0" rtlCol="0" anchor="ctr"/>
          <a:lstStyle/>
          <a:p>
            <a:pPr algn="ctr" indent="0" marL="0">
              <a:buNone/>
            </a:pPr>
            <a:r>
              <a:rPr lang="en-US" sz="1200" b="1" dirty="0">
                <a:solidFill>
                  <a:srgbClr val="667085"/>
                </a:solidFill>
              </a:rPr>
              <a:t>Predicted churn</a:t>
            </a:r>
            <a:endParaRPr lang="en-US" sz="1200" dirty="0"/>
          </a:p>
        </p:txBody>
      </p:sp>
      <p:sp>
        <p:nvSpPr>
          <p:cNvPr id="7" name="Text 5"/>
          <p:cNvSpPr/>
          <p:nvPr/>
        </p:nvSpPr>
        <p:spPr>
          <a:xfrm>
            <a:off x="804672" y="2148840"/>
            <a:ext cx="1828800" cy="274320"/>
          </a:xfrm>
          <a:prstGeom prst="rect">
            <a:avLst/>
          </a:prstGeom>
          <a:noFill/>
          <a:ln/>
        </p:spPr>
        <p:txBody>
          <a:bodyPr wrap="square" lIns="0" tIns="0" rIns="0" bIns="0" rtlCol="0" anchor="ctr"/>
          <a:lstStyle/>
          <a:p>
            <a:pPr indent="0" marL="0">
              <a:buNone/>
            </a:pPr>
            <a:r>
              <a:rPr lang="en-US" sz="1500" b="1" dirty="0">
                <a:solidFill>
                  <a:srgbClr val="101828"/>
                </a:solidFill>
              </a:rPr>
              <a:t>Actually stayed</a:t>
            </a:r>
            <a:endParaRPr lang="en-US" sz="1500" dirty="0"/>
          </a:p>
        </p:txBody>
      </p:sp>
      <p:sp>
        <p:nvSpPr>
          <p:cNvPr id="8" name="Text 6"/>
          <p:cNvSpPr/>
          <p:nvPr/>
        </p:nvSpPr>
        <p:spPr>
          <a:xfrm>
            <a:off x="804672" y="3822192"/>
            <a:ext cx="1828800" cy="274320"/>
          </a:xfrm>
          <a:prstGeom prst="rect">
            <a:avLst/>
          </a:prstGeom>
          <a:noFill/>
          <a:ln/>
        </p:spPr>
        <p:txBody>
          <a:bodyPr wrap="square" lIns="0" tIns="0" rIns="0" bIns="0" rtlCol="0" anchor="ctr"/>
          <a:lstStyle/>
          <a:p>
            <a:pPr indent="0" marL="0">
              <a:buNone/>
            </a:pPr>
            <a:r>
              <a:rPr lang="en-US" sz="1500" b="1" dirty="0">
                <a:solidFill>
                  <a:srgbClr val="101828"/>
                </a:solidFill>
              </a:rPr>
              <a:t>Actually churned</a:t>
            </a:r>
            <a:endParaRPr lang="en-US" sz="1500" dirty="0"/>
          </a:p>
        </p:txBody>
      </p:sp>
      <p:sp>
        <p:nvSpPr>
          <p:cNvPr id="9" name="Shape 7"/>
          <p:cNvSpPr/>
          <p:nvPr/>
        </p:nvSpPr>
        <p:spPr>
          <a:xfrm>
            <a:off x="3429000" y="1828800"/>
            <a:ext cx="2377440" cy="1234440"/>
          </a:xfrm>
          <a:prstGeom prst="roundRect">
            <a:avLst>
              <a:gd name="adj" fmla="val 8889"/>
            </a:avLst>
          </a:prstGeom>
          <a:solidFill>
            <a:srgbClr val="E8F5EE"/>
          </a:solidFill>
          <a:ln w="12700">
            <a:solidFill>
              <a:srgbClr val="E8F5EE"/>
            </a:solidFill>
            <a:prstDash val="solid"/>
          </a:ln>
        </p:spPr>
      </p:sp>
      <p:sp>
        <p:nvSpPr>
          <p:cNvPr id="10" name="Text 8"/>
          <p:cNvSpPr/>
          <p:nvPr/>
        </p:nvSpPr>
        <p:spPr>
          <a:xfrm>
            <a:off x="3429000" y="1993392"/>
            <a:ext cx="2377440" cy="457200"/>
          </a:xfrm>
          <a:prstGeom prst="rect">
            <a:avLst/>
          </a:prstGeom>
          <a:noFill/>
          <a:ln/>
        </p:spPr>
        <p:txBody>
          <a:bodyPr wrap="square" lIns="0" tIns="0" rIns="0" bIns="0" rtlCol="0" anchor="ctr"/>
          <a:lstStyle/>
          <a:p>
            <a:pPr algn="ctr" indent="0" marL="0">
              <a:buNone/>
            </a:pPr>
            <a:r>
              <a:rPr lang="en-US" sz="3300" b="1" dirty="0">
                <a:solidFill>
                  <a:srgbClr val="067647"/>
                </a:solidFill>
              </a:rPr>
              <a:t>747</a:t>
            </a:r>
            <a:endParaRPr lang="en-US" sz="3300" dirty="0"/>
          </a:p>
        </p:txBody>
      </p:sp>
      <p:sp>
        <p:nvSpPr>
          <p:cNvPr id="11" name="Text 9"/>
          <p:cNvSpPr/>
          <p:nvPr/>
        </p:nvSpPr>
        <p:spPr>
          <a:xfrm>
            <a:off x="3429000" y="2542032"/>
            <a:ext cx="2377440" cy="219456"/>
          </a:xfrm>
          <a:prstGeom prst="rect">
            <a:avLst/>
          </a:prstGeom>
          <a:noFill/>
          <a:ln/>
        </p:spPr>
        <p:txBody>
          <a:bodyPr wrap="square" lIns="0" tIns="0" rIns="0" bIns="0" rtlCol="0" anchor="ctr"/>
          <a:lstStyle/>
          <a:p>
            <a:pPr algn="ctr" indent="0" marL="0">
              <a:buNone/>
            </a:pPr>
            <a:r>
              <a:rPr lang="en-US" sz="1200" b="1" dirty="0">
                <a:solidFill>
                  <a:srgbClr val="101828"/>
                </a:solidFill>
              </a:rPr>
              <a:t>correct stays</a:t>
            </a:r>
            <a:endParaRPr lang="en-US" sz="1200" dirty="0"/>
          </a:p>
        </p:txBody>
      </p:sp>
      <p:sp>
        <p:nvSpPr>
          <p:cNvPr id="12" name="Shape 10"/>
          <p:cNvSpPr/>
          <p:nvPr/>
        </p:nvSpPr>
        <p:spPr>
          <a:xfrm>
            <a:off x="6217920" y="1828800"/>
            <a:ext cx="2377440" cy="1234440"/>
          </a:xfrm>
          <a:prstGeom prst="roundRect">
            <a:avLst>
              <a:gd name="adj" fmla="val 8889"/>
            </a:avLst>
          </a:prstGeom>
          <a:solidFill>
            <a:srgbClr val="FFF0D5"/>
          </a:solidFill>
          <a:ln w="12700">
            <a:solidFill>
              <a:srgbClr val="FFF0D5"/>
            </a:solidFill>
            <a:prstDash val="solid"/>
          </a:ln>
        </p:spPr>
      </p:sp>
      <p:sp>
        <p:nvSpPr>
          <p:cNvPr id="13" name="Text 11"/>
          <p:cNvSpPr/>
          <p:nvPr/>
        </p:nvSpPr>
        <p:spPr>
          <a:xfrm>
            <a:off x="6217920" y="1993392"/>
            <a:ext cx="2377440" cy="457200"/>
          </a:xfrm>
          <a:prstGeom prst="rect">
            <a:avLst/>
          </a:prstGeom>
          <a:noFill/>
          <a:ln/>
        </p:spPr>
        <p:txBody>
          <a:bodyPr wrap="square" lIns="0" tIns="0" rIns="0" bIns="0" rtlCol="0" anchor="ctr"/>
          <a:lstStyle/>
          <a:p>
            <a:pPr algn="ctr" indent="0" marL="0">
              <a:buNone/>
            </a:pPr>
            <a:r>
              <a:rPr lang="en-US" sz="3300" b="1" dirty="0">
                <a:solidFill>
                  <a:srgbClr val="D97706"/>
                </a:solidFill>
              </a:rPr>
              <a:t>288</a:t>
            </a:r>
            <a:endParaRPr lang="en-US" sz="3300" dirty="0"/>
          </a:p>
        </p:txBody>
      </p:sp>
      <p:sp>
        <p:nvSpPr>
          <p:cNvPr id="14" name="Text 12"/>
          <p:cNvSpPr/>
          <p:nvPr/>
        </p:nvSpPr>
        <p:spPr>
          <a:xfrm>
            <a:off x="6217920" y="2542032"/>
            <a:ext cx="2377440" cy="219456"/>
          </a:xfrm>
          <a:prstGeom prst="rect">
            <a:avLst/>
          </a:prstGeom>
          <a:noFill/>
          <a:ln/>
        </p:spPr>
        <p:txBody>
          <a:bodyPr wrap="square" lIns="0" tIns="0" rIns="0" bIns="0" rtlCol="0" anchor="ctr"/>
          <a:lstStyle/>
          <a:p>
            <a:pPr algn="ctr" indent="0" marL="0">
              <a:buNone/>
            </a:pPr>
            <a:r>
              <a:rPr lang="en-US" sz="1200" b="1" dirty="0">
                <a:solidFill>
                  <a:srgbClr val="101828"/>
                </a:solidFill>
              </a:rPr>
              <a:t>false alarms</a:t>
            </a:r>
            <a:endParaRPr lang="en-US" sz="1200" dirty="0"/>
          </a:p>
        </p:txBody>
      </p:sp>
      <p:sp>
        <p:nvSpPr>
          <p:cNvPr id="15" name="Shape 13"/>
          <p:cNvSpPr/>
          <p:nvPr/>
        </p:nvSpPr>
        <p:spPr>
          <a:xfrm>
            <a:off x="3429000" y="3502152"/>
            <a:ext cx="2377440" cy="1234440"/>
          </a:xfrm>
          <a:prstGeom prst="roundRect">
            <a:avLst>
              <a:gd name="adj" fmla="val 8889"/>
            </a:avLst>
          </a:prstGeom>
          <a:solidFill>
            <a:srgbClr val="FEE4E2"/>
          </a:solidFill>
          <a:ln w="12700">
            <a:solidFill>
              <a:srgbClr val="FEE4E2"/>
            </a:solidFill>
            <a:prstDash val="solid"/>
          </a:ln>
        </p:spPr>
      </p:sp>
      <p:sp>
        <p:nvSpPr>
          <p:cNvPr id="16" name="Text 14"/>
          <p:cNvSpPr/>
          <p:nvPr/>
        </p:nvSpPr>
        <p:spPr>
          <a:xfrm>
            <a:off x="3429000" y="3666744"/>
            <a:ext cx="2377440" cy="457200"/>
          </a:xfrm>
          <a:prstGeom prst="rect">
            <a:avLst/>
          </a:prstGeom>
          <a:noFill/>
          <a:ln/>
        </p:spPr>
        <p:txBody>
          <a:bodyPr wrap="square" lIns="0" tIns="0" rIns="0" bIns="0" rtlCol="0" anchor="ctr"/>
          <a:lstStyle/>
          <a:p>
            <a:pPr algn="ctr" indent="0" marL="0">
              <a:buNone/>
            </a:pPr>
            <a:r>
              <a:rPr lang="en-US" sz="3300" b="1" dirty="0">
                <a:solidFill>
                  <a:srgbClr val="B42318"/>
                </a:solidFill>
              </a:rPr>
              <a:t>81</a:t>
            </a:r>
            <a:endParaRPr lang="en-US" sz="3300" dirty="0"/>
          </a:p>
        </p:txBody>
      </p:sp>
      <p:sp>
        <p:nvSpPr>
          <p:cNvPr id="17" name="Text 15"/>
          <p:cNvSpPr/>
          <p:nvPr/>
        </p:nvSpPr>
        <p:spPr>
          <a:xfrm>
            <a:off x="3429000" y="4215384"/>
            <a:ext cx="2377440" cy="219456"/>
          </a:xfrm>
          <a:prstGeom prst="rect">
            <a:avLst/>
          </a:prstGeom>
          <a:noFill/>
          <a:ln/>
        </p:spPr>
        <p:txBody>
          <a:bodyPr wrap="square" lIns="0" tIns="0" rIns="0" bIns="0" rtlCol="0" anchor="ctr"/>
          <a:lstStyle/>
          <a:p>
            <a:pPr algn="ctr" indent="0" marL="0">
              <a:buNone/>
            </a:pPr>
            <a:r>
              <a:rPr lang="en-US" sz="1200" b="1" dirty="0">
                <a:solidFill>
                  <a:srgbClr val="101828"/>
                </a:solidFill>
              </a:rPr>
              <a:t>missed churners</a:t>
            </a:r>
            <a:endParaRPr lang="en-US" sz="1200" dirty="0"/>
          </a:p>
        </p:txBody>
      </p:sp>
      <p:sp>
        <p:nvSpPr>
          <p:cNvPr id="18" name="Shape 16"/>
          <p:cNvSpPr/>
          <p:nvPr/>
        </p:nvSpPr>
        <p:spPr>
          <a:xfrm>
            <a:off x="6217920" y="3502152"/>
            <a:ext cx="2377440" cy="1234440"/>
          </a:xfrm>
          <a:prstGeom prst="roundRect">
            <a:avLst>
              <a:gd name="adj" fmla="val 8889"/>
            </a:avLst>
          </a:prstGeom>
          <a:solidFill>
            <a:srgbClr val="DDF4EF"/>
          </a:solidFill>
          <a:ln w="12700">
            <a:solidFill>
              <a:srgbClr val="DDF4EF"/>
            </a:solidFill>
            <a:prstDash val="solid"/>
          </a:ln>
        </p:spPr>
      </p:sp>
      <p:sp>
        <p:nvSpPr>
          <p:cNvPr id="19" name="Text 17"/>
          <p:cNvSpPr/>
          <p:nvPr/>
        </p:nvSpPr>
        <p:spPr>
          <a:xfrm>
            <a:off x="6217920" y="3666744"/>
            <a:ext cx="2377440" cy="457200"/>
          </a:xfrm>
          <a:prstGeom prst="rect">
            <a:avLst/>
          </a:prstGeom>
          <a:noFill/>
          <a:ln/>
        </p:spPr>
        <p:txBody>
          <a:bodyPr wrap="square" lIns="0" tIns="0" rIns="0" bIns="0" rtlCol="0" anchor="ctr"/>
          <a:lstStyle/>
          <a:p>
            <a:pPr algn="ctr" indent="0" marL="0">
              <a:buNone/>
            </a:pPr>
            <a:r>
              <a:rPr lang="en-US" sz="3300" b="1" dirty="0">
                <a:solidFill>
                  <a:srgbClr val="115E59"/>
                </a:solidFill>
              </a:rPr>
              <a:t>293</a:t>
            </a:r>
            <a:endParaRPr lang="en-US" sz="3300" dirty="0"/>
          </a:p>
        </p:txBody>
      </p:sp>
      <p:sp>
        <p:nvSpPr>
          <p:cNvPr id="20" name="Text 18"/>
          <p:cNvSpPr/>
          <p:nvPr/>
        </p:nvSpPr>
        <p:spPr>
          <a:xfrm>
            <a:off x="6217920" y="4215384"/>
            <a:ext cx="2377440" cy="219456"/>
          </a:xfrm>
          <a:prstGeom prst="rect">
            <a:avLst/>
          </a:prstGeom>
          <a:noFill/>
          <a:ln/>
        </p:spPr>
        <p:txBody>
          <a:bodyPr wrap="square" lIns="0" tIns="0" rIns="0" bIns="0" rtlCol="0" anchor="ctr"/>
          <a:lstStyle/>
          <a:p>
            <a:pPr algn="ctr" indent="0" marL="0">
              <a:buNone/>
            </a:pPr>
            <a:r>
              <a:rPr lang="en-US" sz="1200" b="1" dirty="0">
                <a:solidFill>
                  <a:srgbClr val="101828"/>
                </a:solidFill>
              </a:rPr>
              <a:t>caught churners</a:t>
            </a:r>
            <a:endParaRPr lang="en-US" sz="1200" dirty="0"/>
          </a:p>
        </p:txBody>
      </p:sp>
      <p:sp>
        <p:nvSpPr>
          <p:cNvPr id="21" name="Shape 19"/>
          <p:cNvSpPr/>
          <p:nvPr/>
        </p:nvSpPr>
        <p:spPr>
          <a:xfrm>
            <a:off x="9006840" y="1737360"/>
            <a:ext cx="2331720" cy="3154680"/>
          </a:xfrm>
          <a:prstGeom prst="roundRect">
            <a:avLst>
              <a:gd name="adj" fmla="val 4706"/>
            </a:avLst>
          </a:prstGeom>
          <a:solidFill>
            <a:srgbClr val="FFFFFF"/>
          </a:solidFill>
          <a:ln w="12700">
            <a:solidFill>
              <a:srgbClr val="E4E7EC"/>
            </a:solidFill>
            <a:prstDash val="solid"/>
          </a:ln>
        </p:spPr>
      </p:sp>
      <p:sp>
        <p:nvSpPr>
          <p:cNvPr id="22" name="Text 20"/>
          <p:cNvSpPr/>
          <p:nvPr/>
        </p:nvSpPr>
        <p:spPr>
          <a:xfrm>
            <a:off x="9281160" y="2011680"/>
            <a:ext cx="1828800" cy="256032"/>
          </a:xfrm>
          <a:prstGeom prst="rect">
            <a:avLst/>
          </a:prstGeom>
          <a:noFill/>
          <a:ln/>
        </p:spPr>
        <p:txBody>
          <a:bodyPr wrap="square" lIns="0" tIns="0" rIns="0" bIns="0" rtlCol="0" anchor="ctr"/>
          <a:lstStyle/>
          <a:p>
            <a:pPr indent="0" marL="0">
              <a:buNone/>
            </a:pPr>
            <a:r>
              <a:rPr lang="en-US" sz="1600" b="1" dirty="0">
                <a:solidFill>
                  <a:srgbClr val="101828"/>
                </a:solidFill>
              </a:rPr>
              <a:t>Pattern in the errors</a:t>
            </a:r>
            <a:endParaRPr lang="en-US" sz="1600" dirty="0"/>
          </a:p>
        </p:txBody>
      </p:sp>
      <p:sp>
        <p:nvSpPr>
          <p:cNvPr id="23" name="Text 21"/>
          <p:cNvSpPr/>
          <p:nvPr/>
        </p:nvSpPr>
        <p:spPr>
          <a:xfrm>
            <a:off x="9281160" y="2542032"/>
            <a:ext cx="1554480" cy="210312"/>
          </a:xfrm>
          <a:prstGeom prst="rect">
            <a:avLst/>
          </a:prstGeom>
          <a:noFill/>
          <a:ln/>
        </p:spPr>
        <p:txBody>
          <a:bodyPr wrap="square" lIns="0" tIns="0" rIns="0" bIns="0" rtlCol="0" anchor="ctr"/>
          <a:lstStyle/>
          <a:p>
            <a:pPr indent="0" marL="0">
              <a:buNone/>
            </a:pPr>
            <a:r>
              <a:rPr lang="en-US" sz="1200" b="1" dirty="0">
                <a:solidFill>
                  <a:srgbClr val="B42318"/>
                </a:solidFill>
              </a:rPr>
              <a:t>False negatives</a:t>
            </a:r>
            <a:endParaRPr lang="en-US" sz="1200" dirty="0"/>
          </a:p>
        </p:txBody>
      </p:sp>
      <p:sp>
        <p:nvSpPr>
          <p:cNvPr id="24" name="Text 22"/>
          <p:cNvSpPr/>
          <p:nvPr/>
        </p:nvSpPr>
        <p:spPr>
          <a:xfrm>
            <a:off x="9281160" y="2816352"/>
            <a:ext cx="1737360" cy="685800"/>
          </a:xfrm>
          <a:prstGeom prst="rect">
            <a:avLst/>
          </a:prstGeom>
          <a:noFill/>
          <a:ln/>
        </p:spPr>
        <p:txBody>
          <a:bodyPr wrap="square" lIns="0" tIns="0" rIns="0" bIns="0" rtlCol="0" anchor="ctr"/>
          <a:lstStyle/>
          <a:p>
            <a:pPr indent="0" marL="0">
              <a:buNone/>
            </a:pPr>
            <a:r>
              <a:rPr lang="en-US" sz="1200" dirty="0">
                <a:solidFill>
                  <a:srgbClr val="101828"/>
                </a:solidFill>
              </a:rPr>
              <a:t>long tenure · 1–2 year contracts · often DSL / automatic pay</a:t>
            </a:r>
            <a:endParaRPr lang="en-US" sz="1200" dirty="0"/>
          </a:p>
        </p:txBody>
      </p:sp>
      <p:sp>
        <p:nvSpPr>
          <p:cNvPr id="25" name="Text 23"/>
          <p:cNvSpPr/>
          <p:nvPr/>
        </p:nvSpPr>
        <p:spPr>
          <a:xfrm>
            <a:off x="9281160" y="3657600"/>
            <a:ext cx="1554480" cy="210312"/>
          </a:xfrm>
          <a:prstGeom prst="rect">
            <a:avLst/>
          </a:prstGeom>
          <a:noFill/>
          <a:ln/>
        </p:spPr>
        <p:txBody>
          <a:bodyPr wrap="square" lIns="0" tIns="0" rIns="0" bIns="0" rtlCol="0" anchor="ctr"/>
          <a:lstStyle/>
          <a:p>
            <a:pPr indent="0" marL="0">
              <a:buNone/>
            </a:pPr>
            <a:r>
              <a:rPr lang="en-US" sz="1200" b="1" dirty="0">
                <a:solidFill>
                  <a:srgbClr val="D97706"/>
                </a:solidFill>
              </a:rPr>
              <a:t>False positives</a:t>
            </a:r>
            <a:endParaRPr lang="en-US" sz="1200" dirty="0"/>
          </a:p>
        </p:txBody>
      </p:sp>
      <p:sp>
        <p:nvSpPr>
          <p:cNvPr id="26" name="Text 24"/>
          <p:cNvSpPr/>
          <p:nvPr/>
        </p:nvSpPr>
        <p:spPr>
          <a:xfrm>
            <a:off x="9281160" y="3931920"/>
            <a:ext cx="1737360" cy="685800"/>
          </a:xfrm>
          <a:prstGeom prst="rect">
            <a:avLst/>
          </a:prstGeom>
          <a:noFill/>
          <a:ln/>
        </p:spPr>
        <p:txBody>
          <a:bodyPr wrap="square" lIns="0" tIns="0" rIns="0" bIns="0" rtlCol="0" anchor="ctr"/>
          <a:lstStyle/>
          <a:p>
            <a:pPr indent="0" marL="0">
              <a:buNone/>
            </a:pPr>
            <a:r>
              <a:rPr lang="en-US" sz="1200" dirty="0">
                <a:solidFill>
                  <a:srgbClr val="101828"/>
                </a:solidFill>
              </a:rPr>
              <a:t>short tenure · month-to-month · fibre · electronic check</a:t>
            </a:r>
            <a:endParaRPr lang="en-US" sz="1200" dirty="0"/>
          </a:p>
        </p:txBody>
      </p:sp>
      <p:sp>
        <p:nvSpPr>
          <p:cNvPr id="27" name="Text 25"/>
          <p:cNvSpPr/>
          <p:nvPr/>
        </p:nvSpPr>
        <p:spPr>
          <a:xfrm>
            <a:off x="914400" y="5532120"/>
            <a:ext cx="9966960" cy="438912"/>
          </a:xfrm>
          <a:prstGeom prst="rect">
            <a:avLst/>
          </a:prstGeom>
          <a:noFill/>
          <a:ln/>
        </p:spPr>
        <p:txBody>
          <a:bodyPr wrap="square" lIns="0" tIns="0" rIns="0" bIns="0" rtlCol="0" anchor="ctr"/>
          <a:lstStyle/>
          <a:p>
            <a:pPr algn="ctr" indent="0" marL="0">
              <a:buNone/>
            </a:pPr>
            <a:r>
              <a:rPr lang="en-US" sz="1500" b="1" dirty="0">
                <a:solidFill>
                  <a:srgbClr val="101828"/>
                </a:solidFill>
              </a:rPr>
              <a:t>The model is behaving consistently with the historical patterns — people can still surprise it.</a:t>
            </a:r>
            <a:endParaRPr lang="en-US" sz="1500" dirty="0"/>
          </a:p>
        </p:txBody>
      </p:sp>
      <p:sp>
        <p:nvSpPr>
          <p:cNvPr id="25" name="Slide Number Placeholder 0"/>
          <p:cNvSpPr>
            <a:spLocks noGrp="1"/>
          </p:cNvSpPr>
          <p:nvPr>
            <p:ph type="sldNum" sz="quarter" idx="4294967295"/>
          </p:nvPr>
        </p:nvSpPr>
        <p:spPr>
          <a:xfrm>
            <a:off x="11201400" y="6428232"/>
            <a:ext cx="41148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98A2B3"/>
                </a:solidFill>
                <a:latin typeface="Aptos"/>
                <a:ea typeface="Aptos"/>
                <a:cs typeface="Apto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384048"/>
            <a:ext cx="4206240" cy="256032"/>
          </a:xfrm>
          <a:prstGeom prst="rect">
            <a:avLst/>
          </a:prstGeom>
          <a:noFill/>
          <a:ln/>
        </p:spPr>
        <p:txBody>
          <a:bodyPr wrap="square" lIns="0" tIns="0" rIns="0" bIns="0" rtlCol="0" anchor="ctr"/>
          <a:lstStyle/>
          <a:p>
            <a:pPr indent="0" marL="0">
              <a:buNone/>
            </a:pPr>
            <a:r>
              <a:rPr lang="en-US" sz="1000" b="1" spc="150" kern="0" dirty="0">
                <a:solidFill>
                  <a:srgbClr val="0F766E"/>
                </a:solidFill>
              </a:rPr>
              <a:t>7 · WHAT DRIVES IT</a:t>
            </a:r>
            <a:endParaRPr lang="en-US" sz="1000" dirty="0"/>
          </a:p>
        </p:txBody>
      </p:sp>
      <p:sp>
        <p:nvSpPr>
          <p:cNvPr id="3" name="Text 1"/>
          <p:cNvSpPr/>
          <p:nvPr/>
        </p:nvSpPr>
        <p:spPr>
          <a:xfrm>
            <a:off x="640080" y="749808"/>
            <a:ext cx="10927080" cy="548640"/>
          </a:xfrm>
          <a:prstGeom prst="rect">
            <a:avLst/>
          </a:prstGeom>
          <a:noFill/>
          <a:ln/>
        </p:spPr>
        <p:txBody>
          <a:bodyPr wrap="square" lIns="0" tIns="0" rIns="0" bIns="0" rtlCol="0" anchor="ctr"/>
          <a:lstStyle/>
          <a:p>
            <a:pPr indent="0" marL="0">
              <a:buNone/>
            </a:pPr>
            <a:r>
              <a:rPr lang="en-US" sz="2700" b="1" dirty="0">
                <a:solidFill>
                  <a:srgbClr val="101828"/>
                </a:solidFill>
              </a:rPr>
              <a:t>Tenure matters most — by a mile</a:t>
            </a:r>
            <a:endParaRPr lang="en-US" sz="2700" dirty="0"/>
          </a:p>
        </p:txBody>
      </p:sp>
      <p:sp>
        <p:nvSpPr>
          <p:cNvPr id="4" name="Text 2"/>
          <p:cNvSpPr/>
          <p:nvPr/>
        </p:nvSpPr>
        <p:spPr>
          <a:xfrm>
            <a:off x="804672" y="1600200"/>
            <a:ext cx="1828800" cy="228600"/>
          </a:xfrm>
          <a:prstGeom prst="rect">
            <a:avLst/>
          </a:prstGeom>
          <a:noFill/>
          <a:ln/>
        </p:spPr>
        <p:txBody>
          <a:bodyPr wrap="square" lIns="0" tIns="0" rIns="0" bIns="0" rtlCol="0" anchor="ctr"/>
          <a:lstStyle/>
          <a:p>
            <a:pPr indent="0" marL="0">
              <a:buNone/>
            </a:pPr>
            <a:r>
              <a:rPr lang="en-US" sz="1500" b="1" dirty="0">
                <a:solidFill>
                  <a:srgbClr val="101828"/>
                </a:solidFill>
              </a:rPr>
              <a:t>tenure</a:t>
            </a:r>
            <a:endParaRPr lang="en-US" sz="1500" dirty="0"/>
          </a:p>
        </p:txBody>
      </p:sp>
      <p:sp>
        <p:nvSpPr>
          <p:cNvPr id="5" name="Shape 3"/>
          <p:cNvSpPr/>
          <p:nvPr/>
        </p:nvSpPr>
        <p:spPr>
          <a:xfrm>
            <a:off x="3017520" y="1508760"/>
            <a:ext cx="7040880" cy="365760"/>
          </a:xfrm>
          <a:prstGeom prst="roundRect">
            <a:avLst>
              <a:gd name="adj" fmla="val 12500"/>
            </a:avLst>
          </a:prstGeom>
          <a:solidFill>
            <a:srgbClr val="EAECF0"/>
          </a:solidFill>
          <a:ln w="12700">
            <a:solidFill>
              <a:srgbClr val="EAECF0"/>
            </a:solidFill>
            <a:prstDash val="solid"/>
          </a:ln>
        </p:spPr>
      </p:sp>
      <p:sp>
        <p:nvSpPr>
          <p:cNvPr id="6" name="Shape 4"/>
          <p:cNvSpPr/>
          <p:nvPr/>
        </p:nvSpPr>
        <p:spPr>
          <a:xfrm>
            <a:off x="3017520" y="1508760"/>
            <a:ext cx="6646591" cy="365760"/>
          </a:xfrm>
          <a:prstGeom prst="roundRect">
            <a:avLst>
              <a:gd name="adj" fmla="val 12500"/>
            </a:avLst>
          </a:prstGeom>
          <a:solidFill>
            <a:srgbClr val="0F766E"/>
          </a:solidFill>
          <a:ln w="12700">
            <a:solidFill>
              <a:srgbClr val="0F766E"/>
            </a:solidFill>
            <a:prstDash val="solid"/>
          </a:ln>
        </p:spPr>
      </p:sp>
      <p:sp>
        <p:nvSpPr>
          <p:cNvPr id="7" name="Text 5"/>
          <p:cNvSpPr/>
          <p:nvPr/>
        </p:nvSpPr>
        <p:spPr>
          <a:xfrm>
            <a:off x="10241280" y="1572768"/>
            <a:ext cx="731520" cy="210312"/>
          </a:xfrm>
          <a:prstGeom prst="rect">
            <a:avLst/>
          </a:prstGeom>
          <a:noFill/>
          <a:ln/>
        </p:spPr>
        <p:txBody>
          <a:bodyPr wrap="square" lIns="0" tIns="0" rIns="0" bIns="0" rtlCol="0" anchor="ctr"/>
          <a:lstStyle/>
          <a:p>
            <a:pPr algn="r" indent="0" marL="0">
              <a:buNone/>
            </a:pPr>
            <a:r>
              <a:rPr lang="en-US" sz="1200" b="1" dirty="0">
                <a:solidFill>
                  <a:srgbClr val="667085"/>
                </a:solidFill>
              </a:rPr>
              <a:t>0.236</a:t>
            </a:r>
            <a:endParaRPr lang="en-US" sz="1200" dirty="0"/>
          </a:p>
        </p:txBody>
      </p:sp>
      <p:sp>
        <p:nvSpPr>
          <p:cNvPr id="8" name="Text 6"/>
          <p:cNvSpPr/>
          <p:nvPr/>
        </p:nvSpPr>
        <p:spPr>
          <a:xfrm>
            <a:off x="804672" y="2377440"/>
            <a:ext cx="1828800" cy="228600"/>
          </a:xfrm>
          <a:prstGeom prst="rect">
            <a:avLst/>
          </a:prstGeom>
          <a:noFill/>
          <a:ln/>
        </p:spPr>
        <p:txBody>
          <a:bodyPr wrap="square" lIns="0" tIns="0" rIns="0" bIns="0" rtlCol="0" anchor="ctr"/>
          <a:lstStyle/>
          <a:p>
            <a:pPr indent="0" marL="0">
              <a:buNone/>
            </a:pPr>
            <a:r>
              <a:rPr lang="en-US" sz="1500" b="1" dirty="0">
                <a:solidFill>
                  <a:srgbClr val="101828"/>
                </a:solidFill>
              </a:rPr>
              <a:t>Contract</a:t>
            </a:r>
            <a:endParaRPr lang="en-US" sz="1500" dirty="0"/>
          </a:p>
        </p:txBody>
      </p:sp>
      <p:sp>
        <p:nvSpPr>
          <p:cNvPr id="9" name="Shape 7"/>
          <p:cNvSpPr/>
          <p:nvPr/>
        </p:nvSpPr>
        <p:spPr>
          <a:xfrm>
            <a:off x="3017520" y="2286000"/>
            <a:ext cx="7040880" cy="365760"/>
          </a:xfrm>
          <a:prstGeom prst="roundRect">
            <a:avLst>
              <a:gd name="adj" fmla="val 12500"/>
            </a:avLst>
          </a:prstGeom>
          <a:solidFill>
            <a:srgbClr val="EAECF0"/>
          </a:solidFill>
          <a:ln w="12700">
            <a:solidFill>
              <a:srgbClr val="EAECF0"/>
            </a:solidFill>
            <a:prstDash val="solid"/>
          </a:ln>
        </p:spPr>
      </p:sp>
      <p:sp>
        <p:nvSpPr>
          <p:cNvPr id="10" name="Shape 8"/>
          <p:cNvSpPr/>
          <p:nvPr/>
        </p:nvSpPr>
        <p:spPr>
          <a:xfrm>
            <a:off x="3017520" y="2286000"/>
            <a:ext cx="2929006" cy="365760"/>
          </a:xfrm>
          <a:prstGeom prst="roundRect">
            <a:avLst>
              <a:gd name="adj" fmla="val 12500"/>
            </a:avLst>
          </a:prstGeom>
          <a:solidFill>
            <a:srgbClr val="175CD3"/>
          </a:solidFill>
          <a:ln w="12700">
            <a:solidFill>
              <a:srgbClr val="175CD3"/>
            </a:solidFill>
            <a:prstDash val="solid"/>
          </a:ln>
        </p:spPr>
      </p:sp>
      <p:sp>
        <p:nvSpPr>
          <p:cNvPr id="11" name="Text 9"/>
          <p:cNvSpPr/>
          <p:nvPr/>
        </p:nvSpPr>
        <p:spPr>
          <a:xfrm>
            <a:off x="10241280" y="2350008"/>
            <a:ext cx="731520" cy="210312"/>
          </a:xfrm>
          <a:prstGeom prst="rect">
            <a:avLst/>
          </a:prstGeom>
          <a:noFill/>
          <a:ln/>
        </p:spPr>
        <p:txBody>
          <a:bodyPr wrap="square" lIns="0" tIns="0" rIns="0" bIns="0" rtlCol="0" anchor="ctr"/>
          <a:lstStyle/>
          <a:p>
            <a:pPr algn="r" indent="0" marL="0">
              <a:buNone/>
            </a:pPr>
            <a:r>
              <a:rPr lang="en-US" sz="1200" b="1" dirty="0">
                <a:solidFill>
                  <a:srgbClr val="667085"/>
                </a:solidFill>
              </a:rPr>
              <a:t>0.104</a:t>
            </a:r>
            <a:endParaRPr lang="en-US" sz="1200" dirty="0"/>
          </a:p>
        </p:txBody>
      </p:sp>
      <p:sp>
        <p:nvSpPr>
          <p:cNvPr id="12" name="Text 10"/>
          <p:cNvSpPr/>
          <p:nvPr/>
        </p:nvSpPr>
        <p:spPr>
          <a:xfrm>
            <a:off x="804672" y="3154680"/>
            <a:ext cx="1828800" cy="228600"/>
          </a:xfrm>
          <a:prstGeom prst="rect">
            <a:avLst/>
          </a:prstGeom>
          <a:noFill/>
          <a:ln/>
        </p:spPr>
        <p:txBody>
          <a:bodyPr wrap="square" lIns="0" tIns="0" rIns="0" bIns="0" rtlCol="0" anchor="ctr"/>
          <a:lstStyle/>
          <a:p>
            <a:pPr indent="0" marL="0">
              <a:buNone/>
            </a:pPr>
            <a:r>
              <a:rPr lang="en-US" sz="1500" b="1" dirty="0">
                <a:solidFill>
                  <a:srgbClr val="101828"/>
                </a:solidFill>
              </a:rPr>
              <a:t>InternetService</a:t>
            </a:r>
            <a:endParaRPr lang="en-US" sz="1500" dirty="0"/>
          </a:p>
        </p:txBody>
      </p:sp>
      <p:sp>
        <p:nvSpPr>
          <p:cNvPr id="13" name="Shape 11"/>
          <p:cNvSpPr/>
          <p:nvPr/>
        </p:nvSpPr>
        <p:spPr>
          <a:xfrm>
            <a:off x="3017520" y="3063240"/>
            <a:ext cx="7040880" cy="365760"/>
          </a:xfrm>
          <a:prstGeom prst="roundRect">
            <a:avLst>
              <a:gd name="adj" fmla="val 12500"/>
            </a:avLst>
          </a:prstGeom>
          <a:solidFill>
            <a:srgbClr val="EAECF0"/>
          </a:solidFill>
          <a:ln w="12700">
            <a:solidFill>
              <a:srgbClr val="EAECF0"/>
            </a:solidFill>
            <a:prstDash val="solid"/>
          </a:ln>
        </p:spPr>
      </p:sp>
      <p:sp>
        <p:nvSpPr>
          <p:cNvPr id="14" name="Shape 12"/>
          <p:cNvSpPr/>
          <p:nvPr/>
        </p:nvSpPr>
        <p:spPr>
          <a:xfrm>
            <a:off x="3017520" y="3063240"/>
            <a:ext cx="1070214" cy="365760"/>
          </a:xfrm>
          <a:prstGeom prst="roundRect">
            <a:avLst>
              <a:gd name="adj" fmla="val 12500"/>
            </a:avLst>
          </a:prstGeom>
          <a:solidFill>
            <a:srgbClr val="D97706"/>
          </a:solidFill>
          <a:ln w="12700">
            <a:solidFill>
              <a:srgbClr val="D97706"/>
            </a:solidFill>
            <a:prstDash val="solid"/>
          </a:ln>
        </p:spPr>
      </p:sp>
      <p:sp>
        <p:nvSpPr>
          <p:cNvPr id="15" name="Text 13"/>
          <p:cNvSpPr/>
          <p:nvPr/>
        </p:nvSpPr>
        <p:spPr>
          <a:xfrm>
            <a:off x="10241280" y="3127248"/>
            <a:ext cx="731520" cy="210312"/>
          </a:xfrm>
          <a:prstGeom prst="rect">
            <a:avLst/>
          </a:prstGeom>
          <a:noFill/>
          <a:ln/>
        </p:spPr>
        <p:txBody>
          <a:bodyPr wrap="square" lIns="0" tIns="0" rIns="0" bIns="0" rtlCol="0" anchor="ctr"/>
          <a:lstStyle/>
          <a:p>
            <a:pPr algn="r" indent="0" marL="0">
              <a:buNone/>
            </a:pPr>
            <a:r>
              <a:rPr lang="en-US" sz="1200" b="1" dirty="0">
                <a:solidFill>
                  <a:srgbClr val="667085"/>
                </a:solidFill>
              </a:rPr>
              <a:t>0.038</a:t>
            </a:r>
            <a:endParaRPr lang="en-US" sz="1200" dirty="0"/>
          </a:p>
        </p:txBody>
      </p:sp>
      <p:sp>
        <p:nvSpPr>
          <p:cNvPr id="16" name="Text 14"/>
          <p:cNvSpPr/>
          <p:nvPr/>
        </p:nvSpPr>
        <p:spPr>
          <a:xfrm>
            <a:off x="804672" y="3931920"/>
            <a:ext cx="1828800" cy="228600"/>
          </a:xfrm>
          <a:prstGeom prst="rect">
            <a:avLst/>
          </a:prstGeom>
          <a:noFill/>
          <a:ln/>
        </p:spPr>
        <p:txBody>
          <a:bodyPr wrap="square" lIns="0" tIns="0" rIns="0" bIns="0" rtlCol="0" anchor="ctr"/>
          <a:lstStyle/>
          <a:p>
            <a:pPr indent="0" marL="0">
              <a:buNone/>
            </a:pPr>
            <a:r>
              <a:rPr lang="en-US" sz="1500" dirty="0">
                <a:solidFill>
                  <a:srgbClr val="101828"/>
                </a:solidFill>
              </a:rPr>
              <a:t>MonthlyCharges</a:t>
            </a:r>
            <a:endParaRPr lang="en-US" sz="1500" dirty="0"/>
          </a:p>
        </p:txBody>
      </p:sp>
      <p:sp>
        <p:nvSpPr>
          <p:cNvPr id="17" name="Shape 15"/>
          <p:cNvSpPr/>
          <p:nvPr/>
        </p:nvSpPr>
        <p:spPr>
          <a:xfrm>
            <a:off x="3017520" y="3840480"/>
            <a:ext cx="7040880" cy="365760"/>
          </a:xfrm>
          <a:prstGeom prst="roundRect">
            <a:avLst>
              <a:gd name="adj" fmla="val 12500"/>
            </a:avLst>
          </a:prstGeom>
          <a:solidFill>
            <a:srgbClr val="EAECF0"/>
          </a:solidFill>
          <a:ln w="12700">
            <a:solidFill>
              <a:srgbClr val="EAECF0"/>
            </a:solidFill>
            <a:prstDash val="solid"/>
          </a:ln>
        </p:spPr>
      </p:sp>
      <p:sp>
        <p:nvSpPr>
          <p:cNvPr id="18" name="Shape 16"/>
          <p:cNvSpPr/>
          <p:nvPr/>
        </p:nvSpPr>
        <p:spPr>
          <a:xfrm>
            <a:off x="3017520" y="3840480"/>
            <a:ext cx="591434" cy="365760"/>
          </a:xfrm>
          <a:prstGeom prst="roundRect">
            <a:avLst>
              <a:gd name="adj" fmla="val 12500"/>
            </a:avLst>
          </a:prstGeom>
          <a:solidFill>
            <a:srgbClr val="D97706"/>
          </a:solidFill>
          <a:ln w="12700">
            <a:solidFill>
              <a:srgbClr val="D97706"/>
            </a:solidFill>
            <a:prstDash val="solid"/>
          </a:ln>
        </p:spPr>
      </p:sp>
      <p:sp>
        <p:nvSpPr>
          <p:cNvPr id="19" name="Text 17"/>
          <p:cNvSpPr/>
          <p:nvPr/>
        </p:nvSpPr>
        <p:spPr>
          <a:xfrm>
            <a:off x="10241280" y="3904488"/>
            <a:ext cx="731520" cy="210312"/>
          </a:xfrm>
          <a:prstGeom prst="rect">
            <a:avLst/>
          </a:prstGeom>
          <a:noFill/>
          <a:ln/>
        </p:spPr>
        <p:txBody>
          <a:bodyPr wrap="square" lIns="0" tIns="0" rIns="0" bIns="0" rtlCol="0" anchor="ctr"/>
          <a:lstStyle/>
          <a:p>
            <a:pPr algn="r" indent="0" marL="0">
              <a:buNone/>
            </a:pPr>
            <a:r>
              <a:rPr lang="en-US" sz="1200" b="1" dirty="0">
                <a:solidFill>
                  <a:srgbClr val="667085"/>
                </a:solidFill>
              </a:rPr>
              <a:t>0.021</a:t>
            </a:r>
            <a:endParaRPr lang="en-US" sz="1200" dirty="0"/>
          </a:p>
        </p:txBody>
      </p:sp>
      <p:sp>
        <p:nvSpPr>
          <p:cNvPr id="20" name="Text 18"/>
          <p:cNvSpPr/>
          <p:nvPr/>
        </p:nvSpPr>
        <p:spPr>
          <a:xfrm>
            <a:off x="804672" y="4709160"/>
            <a:ext cx="1828800" cy="228600"/>
          </a:xfrm>
          <a:prstGeom prst="rect">
            <a:avLst/>
          </a:prstGeom>
          <a:noFill/>
          <a:ln/>
        </p:spPr>
        <p:txBody>
          <a:bodyPr wrap="square" lIns="0" tIns="0" rIns="0" bIns="0" rtlCol="0" anchor="ctr"/>
          <a:lstStyle/>
          <a:p>
            <a:pPr indent="0" marL="0">
              <a:buNone/>
            </a:pPr>
            <a:r>
              <a:rPr lang="en-US" sz="1500" dirty="0">
                <a:solidFill>
                  <a:srgbClr val="101828"/>
                </a:solidFill>
              </a:rPr>
              <a:t>PaymentMethod</a:t>
            </a:r>
            <a:endParaRPr lang="en-US" sz="1500" dirty="0"/>
          </a:p>
        </p:txBody>
      </p:sp>
      <p:sp>
        <p:nvSpPr>
          <p:cNvPr id="21" name="Shape 19"/>
          <p:cNvSpPr/>
          <p:nvPr/>
        </p:nvSpPr>
        <p:spPr>
          <a:xfrm>
            <a:off x="3017520" y="4617720"/>
            <a:ext cx="7040880" cy="365760"/>
          </a:xfrm>
          <a:prstGeom prst="roundRect">
            <a:avLst>
              <a:gd name="adj" fmla="val 12500"/>
            </a:avLst>
          </a:prstGeom>
          <a:solidFill>
            <a:srgbClr val="EAECF0"/>
          </a:solidFill>
          <a:ln w="12700">
            <a:solidFill>
              <a:srgbClr val="EAECF0"/>
            </a:solidFill>
            <a:prstDash val="solid"/>
          </a:ln>
        </p:spPr>
      </p:sp>
      <p:sp>
        <p:nvSpPr>
          <p:cNvPr id="22" name="Shape 20"/>
          <p:cNvSpPr/>
          <p:nvPr/>
        </p:nvSpPr>
        <p:spPr>
          <a:xfrm>
            <a:off x="3017520" y="4617720"/>
            <a:ext cx="84491" cy="365760"/>
          </a:xfrm>
          <a:prstGeom prst="roundRect">
            <a:avLst>
              <a:gd name="adj" fmla="val 54112"/>
            </a:avLst>
          </a:prstGeom>
          <a:solidFill>
            <a:srgbClr val="D97706"/>
          </a:solidFill>
          <a:ln w="12700">
            <a:solidFill>
              <a:srgbClr val="D97706"/>
            </a:solidFill>
            <a:prstDash val="solid"/>
          </a:ln>
        </p:spPr>
      </p:sp>
      <p:sp>
        <p:nvSpPr>
          <p:cNvPr id="23" name="Text 21"/>
          <p:cNvSpPr/>
          <p:nvPr/>
        </p:nvSpPr>
        <p:spPr>
          <a:xfrm>
            <a:off x="10241280" y="4681728"/>
            <a:ext cx="731520" cy="210312"/>
          </a:xfrm>
          <a:prstGeom prst="rect">
            <a:avLst/>
          </a:prstGeom>
          <a:noFill/>
          <a:ln/>
        </p:spPr>
        <p:txBody>
          <a:bodyPr wrap="square" lIns="0" tIns="0" rIns="0" bIns="0" rtlCol="0" anchor="ctr"/>
          <a:lstStyle/>
          <a:p>
            <a:pPr algn="r" indent="0" marL="0">
              <a:buNone/>
            </a:pPr>
            <a:r>
              <a:rPr lang="en-US" sz="1200" b="1" dirty="0">
                <a:solidFill>
                  <a:srgbClr val="667085"/>
                </a:solidFill>
              </a:rPr>
              <a:t>0.003</a:t>
            </a:r>
            <a:endParaRPr lang="en-US" sz="1200" dirty="0"/>
          </a:p>
        </p:txBody>
      </p:sp>
      <p:sp>
        <p:nvSpPr>
          <p:cNvPr id="24" name="Text 22"/>
          <p:cNvSpPr/>
          <p:nvPr/>
        </p:nvSpPr>
        <p:spPr>
          <a:xfrm>
            <a:off x="3017520" y="5440680"/>
            <a:ext cx="5303520" cy="219456"/>
          </a:xfrm>
          <a:prstGeom prst="rect">
            <a:avLst/>
          </a:prstGeom>
          <a:noFill/>
          <a:ln/>
        </p:spPr>
        <p:txBody>
          <a:bodyPr wrap="square" lIns="0" tIns="0" rIns="0" bIns="0" rtlCol="0" anchor="ctr"/>
          <a:lstStyle/>
          <a:p>
            <a:pPr indent="0" marL="0">
              <a:buNone/>
            </a:pPr>
            <a:r>
              <a:rPr lang="en-US" sz="1100" dirty="0">
                <a:solidFill>
                  <a:srgbClr val="667085"/>
                </a:solidFill>
              </a:rPr>
              <a:t>Drop in recall when the original feature is shuffled</a:t>
            </a:r>
            <a:endParaRPr lang="en-US" sz="1100" dirty="0"/>
          </a:p>
        </p:txBody>
      </p:sp>
      <p:sp>
        <p:nvSpPr>
          <p:cNvPr id="25" name="Shape 23"/>
          <p:cNvSpPr/>
          <p:nvPr/>
        </p:nvSpPr>
        <p:spPr>
          <a:xfrm>
            <a:off x="8595360" y="5193792"/>
            <a:ext cx="2560320" cy="658368"/>
          </a:xfrm>
          <a:prstGeom prst="roundRect">
            <a:avLst>
              <a:gd name="adj" fmla="val 13889"/>
            </a:avLst>
          </a:prstGeom>
          <a:solidFill>
            <a:srgbClr val="DDF4EF"/>
          </a:solidFill>
          <a:ln w="12700">
            <a:solidFill>
              <a:srgbClr val="DDF4EF"/>
            </a:solidFill>
            <a:prstDash val="solid"/>
          </a:ln>
        </p:spPr>
      </p:sp>
      <p:sp>
        <p:nvSpPr>
          <p:cNvPr id="26" name="Text 24"/>
          <p:cNvSpPr/>
          <p:nvPr/>
        </p:nvSpPr>
        <p:spPr>
          <a:xfrm>
            <a:off x="8823960" y="5330952"/>
            <a:ext cx="2103120" cy="429768"/>
          </a:xfrm>
          <a:prstGeom prst="rect">
            <a:avLst/>
          </a:prstGeom>
          <a:noFill/>
          <a:ln/>
        </p:spPr>
        <p:txBody>
          <a:bodyPr wrap="square" lIns="0" tIns="0" rIns="0" bIns="0" rtlCol="0" anchor="ctr"/>
          <a:lstStyle/>
          <a:p>
            <a:pPr algn="ctr" indent="0" marL="0">
              <a:buNone/>
            </a:pPr>
            <a:r>
              <a:rPr lang="en-US" sz="1050" b="1" dirty="0">
                <a:solidFill>
                  <a:srgbClr val="115E59"/>
                </a:solidFill>
              </a:rPr>
              <a:t>Coefficients agreed:</a:t>
            </a:r>
            <a:endParaRPr lang="en-US" sz="1050" dirty="0"/>
          </a:p>
          <a:p>
            <a:pPr algn="ctr" indent="0" marL="0">
              <a:buNone/>
            </a:pPr>
            <a:r>
              <a:rPr lang="en-US" sz="1050" b="1" dirty="0">
                <a:solidFill>
                  <a:srgbClr val="115E59"/>
                </a:solidFill>
              </a:rPr>
              <a:t>month-to-month + fibre ↑ churn</a:t>
            </a:r>
            <a:endParaRPr lang="en-US" sz="1050" dirty="0"/>
          </a:p>
          <a:p>
            <a:pPr algn="ctr" indent="0" marL="0">
              <a:buNone/>
            </a:pPr>
            <a:r>
              <a:rPr lang="en-US" sz="1050" b="1" dirty="0">
                <a:solidFill>
                  <a:srgbClr val="115E59"/>
                </a:solidFill>
              </a:rPr>
              <a:t>long tenure + 2-year ↓ churn</a:t>
            </a:r>
            <a:endParaRPr lang="en-US" sz="1050" dirty="0"/>
          </a:p>
        </p:txBody>
      </p:sp>
      <p:sp>
        <p:nvSpPr>
          <p:cNvPr id="25" name="Slide Number Placeholder 0"/>
          <p:cNvSpPr>
            <a:spLocks noGrp="1"/>
          </p:cNvSpPr>
          <p:nvPr>
            <p:ph type="sldNum" sz="quarter" idx="4294967295"/>
          </p:nvPr>
        </p:nvSpPr>
        <p:spPr>
          <a:xfrm>
            <a:off x="11201400" y="6428232"/>
            <a:ext cx="41148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98A2B3"/>
                </a:solidFill>
                <a:latin typeface="Aptos"/>
                <a:ea typeface="Aptos"/>
                <a:cs typeface="Apto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40080" y="384048"/>
            <a:ext cx="4206240" cy="256032"/>
          </a:xfrm>
          <a:prstGeom prst="rect">
            <a:avLst/>
          </a:prstGeom>
          <a:noFill/>
          <a:ln/>
        </p:spPr>
        <p:txBody>
          <a:bodyPr wrap="square" lIns="0" tIns="0" rIns="0" bIns="0" rtlCol="0" anchor="ctr"/>
          <a:lstStyle/>
          <a:p>
            <a:pPr indent="0" marL="0">
              <a:buNone/>
            </a:pPr>
            <a:r>
              <a:rPr lang="en-US" sz="1000" b="1" spc="150" kern="0" dirty="0">
                <a:solidFill>
                  <a:srgbClr val="0F766E"/>
                </a:solidFill>
              </a:rPr>
              <a:t>8 · RECOMMENDATION</a:t>
            </a:r>
            <a:endParaRPr lang="en-US" sz="1000" dirty="0"/>
          </a:p>
        </p:txBody>
      </p:sp>
      <p:sp>
        <p:nvSpPr>
          <p:cNvPr id="3" name="Text 1"/>
          <p:cNvSpPr/>
          <p:nvPr/>
        </p:nvSpPr>
        <p:spPr>
          <a:xfrm>
            <a:off x="640080" y="749808"/>
            <a:ext cx="10927080" cy="548640"/>
          </a:xfrm>
          <a:prstGeom prst="rect">
            <a:avLst/>
          </a:prstGeom>
          <a:noFill/>
          <a:ln/>
        </p:spPr>
        <p:txBody>
          <a:bodyPr wrap="square" lIns="0" tIns="0" rIns="0" bIns="0" rtlCol="0" anchor="ctr"/>
          <a:lstStyle/>
          <a:p>
            <a:pPr indent="0" marL="0">
              <a:buNone/>
            </a:pPr>
            <a:r>
              <a:rPr lang="en-US" sz="2700" b="1" dirty="0">
                <a:solidFill>
                  <a:srgbClr val="101828"/>
                </a:solidFill>
              </a:rPr>
              <a:t>Would I use it? Yes — with boundaries.</a:t>
            </a:r>
            <a:endParaRPr lang="en-US" sz="2700" dirty="0"/>
          </a:p>
        </p:txBody>
      </p:sp>
      <p:sp>
        <p:nvSpPr>
          <p:cNvPr id="4" name="Shape 2"/>
          <p:cNvSpPr/>
          <p:nvPr/>
        </p:nvSpPr>
        <p:spPr>
          <a:xfrm>
            <a:off x="731520" y="1417320"/>
            <a:ext cx="5212080" cy="4251960"/>
          </a:xfrm>
          <a:prstGeom prst="roundRect">
            <a:avLst>
              <a:gd name="adj" fmla="val 3011"/>
            </a:avLst>
          </a:prstGeom>
          <a:solidFill>
            <a:srgbClr val="DDF4EF"/>
          </a:solidFill>
          <a:ln w="12700">
            <a:solidFill>
              <a:srgbClr val="DDF4EF"/>
            </a:solidFill>
            <a:prstDash val="solid"/>
          </a:ln>
        </p:spPr>
      </p:sp>
      <p:sp>
        <p:nvSpPr>
          <p:cNvPr id="5" name="Text 3"/>
          <p:cNvSpPr/>
          <p:nvPr/>
        </p:nvSpPr>
        <p:spPr>
          <a:xfrm>
            <a:off x="1078992" y="1783080"/>
            <a:ext cx="1645920" cy="219456"/>
          </a:xfrm>
          <a:prstGeom prst="rect">
            <a:avLst/>
          </a:prstGeom>
          <a:noFill/>
          <a:ln/>
        </p:spPr>
        <p:txBody>
          <a:bodyPr wrap="square" lIns="0" tIns="0" rIns="0" bIns="0" rtlCol="0" anchor="ctr"/>
          <a:lstStyle/>
          <a:p>
            <a:pPr indent="0" marL="0">
              <a:buNone/>
            </a:pPr>
            <a:r>
              <a:rPr lang="en-US" sz="1100" b="1" spc="150" kern="0" dirty="0">
                <a:solidFill>
                  <a:srgbClr val="115E59"/>
                </a:solidFill>
              </a:rPr>
              <a:t>USE IT FOR</a:t>
            </a:r>
            <a:endParaRPr lang="en-US" sz="1100" dirty="0"/>
          </a:p>
        </p:txBody>
      </p:sp>
      <p:sp>
        <p:nvSpPr>
          <p:cNvPr id="6" name="Text 4"/>
          <p:cNvSpPr/>
          <p:nvPr/>
        </p:nvSpPr>
        <p:spPr>
          <a:xfrm>
            <a:off x="1078992" y="2139696"/>
            <a:ext cx="4160520" cy="420624"/>
          </a:xfrm>
          <a:prstGeom prst="rect">
            <a:avLst/>
          </a:prstGeom>
          <a:noFill/>
          <a:ln/>
        </p:spPr>
        <p:txBody>
          <a:bodyPr wrap="square" lIns="0" tIns="0" rIns="0" bIns="0" rtlCol="0" anchor="ctr"/>
          <a:lstStyle/>
          <a:p>
            <a:pPr indent="0" marL="0">
              <a:buNone/>
            </a:pPr>
            <a:r>
              <a:rPr lang="en-US" sz="2600" b="1" dirty="0">
                <a:solidFill>
                  <a:srgbClr val="101828"/>
                </a:solidFill>
              </a:rPr>
              <a:t>Prioritising retention outreach</a:t>
            </a:r>
            <a:endParaRPr lang="en-US" sz="2600" dirty="0"/>
          </a:p>
        </p:txBody>
      </p:sp>
      <p:sp>
        <p:nvSpPr>
          <p:cNvPr id="7" name="Shape 5"/>
          <p:cNvSpPr/>
          <p:nvPr/>
        </p:nvSpPr>
        <p:spPr>
          <a:xfrm>
            <a:off x="1078992" y="2971800"/>
            <a:ext cx="82296" cy="82296"/>
          </a:xfrm>
          <a:prstGeom prst="ellipse">
            <a:avLst/>
          </a:prstGeom>
          <a:solidFill>
            <a:srgbClr val="0F766E"/>
          </a:solidFill>
          <a:ln w="12700">
            <a:solidFill>
              <a:srgbClr val="0F766E"/>
            </a:solidFill>
            <a:prstDash val="solid"/>
          </a:ln>
        </p:spPr>
      </p:sp>
      <p:sp>
        <p:nvSpPr>
          <p:cNvPr id="8" name="Text 6"/>
          <p:cNvSpPr/>
          <p:nvPr/>
        </p:nvSpPr>
        <p:spPr>
          <a:xfrm>
            <a:off x="1261872" y="2880360"/>
            <a:ext cx="4114800" cy="475488"/>
          </a:xfrm>
          <a:prstGeom prst="rect">
            <a:avLst/>
          </a:prstGeom>
          <a:noFill/>
          <a:ln/>
        </p:spPr>
        <p:txBody>
          <a:bodyPr wrap="square" lIns="0" tIns="0" rIns="0" bIns="0" rtlCol="0" anchor="ctr"/>
          <a:lstStyle/>
          <a:p>
            <a:pPr indent="0" marL="0">
              <a:buNone/>
            </a:pPr>
            <a:r>
              <a:rPr lang="en-US" sz="1600" dirty="0">
                <a:solidFill>
                  <a:srgbClr val="101828"/>
                </a:solidFill>
              </a:rPr>
              <a:t>Ranking who gets attention first</a:t>
            </a:r>
            <a:endParaRPr lang="en-US" sz="1600" dirty="0"/>
          </a:p>
        </p:txBody>
      </p:sp>
      <p:sp>
        <p:nvSpPr>
          <p:cNvPr id="9" name="Shape 7"/>
          <p:cNvSpPr/>
          <p:nvPr/>
        </p:nvSpPr>
        <p:spPr>
          <a:xfrm>
            <a:off x="1078992" y="3611880"/>
            <a:ext cx="82296" cy="82296"/>
          </a:xfrm>
          <a:prstGeom prst="ellipse">
            <a:avLst/>
          </a:prstGeom>
          <a:solidFill>
            <a:srgbClr val="0F766E"/>
          </a:solidFill>
          <a:ln w="12700">
            <a:solidFill>
              <a:srgbClr val="0F766E"/>
            </a:solidFill>
            <a:prstDash val="solid"/>
          </a:ln>
        </p:spPr>
      </p:sp>
      <p:sp>
        <p:nvSpPr>
          <p:cNvPr id="10" name="Text 8"/>
          <p:cNvSpPr/>
          <p:nvPr/>
        </p:nvSpPr>
        <p:spPr>
          <a:xfrm>
            <a:off x="1261872" y="3520440"/>
            <a:ext cx="4114800" cy="475488"/>
          </a:xfrm>
          <a:prstGeom prst="rect">
            <a:avLst/>
          </a:prstGeom>
          <a:noFill/>
          <a:ln/>
        </p:spPr>
        <p:txBody>
          <a:bodyPr wrap="square" lIns="0" tIns="0" rIns="0" bIns="0" rtlCol="0" anchor="ctr"/>
          <a:lstStyle/>
          <a:p>
            <a:pPr indent="0" marL="0">
              <a:buNone/>
            </a:pPr>
            <a:r>
              <a:rPr lang="en-US" sz="1600" dirty="0">
                <a:solidFill>
                  <a:srgbClr val="101828"/>
                </a:solidFill>
              </a:rPr>
              <a:t>Low-cost contact where some false alarms are acceptable</a:t>
            </a:r>
            <a:endParaRPr lang="en-US" sz="1600" dirty="0"/>
          </a:p>
        </p:txBody>
      </p:sp>
      <p:sp>
        <p:nvSpPr>
          <p:cNvPr id="11" name="Shape 9"/>
          <p:cNvSpPr/>
          <p:nvPr/>
        </p:nvSpPr>
        <p:spPr>
          <a:xfrm>
            <a:off x="1078992" y="4251960"/>
            <a:ext cx="82296" cy="82296"/>
          </a:xfrm>
          <a:prstGeom prst="ellipse">
            <a:avLst/>
          </a:prstGeom>
          <a:solidFill>
            <a:srgbClr val="0F766E"/>
          </a:solidFill>
          <a:ln w="12700">
            <a:solidFill>
              <a:srgbClr val="0F766E"/>
            </a:solidFill>
            <a:prstDash val="solid"/>
          </a:ln>
        </p:spPr>
      </p:sp>
      <p:sp>
        <p:nvSpPr>
          <p:cNvPr id="12" name="Text 10"/>
          <p:cNvSpPr/>
          <p:nvPr/>
        </p:nvSpPr>
        <p:spPr>
          <a:xfrm>
            <a:off x="1261872" y="4160520"/>
            <a:ext cx="4114800" cy="475488"/>
          </a:xfrm>
          <a:prstGeom prst="rect">
            <a:avLst/>
          </a:prstGeom>
          <a:noFill/>
          <a:ln/>
        </p:spPr>
        <p:txBody>
          <a:bodyPr wrap="square" lIns="0" tIns="0" rIns="0" bIns="0" rtlCol="0" anchor="ctr"/>
          <a:lstStyle/>
          <a:p>
            <a:pPr indent="0" marL="0">
              <a:buNone/>
            </a:pPr>
            <a:r>
              <a:rPr lang="en-US" sz="1600" dirty="0">
                <a:solidFill>
                  <a:srgbClr val="101828"/>
                </a:solidFill>
              </a:rPr>
              <a:t>A human decision with context, not an automatic action</a:t>
            </a:r>
            <a:endParaRPr lang="en-US" sz="1600" dirty="0"/>
          </a:p>
        </p:txBody>
      </p:sp>
      <p:sp>
        <p:nvSpPr>
          <p:cNvPr id="13" name="Shape 11"/>
          <p:cNvSpPr/>
          <p:nvPr/>
        </p:nvSpPr>
        <p:spPr>
          <a:xfrm>
            <a:off x="6263640" y="1417320"/>
            <a:ext cx="5074920" cy="4251960"/>
          </a:xfrm>
          <a:prstGeom prst="roundRect">
            <a:avLst>
              <a:gd name="adj" fmla="val 3011"/>
            </a:avLst>
          </a:prstGeom>
          <a:solidFill>
            <a:srgbClr val="FFFFFF"/>
          </a:solidFill>
          <a:ln w="12700">
            <a:solidFill>
              <a:srgbClr val="E4E7EC"/>
            </a:solidFill>
            <a:prstDash val="solid"/>
          </a:ln>
        </p:spPr>
      </p:sp>
      <p:sp>
        <p:nvSpPr>
          <p:cNvPr id="14" name="Text 12"/>
          <p:cNvSpPr/>
          <p:nvPr/>
        </p:nvSpPr>
        <p:spPr>
          <a:xfrm>
            <a:off x="6611112" y="1783080"/>
            <a:ext cx="2651760" cy="219456"/>
          </a:xfrm>
          <a:prstGeom prst="rect">
            <a:avLst/>
          </a:prstGeom>
          <a:noFill/>
          <a:ln/>
        </p:spPr>
        <p:txBody>
          <a:bodyPr wrap="square" lIns="0" tIns="0" rIns="0" bIns="0" rtlCol="0" anchor="ctr"/>
          <a:lstStyle/>
          <a:p>
            <a:pPr indent="0" marL="0">
              <a:buNone/>
            </a:pPr>
            <a:r>
              <a:rPr lang="en-US" sz="1100" b="1" spc="130" kern="0" dirty="0">
                <a:solidFill>
                  <a:srgbClr val="B42318"/>
                </a:solidFill>
              </a:rPr>
              <a:t>DO NOT PRETEND IT KNOWS</a:t>
            </a:r>
            <a:endParaRPr lang="en-US" sz="1100" dirty="0"/>
          </a:p>
        </p:txBody>
      </p:sp>
      <p:sp>
        <p:nvSpPr>
          <p:cNvPr id="15" name="Text 13"/>
          <p:cNvSpPr/>
          <p:nvPr/>
        </p:nvSpPr>
        <p:spPr>
          <a:xfrm>
            <a:off x="6611112" y="2139696"/>
            <a:ext cx="4160520" cy="420624"/>
          </a:xfrm>
          <a:prstGeom prst="rect">
            <a:avLst/>
          </a:prstGeom>
          <a:noFill/>
          <a:ln/>
        </p:spPr>
        <p:txBody>
          <a:bodyPr wrap="square" lIns="0" tIns="0" rIns="0" bIns="0" rtlCol="0" anchor="ctr"/>
          <a:lstStyle/>
          <a:p>
            <a:pPr indent="0" marL="0">
              <a:buNone/>
            </a:pPr>
            <a:r>
              <a:rPr lang="en-US" sz="2600" b="1" dirty="0">
                <a:solidFill>
                  <a:srgbClr val="101828"/>
                </a:solidFill>
              </a:rPr>
              <a:t>What this data cannot see</a:t>
            </a:r>
            <a:endParaRPr lang="en-US" sz="2600" dirty="0"/>
          </a:p>
        </p:txBody>
      </p:sp>
      <p:sp>
        <p:nvSpPr>
          <p:cNvPr id="16" name="Shape 14"/>
          <p:cNvSpPr/>
          <p:nvPr/>
        </p:nvSpPr>
        <p:spPr>
          <a:xfrm>
            <a:off x="6611112" y="2971800"/>
            <a:ext cx="82296" cy="82296"/>
          </a:xfrm>
          <a:prstGeom prst="ellipse">
            <a:avLst/>
          </a:prstGeom>
          <a:solidFill>
            <a:srgbClr val="0F766E"/>
          </a:solidFill>
          <a:ln w="12700">
            <a:solidFill>
              <a:srgbClr val="0F766E"/>
            </a:solidFill>
            <a:prstDash val="solid"/>
          </a:ln>
        </p:spPr>
      </p:sp>
      <p:sp>
        <p:nvSpPr>
          <p:cNvPr id="17" name="Text 15"/>
          <p:cNvSpPr/>
          <p:nvPr/>
        </p:nvSpPr>
        <p:spPr>
          <a:xfrm>
            <a:off x="6793992" y="2880360"/>
            <a:ext cx="3931920" cy="475488"/>
          </a:xfrm>
          <a:prstGeom prst="rect">
            <a:avLst/>
          </a:prstGeom>
          <a:noFill/>
          <a:ln/>
        </p:spPr>
        <p:txBody>
          <a:bodyPr wrap="square" lIns="0" tIns="0" rIns="0" bIns="0" rtlCol="0" anchor="ctr"/>
          <a:lstStyle/>
          <a:p>
            <a:pPr indent="0" marL="0">
              <a:buNone/>
            </a:pPr>
            <a:r>
              <a:rPr lang="en-US" sz="1600" dirty="0">
                <a:solidFill>
                  <a:srgbClr val="101828"/>
                </a:solidFill>
              </a:rPr>
              <a:t>Complaints, outages or recent support experiences</a:t>
            </a:r>
            <a:endParaRPr lang="en-US" sz="1600" dirty="0"/>
          </a:p>
        </p:txBody>
      </p:sp>
      <p:sp>
        <p:nvSpPr>
          <p:cNvPr id="18" name="Shape 16"/>
          <p:cNvSpPr/>
          <p:nvPr/>
        </p:nvSpPr>
        <p:spPr>
          <a:xfrm>
            <a:off x="6611112" y="3611880"/>
            <a:ext cx="82296" cy="82296"/>
          </a:xfrm>
          <a:prstGeom prst="ellipse">
            <a:avLst/>
          </a:prstGeom>
          <a:solidFill>
            <a:srgbClr val="0F766E"/>
          </a:solidFill>
          <a:ln w="12700">
            <a:solidFill>
              <a:srgbClr val="0F766E"/>
            </a:solidFill>
            <a:prstDash val="solid"/>
          </a:ln>
        </p:spPr>
      </p:sp>
      <p:sp>
        <p:nvSpPr>
          <p:cNvPr id="19" name="Text 17"/>
          <p:cNvSpPr/>
          <p:nvPr/>
        </p:nvSpPr>
        <p:spPr>
          <a:xfrm>
            <a:off x="6793992" y="3520440"/>
            <a:ext cx="3931920" cy="475488"/>
          </a:xfrm>
          <a:prstGeom prst="rect">
            <a:avLst/>
          </a:prstGeom>
          <a:noFill/>
          <a:ln/>
        </p:spPr>
        <p:txBody>
          <a:bodyPr wrap="square" lIns="0" tIns="0" rIns="0" bIns="0" rtlCol="0" anchor="ctr"/>
          <a:lstStyle/>
          <a:p>
            <a:pPr indent="0" marL="0">
              <a:buNone/>
            </a:pPr>
            <a:r>
              <a:rPr lang="en-US" sz="1600" dirty="0">
                <a:solidFill>
                  <a:srgbClr val="101828"/>
                </a:solidFill>
              </a:rPr>
              <a:t>Competitor offers and changing prices</a:t>
            </a:r>
            <a:endParaRPr lang="en-US" sz="1600" dirty="0"/>
          </a:p>
        </p:txBody>
      </p:sp>
      <p:sp>
        <p:nvSpPr>
          <p:cNvPr id="20" name="Shape 18"/>
          <p:cNvSpPr/>
          <p:nvPr/>
        </p:nvSpPr>
        <p:spPr>
          <a:xfrm>
            <a:off x="6611112" y="4251960"/>
            <a:ext cx="82296" cy="82296"/>
          </a:xfrm>
          <a:prstGeom prst="ellipse">
            <a:avLst/>
          </a:prstGeom>
          <a:solidFill>
            <a:srgbClr val="0F766E"/>
          </a:solidFill>
          <a:ln w="12700">
            <a:solidFill>
              <a:srgbClr val="0F766E"/>
            </a:solidFill>
            <a:prstDash val="solid"/>
          </a:ln>
        </p:spPr>
      </p:sp>
      <p:sp>
        <p:nvSpPr>
          <p:cNvPr id="21" name="Text 19"/>
          <p:cNvSpPr/>
          <p:nvPr/>
        </p:nvSpPr>
        <p:spPr>
          <a:xfrm>
            <a:off x="6793992" y="4160520"/>
            <a:ext cx="3931920" cy="475488"/>
          </a:xfrm>
          <a:prstGeom prst="rect">
            <a:avLst/>
          </a:prstGeom>
          <a:noFill/>
          <a:ln/>
        </p:spPr>
        <p:txBody>
          <a:bodyPr wrap="square" lIns="0" tIns="0" rIns="0" bIns="0" rtlCol="0" anchor="ctr"/>
          <a:lstStyle/>
          <a:p>
            <a:pPr indent="0" marL="0">
              <a:buNone/>
            </a:pPr>
            <a:r>
              <a:rPr lang="en-US" sz="1600" dirty="0">
                <a:solidFill>
                  <a:srgbClr val="101828"/>
                </a:solidFill>
              </a:rPr>
              <a:t>Future behaviour drift — monitor and retrain</a:t>
            </a:r>
            <a:endParaRPr lang="en-US" sz="1600" dirty="0"/>
          </a:p>
        </p:txBody>
      </p:sp>
      <p:sp>
        <p:nvSpPr>
          <p:cNvPr id="22" name="Text 20"/>
          <p:cNvSpPr/>
          <p:nvPr/>
        </p:nvSpPr>
        <p:spPr>
          <a:xfrm>
            <a:off x="914400" y="5925312"/>
            <a:ext cx="10241280" cy="310896"/>
          </a:xfrm>
          <a:prstGeom prst="rect">
            <a:avLst/>
          </a:prstGeom>
          <a:noFill/>
          <a:ln/>
        </p:spPr>
        <p:txBody>
          <a:bodyPr wrap="square" lIns="0" tIns="0" rIns="0" bIns="0" rtlCol="0" anchor="ctr"/>
          <a:lstStyle/>
          <a:p>
            <a:pPr algn="ctr" indent="0" marL="0">
              <a:buNone/>
            </a:pPr>
            <a:r>
              <a:rPr lang="en-US" sz="1800" b="1" dirty="0">
                <a:solidFill>
                  <a:srgbClr val="101828"/>
                </a:solidFill>
              </a:rPr>
              <a:t>Model = prioritisation tool, not a crystal ball.</a:t>
            </a:r>
            <a:endParaRPr lang="en-US" sz="1800" dirty="0"/>
          </a:p>
        </p:txBody>
      </p:sp>
      <p:sp>
        <p:nvSpPr>
          <p:cNvPr id="25" name="Slide Number Placeholder 0"/>
          <p:cNvSpPr>
            <a:spLocks noGrp="1"/>
          </p:cNvSpPr>
          <p:nvPr>
            <p:ph type="sldNum" sz="quarter" idx="4294967295"/>
          </p:nvPr>
        </p:nvSpPr>
        <p:spPr>
          <a:xfrm>
            <a:off x="11201400" y="6428232"/>
            <a:ext cx="41148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98A2B3"/>
                </a:solidFill>
                <a:latin typeface="Aptos"/>
                <a:ea typeface="Aptos"/>
                <a:cs typeface="Apto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777240" y="713232"/>
            <a:ext cx="6675120" cy="1234440"/>
          </a:xfrm>
          <a:prstGeom prst="rect">
            <a:avLst/>
          </a:prstGeom>
          <a:noFill/>
          <a:ln/>
        </p:spPr>
        <p:txBody>
          <a:bodyPr wrap="square" lIns="0" tIns="0" rIns="0" bIns="0" rtlCol="0" anchor="ctr"/>
          <a:lstStyle/>
          <a:p>
            <a:pPr indent="0" marL="0">
              <a:buNone/>
            </a:pPr>
            <a:r>
              <a:rPr lang="en-US" sz="3400" b="1" dirty="0">
                <a:solidFill>
                  <a:srgbClr val="101828"/>
                </a:solidFill>
              </a:rPr>
              <a:t>78% of churners caught.</a:t>
            </a:r>
            <a:endParaRPr lang="en-US" sz="3400" dirty="0"/>
          </a:p>
          <a:p>
            <a:pPr indent="0" marL="0">
              <a:buNone/>
            </a:pPr>
            <a:r>
              <a:rPr lang="en-US" sz="3400" b="1" dirty="0">
                <a:solidFill>
                  <a:srgbClr val="101828"/>
                </a:solidFill>
              </a:rPr>
              <a:t>Now let’s make it tangible.</a:t>
            </a:r>
            <a:endParaRPr lang="en-US" sz="3400" dirty="0"/>
          </a:p>
        </p:txBody>
      </p:sp>
      <p:sp>
        <p:nvSpPr>
          <p:cNvPr id="3" name="Text 1"/>
          <p:cNvSpPr/>
          <p:nvPr/>
        </p:nvSpPr>
        <p:spPr>
          <a:xfrm>
            <a:off x="822960" y="2359152"/>
            <a:ext cx="1371600" cy="237744"/>
          </a:xfrm>
          <a:prstGeom prst="rect">
            <a:avLst/>
          </a:prstGeom>
          <a:noFill/>
          <a:ln/>
        </p:spPr>
        <p:txBody>
          <a:bodyPr wrap="square" lIns="0" tIns="0" rIns="0" bIns="0" rtlCol="0" anchor="ctr"/>
          <a:lstStyle/>
          <a:p>
            <a:pPr indent="0" marL="0">
              <a:buNone/>
            </a:pPr>
            <a:r>
              <a:rPr lang="en-US" sz="1100" b="1" spc="180" kern="0" dirty="0">
                <a:solidFill>
                  <a:srgbClr val="0F766E"/>
                </a:solidFill>
              </a:rPr>
              <a:t>LIVE DEMO</a:t>
            </a:r>
            <a:endParaRPr lang="en-US" sz="1100" dirty="0"/>
          </a:p>
        </p:txBody>
      </p:sp>
      <p:sp>
        <p:nvSpPr>
          <p:cNvPr id="4" name="Shape 2"/>
          <p:cNvSpPr/>
          <p:nvPr/>
        </p:nvSpPr>
        <p:spPr>
          <a:xfrm>
            <a:off x="822960" y="2743200"/>
            <a:ext cx="2606040" cy="1874520"/>
          </a:xfrm>
          <a:prstGeom prst="roundRect">
            <a:avLst>
              <a:gd name="adj" fmla="val 5854"/>
            </a:avLst>
          </a:prstGeom>
          <a:solidFill>
            <a:srgbClr val="FEE4E2"/>
          </a:solidFill>
          <a:ln w="12700">
            <a:solidFill>
              <a:srgbClr val="FEE4E2"/>
            </a:solidFill>
            <a:prstDash val="solid"/>
          </a:ln>
        </p:spPr>
      </p:sp>
      <p:sp>
        <p:nvSpPr>
          <p:cNvPr id="5" name="Text 3"/>
          <p:cNvSpPr/>
          <p:nvPr/>
        </p:nvSpPr>
        <p:spPr>
          <a:xfrm>
            <a:off x="1005840" y="2971800"/>
            <a:ext cx="2194560" cy="228600"/>
          </a:xfrm>
          <a:prstGeom prst="rect">
            <a:avLst/>
          </a:prstGeom>
          <a:noFill/>
          <a:ln/>
        </p:spPr>
        <p:txBody>
          <a:bodyPr wrap="square" lIns="0" tIns="0" rIns="0" bIns="0" rtlCol="0" anchor="ctr"/>
          <a:lstStyle/>
          <a:p>
            <a:pPr indent="0" marL="0">
              <a:buNone/>
            </a:pPr>
            <a:r>
              <a:rPr lang="en-US" sz="1300" b="1" dirty="0">
                <a:solidFill>
                  <a:srgbClr val="B42318"/>
                </a:solidFill>
              </a:rPr>
              <a:t>High risk</a:t>
            </a:r>
            <a:endParaRPr lang="en-US" sz="1300" dirty="0"/>
          </a:p>
        </p:txBody>
      </p:sp>
      <p:sp>
        <p:nvSpPr>
          <p:cNvPr id="6" name="Text 4"/>
          <p:cNvSpPr/>
          <p:nvPr/>
        </p:nvSpPr>
        <p:spPr>
          <a:xfrm>
            <a:off x="1005840" y="3319272"/>
            <a:ext cx="2148840" cy="457200"/>
          </a:xfrm>
          <a:prstGeom prst="rect">
            <a:avLst/>
          </a:prstGeom>
          <a:noFill/>
          <a:ln/>
        </p:spPr>
        <p:txBody>
          <a:bodyPr wrap="square" lIns="0" tIns="0" rIns="0" bIns="0" rtlCol="0" anchor="ctr"/>
          <a:lstStyle/>
          <a:p>
            <a:pPr indent="0" marL="0">
              <a:buNone/>
            </a:pPr>
            <a:r>
              <a:rPr lang="en-US" sz="3200" b="1" dirty="0">
                <a:solidFill>
                  <a:srgbClr val="101828"/>
                </a:solidFill>
              </a:rPr>
              <a:t>89.2%</a:t>
            </a:r>
            <a:endParaRPr lang="en-US" sz="3200" dirty="0"/>
          </a:p>
        </p:txBody>
      </p:sp>
      <p:sp>
        <p:nvSpPr>
          <p:cNvPr id="7" name="Text 5"/>
          <p:cNvSpPr/>
          <p:nvPr/>
        </p:nvSpPr>
        <p:spPr>
          <a:xfrm>
            <a:off x="1005840" y="3904488"/>
            <a:ext cx="2194560" cy="502920"/>
          </a:xfrm>
          <a:prstGeom prst="rect">
            <a:avLst/>
          </a:prstGeom>
          <a:noFill/>
          <a:ln/>
        </p:spPr>
        <p:txBody>
          <a:bodyPr wrap="square" lIns="0" tIns="0" rIns="0" bIns="0" rtlCol="0" anchor="ctr"/>
          <a:lstStyle/>
          <a:p>
            <a:pPr indent="0" marL="0">
              <a:buNone/>
            </a:pPr>
            <a:r>
              <a:rPr lang="en-US" sz="1200" dirty="0">
                <a:solidFill>
                  <a:srgbClr val="101828"/>
                </a:solidFill>
              </a:rPr>
              <a:t>3 months · month-to-month</a:t>
            </a:r>
            <a:endParaRPr lang="en-US" sz="1200" dirty="0"/>
          </a:p>
          <a:p>
            <a:pPr indent="0" marL="0">
              <a:buNone/>
            </a:pPr>
            <a:r>
              <a:rPr lang="en-US" sz="1200" dirty="0">
                <a:solidFill>
                  <a:srgbClr val="101828"/>
                </a:solidFill>
              </a:rPr>
              <a:t>fibre · electronic cheque</a:t>
            </a:r>
            <a:endParaRPr lang="en-US" sz="1200" dirty="0"/>
          </a:p>
        </p:txBody>
      </p:sp>
      <p:sp>
        <p:nvSpPr>
          <p:cNvPr id="8" name="Shape 6"/>
          <p:cNvSpPr/>
          <p:nvPr/>
        </p:nvSpPr>
        <p:spPr>
          <a:xfrm>
            <a:off x="3931920" y="2743200"/>
            <a:ext cx="2606040" cy="1874520"/>
          </a:xfrm>
          <a:prstGeom prst="roundRect">
            <a:avLst>
              <a:gd name="adj" fmla="val 5854"/>
            </a:avLst>
          </a:prstGeom>
          <a:solidFill>
            <a:srgbClr val="E8F5EE"/>
          </a:solidFill>
          <a:ln w="12700">
            <a:solidFill>
              <a:srgbClr val="E8F5EE"/>
            </a:solidFill>
            <a:prstDash val="solid"/>
          </a:ln>
        </p:spPr>
      </p:sp>
      <p:sp>
        <p:nvSpPr>
          <p:cNvPr id="9" name="Text 7"/>
          <p:cNvSpPr/>
          <p:nvPr/>
        </p:nvSpPr>
        <p:spPr>
          <a:xfrm>
            <a:off x="4114800" y="2971800"/>
            <a:ext cx="2194560" cy="228600"/>
          </a:xfrm>
          <a:prstGeom prst="rect">
            <a:avLst/>
          </a:prstGeom>
          <a:noFill/>
          <a:ln/>
        </p:spPr>
        <p:txBody>
          <a:bodyPr wrap="square" lIns="0" tIns="0" rIns="0" bIns="0" rtlCol="0" anchor="ctr"/>
          <a:lstStyle/>
          <a:p>
            <a:pPr indent="0" marL="0">
              <a:buNone/>
            </a:pPr>
            <a:r>
              <a:rPr lang="en-US" sz="1300" b="1" dirty="0">
                <a:solidFill>
                  <a:srgbClr val="067647"/>
                </a:solidFill>
              </a:rPr>
              <a:t>Low risk</a:t>
            </a:r>
            <a:endParaRPr lang="en-US" sz="1300" dirty="0"/>
          </a:p>
        </p:txBody>
      </p:sp>
      <p:sp>
        <p:nvSpPr>
          <p:cNvPr id="10" name="Text 8"/>
          <p:cNvSpPr/>
          <p:nvPr/>
        </p:nvSpPr>
        <p:spPr>
          <a:xfrm>
            <a:off x="4114800" y="3319272"/>
            <a:ext cx="2148840" cy="457200"/>
          </a:xfrm>
          <a:prstGeom prst="rect">
            <a:avLst/>
          </a:prstGeom>
          <a:noFill/>
          <a:ln/>
        </p:spPr>
        <p:txBody>
          <a:bodyPr wrap="square" lIns="0" tIns="0" rIns="0" bIns="0" rtlCol="0" anchor="ctr"/>
          <a:lstStyle/>
          <a:p>
            <a:pPr indent="0" marL="0">
              <a:buNone/>
            </a:pPr>
            <a:r>
              <a:rPr lang="en-US" sz="3200" b="1" dirty="0">
                <a:solidFill>
                  <a:srgbClr val="101828"/>
                </a:solidFill>
              </a:rPr>
              <a:t>2.1%</a:t>
            </a:r>
            <a:endParaRPr lang="en-US" sz="3200" dirty="0"/>
          </a:p>
        </p:txBody>
      </p:sp>
      <p:sp>
        <p:nvSpPr>
          <p:cNvPr id="11" name="Text 9"/>
          <p:cNvSpPr/>
          <p:nvPr/>
        </p:nvSpPr>
        <p:spPr>
          <a:xfrm>
            <a:off x="4114800" y="3904488"/>
            <a:ext cx="2194560" cy="502920"/>
          </a:xfrm>
          <a:prstGeom prst="rect">
            <a:avLst/>
          </a:prstGeom>
          <a:noFill/>
          <a:ln/>
        </p:spPr>
        <p:txBody>
          <a:bodyPr wrap="square" lIns="0" tIns="0" rIns="0" bIns="0" rtlCol="0" anchor="ctr"/>
          <a:lstStyle/>
          <a:p>
            <a:pPr indent="0" marL="0">
              <a:buNone/>
            </a:pPr>
            <a:r>
              <a:rPr lang="en-US" sz="1200" dirty="0">
                <a:solidFill>
                  <a:srgbClr val="101828"/>
                </a:solidFill>
              </a:rPr>
              <a:t>60 months · two-year</a:t>
            </a:r>
            <a:endParaRPr lang="en-US" sz="1200" dirty="0"/>
          </a:p>
          <a:p>
            <a:pPr indent="0" marL="0">
              <a:buNone/>
            </a:pPr>
            <a:r>
              <a:rPr lang="en-US" sz="1200" dirty="0">
                <a:solidFill>
                  <a:srgbClr val="101828"/>
                </a:solidFill>
              </a:rPr>
              <a:t>DSL · automatic bank transfer</a:t>
            </a:r>
            <a:endParaRPr lang="en-US" sz="1200" dirty="0"/>
          </a:p>
        </p:txBody>
      </p:sp>
      <p:sp>
        <p:nvSpPr>
          <p:cNvPr id="12" name="Shape 10"/>
          <p:cNvSpPr/>
          <p:nvPr/>
        </p:nvSpPr>
        <p:spPr>
          <a:xfrm>
            <a:off x="7040880" y="2743200"/>
            <a:ext cx="2606040" cy="1874520"/>
          </a:xfrm>
          <a:prstGeom prst="roundRect">
            <a:avLst>
              <a:gd name="adj" fmla="val 5854"/>
            </a:avLst>
          </a:prstGeom>
          <a:solidFill>
            <a:srgbClr val="FFF0D5"/>
          </a:solidFill>
          <a:ln w="12700">
            <a:solidFill>
              <a:srgbClr val="FFF0D5"/>
            </a:solidFill>
            <a:prstDash val="solid"/>
          </a:ln>
        </p:spPr>
      </p:sp>
      <p:sp>
        <p:nvSpPr>
          <p:cNvPr id="13" name="Text 11"/>
          <p:cNvSpPr/>
          <p:nvPr/>
        </p:nvSpPr>
        <p:spPr>
          <a:xfrm>
            <a:off x="7223760" y="2971800"/>
            <a:ext cx="2194560" cy="228600"/>
          </a:xfrm>
          <a:prstGeom prst="rect">
            <a:avLst/>
          </a:prstGeom>
          <a:noFill/>
          <a:ln/>
        </p:spPr>
        <p:txBody>
          <a:bodyPr wrap="square" lIns="0" tIns="0" rIns="0" bIns="0" rtlCol="0" anchor="ctr"/>
          <a:lstStyle/>
          <a:p>
            <a:pPr indent="0" marL="0">
              <a:buNone/>
            </a:pPr>
            <a:r>
              <a:rPr lang="en-US" sz="1300" b="1" dirty="0">
                <a:solidFill>
                  <a:srgbClr val="D97706"/>
                </a:solidFill>
              </a:rPr>
              <a:t>Borderline-ish</a:t>
            </a:r>
            <a:endParaRPr lang="en-US" sz="1300" dirty="0"/>
          </a:p>
        </p:txBody>
      </p:sp>
      <p:sp>
        <p:nvSpPr>
          <p:cNvPr id="14" name="Text 12"/>
          <p:cNvSpPr/>
          <p:nvPr/>
        </p:nvSpPr>
        <p:spPr>
          <a:xfrm>
            <a:off x="7223760" y="3319272"/>
            <a:ext cx="2148840" cy="457200"/>
          </a:xfrm>
          <a:prstGeom prst="rect">
            <a:avLst/>
          </a:prstGeom>
          <a:noFill/>
          <a:ln/>
        </p:spPr>
        <p:txBody>
          <a:bodyPr wrap="square" lIns="0" tIns="0" rIns="0" bIns="0" rtlCol="0" anchor="ctr"/>
          <a:lstStyle/>
          <a:p>
            <a:pPr indent="0" marL="0">
              <a:buNone/>
            </a:pPr>
            <a:r>
              <a:rPr lang="en-US" sz="3200" b="1" dirty="0">
                <a:solidFill>
                  <a:srgbClr val="101828"/>
                </a:solidFill>
              </a:rPr>
              <a:t>62.6%</a:t>
            </a:r>
            <a:endParaRPr lang="en-US" sz="3200" dirty="0"/>
          </a:p>
        </p:txBody>
      </p:sp>
      <p:sp>
        <p:nvSpPr>
          <p:cNvPr id="15" name="Text 13"/>
          <p:cNvSpPr/>
          <p:nvPr/>
        </p:nvSpPr>
        <p:spPr>
          <a:xfrm>
            <a:off x="7223760" y="3904488"/>
            <a:ext cx="2194560" cy="502920"/>
          </a:xfrm>
          <a:prstGeom prst="rect">
            <a:avLst/>
          </a:prstGeom>
          <a:noFill/>
          <a:ln/>
        </p:spPr>
        <p:txBody>
          <a:bodyPr wrap="square" lIns="0" tIns="0" rIns="0" bIns="0" rtlCol="0" anchor="ctr"/>
          <a:lstStyle/>
          <a:p>
            <a:pPr indent="0" marL="0">
              <a:buNone/>
            </a:pPr>
            <a:r>
              <a:rPr lang="en-US" sz="1200" dirty="0">
                <a:solidFill>
                  <a:srgbClr val="101828"/>
                </a:solidFill>
              </a:rPr>
              <a:t>18 months · one-year</a:t>
            </a:r>
            <a:endParaRPr lang="en-US" sz="1200" dirty="0"/>
          </a:p>
          <a:p>
            <a:pPr indent="0" marL="0">
              <a:buNone/>
            </a:pPr>
            <a:r>
              <a:rPr lang="en-US" sz="1200" dirty="0">
                <a:solidFill>
                  <a:srgbClr val="101828"/>
                </a:solidFill>
              </a:rPr>
              <a:t>fibre · automatic card</a:t>
            </a:r>
            <a:endParaRPr lang="en-US" sz="1200" dirty="0"/>
          </a:p>
        </p:txBody>
      </p:sp>
      <p:sp>
        <p:nvSpPr>
          <p:cNvPr id="16" name="Shape 14"/>
          <p:cNvSpPr/>
          <p:nvPr/>
        </p:nvSpPr>
        <p:spPr>
          <a:xfrm>
            <a:off x="9966960" y="2706624"/>
            <a:ext cx="1600200" cy="1965960"/>
          </a:xfrm>
          <a:prstGeom prst="roundRect">
            <a:avLst>
              <a:gd name="adj" fmla="val 6857"/>
            </a:avLst>
          </a:prstGeom>
          <a:solidFill>
            <a:srgbClr val="101828"/>
          </a:solidFill>
          <a:ln w="12700">
            <a:solidFill>
              <a:srgbClr val="101828"/>
            </a:solidFill>
            <a:prstDash val="solid"/>
          </a:ln>
        </p:spPr>
      </p:sp>
      <p:sp>
        <p:nvSpPr>
          <p:cNvPr id="17" name="Text 15"/>
          <p:cNvSpPr/>
          <p:nvPr/>
        </p:nvSpPr>
        <p:spPr>
          <a:xfrm>
            <a:off x="10149840" y="3044952"/>
            <a:ext cx="1234440" cy="566928"/>
          </a:xfrm>
          <a:prstGeom prst="rect">
            <a:avLst/>
          </a:prstGeom>
          <a:noFill/>
          <a:ln/>
        </p:spPr>
        <p:txBody>
          <a:bodyPr wrap="square" lIns="0" tIns="0" rIns="0" bIns="0" rtlCol="0" anchor="ctr"/>
          <a:lstStyle/>
          <a:p>
            <a:pPr algn="ctr" indent="0" marL="0">
              <a:buNone/>
            </a:pPr>
            <a:r>
              <a:rPr lang="en-US" sz="2100" b="1" dirty="0">
                <a:solidFill>
                  <a:srgbClr val="FFFFFF"/>
                </a:solidFill>
              </a:rPr>
              <a:t>LIVE</a:t>
            </a:r>
            <a:endParaRPr lang="en-US" sz="2100" dirty="0"/>
          </a:p>
          <a:p>
            <a:pPr algn="ctr" indent="0" marL="0">
              <a:buNone/>
            </a:pPr>
            <a:r>
              <a:rPr lang="en-US" sz="2100" b="1" dirty="0">
                <a:solidFill>
                  <a:srgbClr val="FFFFFF"/>
                </a:solidFill>
              </a:rPr>
              <a:t>APP</a:t>
            </a:r>
            <a:endParaRPr lang="en-US" sz="2100" dirty="0"/>
          </a:p>
        </p:txBody>
      </p:sp>
      <p:sp>
        <p:nvSpPr>
          <p:cNvPr id="18" name="Text 16"/>
          <p:cNvSpPr/>
          <p:nvPr/>
        </p:nvSpPr>
        <p:spPr>
          <a:xfrm>
            <a:off x="10113264" y="3840480"/>
            <a:ext cx="1325880" cy="457200"/>
          </a:xfrm>
          <a:prstGeom prst="rect">
            <a:avLst/>
          </a:prstGeom>
          <a:noFill/>
          <a:ln/>
        </p:spPr>
        <p:txBody>
          <a:bodyPr wrap="square" lIns="0" tIns="0" rIns="0" bIns="0" rtlCol="0" anchor="ctr"/>
          <a:lstStyle/>
          <a:p>
            <a:pPr algn="ctr" indent="0" marL="0">
              <a:buNone/>
            </a:pPr>
            <a:r>
              <a:rPr lang="en-US" sz="950" dirty="0">
                <a:solidFill>
                  <a:srgbClr val="D0D5DD"/>
                </a:solidFill>
              </a:rPr>
              <a:t>Add public URL / QR here once deployed</a:t>
            </a:r>
            <a:endParaRPr lang="en-US" sz="950" dirty="0"/>
          </a:p>
        </p:txBody>
      </p:sp>
      <p:sp>
        <p:nvSpPr>
          <p:cNvPr id="19" name="Text 17"/>
          <p:cNvSpPr/>
          <p:nvPr/>
        </p:nvSpPr>
        <p:spPr>
          <a:xfrm>
            <a:off x="868680" y="5285232"/>
            <a:ext cx="9966960" cy="566928"/>
          </a:xfrm>
          <a:prstGeom prst="rect">
            <a:avLst/>
          </a:prstGeom>
          <a:noFill/>
          <a:ln/>
        </p:spPr>
        <p:txBody>
          <a:bodyPr wrap="square" lIns="0" tIns="0" rIns="0" bIns="0" rtlCol="0" anchor="ctr"/>
          <a:lstStyle/>
          <a:p>
            <a:pPr algn="ctr" indent="0" marL="0">
              <a:buNone/>
            </a:pPr>
            <a:r>
              <a:rPr lang="en-US" sz="1600" b="1" dirty="0">
                <a:solidFill>
                  <a:srgbClr val="101828"/>
                </a:solidFill>
              </a:rPr>
              <a:t>The app will load the saved pipeline and score a customer live — same preprocessing, same threshold, no notebook magic.</a:t>
            </a:r>
            <a:endParaRPr lang="en-US" sz="1600" dirty="0"/>
          </a:p>
        </p:txBody>
      </p:sp>
      <p:sp>
        <p:nvSpPr>
          <p:cNvPr id="20" name="Text 18"/>
          <p:cNvSpPr/>
          <p:nvPr/>
        </p:nvSpPr>
        <p:spPr>
          <a:xfrm>
            <a:off x="868680" y="5989320"/>
            <a:ext cx="9875520" cy="320040"/>
          </a:xfrm>
          <a:prstGeom prst="rect">
            <a:avLst/>
          </a:prstGeom>
          <a:noFill/>
          <a:ln/>
        </p:spPr>
        <p:txBody>
          <a:bodyPr wrap="square" lIns="0" tIns="0" rIns="0" bIns="0" rtlCol="0" anchor="ctr"/>
          <a:lstStyle/>
          <a:p>
            <a:pPr algn="ctr" indent="0" marL="0">
              <a:buNone/>
            </a:pPr>
            <a:r>
              <a:rPr lang="en-US" sz="2000" b="1" dirty="0">
                <a:solidFill>
                  <a:srgbClr val="115E59"/>
                </a:solidFill>
              </a:rPr>
              <a:t>Thank you</a:t>
            </a:r>
            <a:endParaRPr lang="en-US" sz="2000" dirty="0"/>
          </a:p>
        </p:txBody>
      </p:sp>
      <p:sp>
        <p:nvSpPr>
          <p:cNvPr id="25" name="Slide Number Placeholder 0"/>
          <p:cNvSpPr>
            <a:spLocks noGrp="1"/>
          </p:cNvSpPr>
          <p:nvPr>
            <p:ph type="sldNum" sz="quarter" idx="4294967295"/>
          </p:nvPr>
        </p:nvSpPr>
        <p:spPr>
          <a:xfrm>
            <a:off x="11201400" y="6428232"/>
            <a:ext cx="41148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98A2B3"/>
                </a:solidFill>
                <a:latin typeface="Aptos"/>
                <a:ea typeface="Aptos"/>
                <a:cs typeface="Aptos"/>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Ironhack DSML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Customer Churn</dc:title>
  <dc:subject>Project 2 — Telco Customer Churn</dc:subject>
  <dc:creator>Alex</dc:creator>
  <cp:lastModifiedBy>Alex</cp:lastModifiedBy>
  <cp:revision>1</cp:revision>
  <dcterms:created xsi:type="dcterms:W3CDTF">2026-10-14T15:06:23Z</dcterms:created>
  <dcterms:modified xsi:type="dcterms:W3CDTF">2026-10-14T15:06:23Z</dcterms:modified>
</cp:coreProperties>
</file>
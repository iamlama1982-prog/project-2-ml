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embeddedFontLst>
    <p:embeddedFont>
      <p:font typeface="Lexen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~30 seconds</a:t>
            </a:r>
            <a:br>
              <a:rPr lang="en-US"/>
            </a:br>
            <a:br>
              <a:rPr lang="en-US"/>
            </a:br>
            <a:r>
              <a:rPr lang="en-US"/>
              <a:t>I wanted to make this a business problem rather than a model-shopping exercise. The question is simple: if a retention team cannot call everyone, who should they call first?</a:t>
            </a:r>
            <a:br>
              <a:rPr lang="en-US"/>
            </a:br>
            <a:br>
              <a:rPr lang="en-US"/>
            </a:br>
            <a:r>
              <a:rPr lang="en-US"/>
              <a:t>The final model catches about 78% of the customers who actually churn on completely unseen data. That is useful. It is not a crystal ball, and I am not going to pretend it is. The point is to prioritise attention better than doing nothing.</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The target is Churn, with Yes as the positive class. The user is a retention team and the decision is who to contact first.</a:t>
            </a:r>
            <a:br>
              <a:rPr lang="en-US"/>
            </a:br>
            <a:br>
              <a:rPr lang="en-US"/>
            </a:br>
            <a:r>
              <a:rPr lang="en-US"/>
              <a:t>That immediately changes what I care about. A false positive wastes a call or perhaps a small retention offer. A false negative means someone genuinely leaves and we never even tried. So I decided the more expensive mistake was missing a churner. That is why recall became my main metric, with precision and F1 there to stop me cheating by simply predicting Yes for everybody.</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The dataset has 7,043 customers. About 26.5% churned, so it is imbalanced enough that accuracy on its own is a bit flattering.</a:t>
            </a:r>
            <a:br>
              <a:rPr lang="en-US"/>
            </a:br>
            <a:br>
              <a:rPr lang="en-US"/>
            </a:br>
            <a:r>
              <a:rPr lang="en-US"/>
              <a:t>There were two useful data traps. TotalCharges looked numeric but was actually text, with 11 blanks. Every one of those customers had tenure zero, so rather than binning perfectly valid new customers I converted the field and treated their accumulated charges as zero. I also removed customerID because it is just an identifier.</a:t>
            </a:r>
            <a:br>
              <a:rPr lang="en-US"/>
            </a:br>
            <a:br>
              <a:rPr lang="en-US"/>
            </a:br>
            <a:r>
              <a:rPr lang="en-US"/>
              <a:t>I kept the cleaning boring on purpose. Boring and defensible beats clever and leaky.</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~40 seconds</a:t>
            </a:r>
            <a:br>
              <a:rPr lang="en-US"/>
            </a:br>
            <a:br>
              <a:rPr lang="en-US"/>
            </a:br>
            <a:r>
              <a:rPr lang="en-US"/>
              <a:t>Recall answers the question I actually care about: of the people who genuinely left, how many did the model identify?</a:t>
            </a:r>
            <a:br>
              <a:rPr lang="en-US"/>
            </a:br>
            <a:br>
              <a:rPr lang="en-US"/>
            </a:br>
            <a:r>
              <a:rPr lang="en-US"/>
              <a:t>The baseline is deliberately stupid. It predicts the majority class, so everybody stays. That gives a churn recall of zero. It is a useful reality check because a model is only interesting if it beats doing essentially nothing.</a:t>
            </a:r>
            <a:br>
              <a:rPr lang="en-US"/>
            </a:br>
            <a:br>
              <a:rPr lang="en-US"/>
            </a:br>
            <a:r>
              <a:rPr lang="en-US"/>
              <a:t>I used the same five stratified folds for every model so the comparison is fair rather than each model getting a different exam paper.</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I compared three genuinely different model families: Logistic Regression, a Decision Tree and a Random Forest. Same preprocessing pipeline, same folds, same recall scorer.</a:t>
            </a:r>
            <a:br>
              <a:rPr lang="en-US"/>
            </a:br>
            <a:br>
              <a:rPr lang="en-US"/>
            </a:br>
            <a:r>
              <a:rPr lang="en-US"/>
              <a:t>Logistic Regression came out best at about 0.544 recall. The tree was reasonably close, Random Forest slightly lower. The spread across folds also matters, so I did not treat a tiny difference as gospel.</a:t>
            </a:r>
            <a:br>
              <a:rPr lang="en-US"/>
            </a:br>
            <a:br>
              <a:rPr lang="en-US"/>
            </a:br>
            <a:r>
              <a:rPr lang="en-US"/>
              <a:t>I took Logistic Regression and the Decision Tree forward for tuning. The feature-engineering experiment I tried — a tenure band — actually made recall slightly worse, so I dropped it. No point keeping complexity just because I made it.</a:t>
            </a:r>
            <a:endParaRPr/>
          </a:p>
        </p:txBody>
      </p:sp>
      <p:sp>
        <p:nvSpPr>
          <p:cNvPr id="123" name="Google Shape;1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~50 seconds</a:t>
            </a:r>
            <a:br>
              <a:rPr lang="en-US"/>
            </a:br>
            <a:br>
              <a:rPr lang="en-US"/>
            </a:br>
            <a:r>
              <a:rPr lang="en-US"/>
              <a:t>Tuning mattered a lot. With balanced class weights, Logistic Regression moved from about 0.54 recall to 0.80 in cross-validation. The tuned tree reached about 0.78, so Logistic Regression still won and it stayed the easier model to explain.</a:t>
            </a:r>
            <a:br>
              <a:rPr lang="en-US"/>
            </a:br>
            <a:br>
              <a:rPr lang="en-US"/>
            </a:br>
            <a:r>
              <a:rPr lang="en-US"/>
              <a:t>I also tested the classification threshold rather than blindly accepting 0.5. My rule was: catch at least 80% of churners, then take the best precision I can get. 0.5 already did that on cross-validated training probabilities.</a:t>
            </a:r>
            <a:br>
              <a:rPr lang="en-US"/>
            </a:br>
            <a:br>
              <a:rPr lang="en-US"/>
            </a:br>
            <a:r>
              <a:rPr lang="en-US"/>
              <a:t>Then, finally, I opened the test set once. Recall was 0.783 — only 0.018 below the CV estimate. That is exactly the sort of boring consistency I wanted.</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This is the cost of choosing recall. The model caught 293 of the 374 churners and missed 81. But it also flagged 288 people who stayed.</a:t>
            </a:r>
            <a:br>
              <a:rPr lang="en-US"/>
            </a:br>
            <a:br>
              <a:rPr lang="en-US"/>
            </a:br>
            <a:r>
              <a:rPr lang="en-US"/>
              <a:t>The interesting bit is that the errors make sense. The missed churners looked like classic loyal customers: long tenure, longer contracts, often automatic payment. The false positives looked like classic churn risks: short tenure, month-to-month, fibre, electronic cheque.</a:t>
            </a:r>
            <a:br>
              <a:rPr lang="en-US"/>
            </a:br>
            <a:br>
              <a:rPr lang="en-US"/>
            </a:br>
            <a:r>
              <a:rPr lang="en-US"/>
              <a:t>So the model has learned a sensible population pattern. It is just not clairvoyant at an individual level — which is exactly why I would use it to prioritise outreach, not make automatic decisions.</a:t>
            </a:r>
            <a:endParaRPr/>
          </a:p>
        </p:txBody>
      </p:sp>
      <p:sp>
        <p:nvSpPr>
          <p:cNvPr id="189" name="Google Shape;1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I used permutation importance because it answers a very practical question: if I scramble this original feature, how much worse does recall get?</a:t>
            </a:r>
            <a:br>
              <a:rPr lang="en-US"/>
            </a:br>
            <a:br>
              <a:rPr lang="en-US"/>
            </a:br>
            <a:r>
              <a:rPr lang="en-US"/>
              <a:t>Tenure is comfortably the biggest driver. Contract type is next, then internet service and monthly charges. The coefficient analysis told the same story in more detail: month-to-month and fibre push churn risk up; long tenure and two-year contracts push it down.</a:t>
            </a:r>
            <a:br>
              <a:rPr lang="en-US"/>
            </a:br>
            <a:br>
              <a:rPr lang="en-US"/>
            </a:br>
            <a:r>
              <a:rPr lang="en-US"/>
              <a:t>I am deliberately saying association, not causation. The model is describing patterns in this dataset. It is not proving that fibre optic internet causes somebody to leave.</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~45 seconds</a:t>
            </a:r>
            <a:br>
              <a:rPr lang="en-US"/>
            </a:br>
            <a:br>
              <a:rPr lang="en-US"/>
            </a:br>
            <a:r>
              <a:rPr lang="en-US"/>
              <a:t>Would I use it? Yes, but only for the job I designed it for. I would use it to prioritise a retention queue where contacting somebody is relatively cheap and a false alarm is tolerable.</a:t>
            </a:r>
            <a:br>
              <a:rPr lang="en-US"/>
            </a:br>
            <a:br>
              <a:rPr lang="en-US"/>
            </a:br>
            <a:r>
              <a:rPr lang="en-US"/>
              <a:t>I would not let it automatically hand out discounts or make expensive customer decisions, because precision is only about 50%.</a:t>
            </a:r>
            <a:br>
              <a:rPr lang="en-US"/>
            </a:br>
            <a:br>
              <a:rPr lang="en-US"/>
            </a:br>
            <a:r>
              <a:rPr lang="en-US"/>
              <a:t>And there are obvious blind spots: complaints, outages, service quality, competitor offers — none of that exists here. So in a real business I would monitor recall and precision over time and retrain when customer behaviour shifts. The model is useful because it narrows where to look first.</a:t>
            </a:r>
            <a:endParaRPr/>
          </a:p>
        </p:txBody>
      </p:sp>
      <p:sp>
        <p:nvSpPr>
          <p:cNvPr id="252" name="Google Shape;2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~30 seconds to close, then move into the 3-minute demo</a:t>
            </a:r>
            <a:br>
              <a:rPr lang="en-US"/>
            </a:br>
            <a:br>
              <a:rPr lang="en-US"/>
            </a:br>
            <a:r>
              <a:rPr lang="en-US"/>
              <a:t>So the headline is: the model catches roughly 78% of genuine churners on unseen data, and it does it with a simple, interpretable pipeline. I would trust it to prioritise a queue. I would not trust it to make the decision for me.</a:t>
            </a:r>
            <a:br>
              <a:rPr lang="en-US"/>
            </a:br>
            <a:br>
              <a:rPr lang="en-US"/>
            </a:br>
            <a:r>
              <a:rPr lang="en-US"/>
              <a:t>For the demo I will switch to the live Streamlit app. I have three example profiles here just to show the range: a very obvious high-risk customer, a very low-risk customer, and one in the middle.</a:t>
            </a:r>
            <a:br>
              <a:rPr lang="en-US"/>
            </a:br>
            <a:br>
              <a:rPr lang="en-US"/>
            </a:br>
            <a:r>
              <a:rPr lang="en-US"/>
              <a:t>[Once Streamlit is deployed: point the audience to the public link or QR and let them try their own customer profile.]</a:t>
            </a:r>
            <a:br>
              <a:rPr lang="en-US"/>
            </a:br>
            <a:br>
              <a:rPr lang="en-US"/>
            </a:br>
            <a:r>
              <a:rPr lang="en-US"/>
              <a:t>Then I will show that the app is using the same saved model and threshold as the notebook — not a separate toy model.</a:t>
            </a:r>
            <a:endParaRPr/>
          </a:p>
        </p:txBody>
      </p:sp>
      <p:sp>
        <p:nvSpPr>
          <p:cNvPr id="279" name="Google Shape;2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54c42279ccf71b3a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h54c42279ccf71b3a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h54c42279ccf71b3a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7F4"/>
        </a:solidFill>
      </p:bgPr>
    </p:bg>
    <p:spTree>
      <p:nvGrpSpPr>
        <p:cNvPr id="11" name="Shape 11"/>
        <p:cNvGrpSpPr/>
        <p:nvPr/>
      </p:nvGrpSpPr>
      <p:grpSpPr>
        <a:xfrm>
          <a:off x="0" y="0"/>
          <a:ext cx="0" cy="0"/>
          <a:chOff x="0" y="0"/>
          <a:chExt cx="0" cy="0"/>
        </a:xfrm>
      </p:grpSpPr>
      <p:sp>
        <p:nvSpPr>
          <p:cNvPr id="12" name="Google Shape;12;p2"/>
          <p:cNvSpPr/>
          <p:nvPr/>
        </p:nvSpPr>
        <p:spPr>
          <a:xfrm>
            <a:off x="0" y="0"/>
            <a:ext cx="12191695" cy="73152"/>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48640" y="647395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00"/>
              <a:buFont typeface="Arial"/>
              <a:buNone/>
            </a:pPr>
            <a:r>
              <a:rPr b="0" i="0" lang="en-US" sz="800" u="none" cap="none" strike="noStrike">
                <a:solidFill>
                  <a:srgbClr val="667085"/>
                </a:solidFill>
                <a:latin typeface="Arial"/>
                <a:ea typeface="Arial"/>
                <a:cs typeface="Arial"/>
                <a:sym typeface="Arial"/>
              </a:rPr>
              <a:t>PROJECT 2 · CUSTOMER CHURN</a:t>
            </a:r>
            <a:endParaRPr b="0" i="0" sz="800" u="none" cap="none" strike="noStrike">
              <a:solidFill>
                <a:schemeClr val="dk1"/>
              </a:solidFill>
              <a:latin typeface="Arial"/>
              <a:ea typeface="Arial"/>
              <a:cs typeface="Arial"/>
              <a:sym typeface="Arial"/>
            </a:endParaRPr>
          </a:p>
        </p:txBody>
      </p:sp>
      <p:sp>
        <p:nvSpPr>
          <p:cNvPr id="14" name="Google Shape;14;p2"/>
          <p:cNvSpPr txBox="1"/>
          <p:nvPr>
            <p:ph idx="12" type="sldNum"/>
          </p:nvPr>
        </p:nvSpPr>
        <p:spPr>
          <a:xfrm>
            <a:off x="11201400" y="6428232"/>
            <a:ext cx="411480" cy="201168"/>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900" u="none" cap="none" strike="noStrike">
                <a:solidFill>
                  <a:srgbClr val="98A2B3"/>
                </a:solidFill>
                <a:latin typeface="Arial"/>
                <a:ea typeface="Arial"/>
                <a:cs typeface="Arial"/>
                <a:sym typeface="Arial"/>
              </a:defRPr>
            </a:lvl1pPr>
            <a:lvl2pPr indent="0" lvl="1" marL="0" marR="0" algn="r">
              <a:spcBef>
                <a:spcPts val="0"/>
              </a:spcBef>
              <a:buNone/>
              <a:defRPr b="0" i="0" sz="900" u="none" cap="none" strike="noStrike">
                <a:solidFill>
                  <a:srgbClr val="98A2B3"/>
                </a:solidFill>
                <a:latin typeface="Arial"/>
                <a:ea typeface="Arial"/>
                <a:cs typeface="Arial"/>
                <a:sym typeface="Arial"/>
              </a:defRPr>
            </a:lvl2pPr>
            <a:lvl3pPr indent="0" lvl="2" marL="0" marR="0" algn="r">
              <a:spcBef>
                <a:spcPts val="0"/>
              </a:spcBef>
              <a:buNone/>
              <a:defRPr b="0" i="0" sz="900" u="none" cap="none" strike="noStrike">
                <a:solidFill>
                  <a:srgbClr val="98A2B3"/>
                </a:solidFill>
                <a:latin typeface="Arial"/>
                <a:ea typeface="Arial"/>
                <a:cs typeface="Arial"/>
                <a:sym typeface="Arial"/>
              </a:defRPr>
            </a:lvl3pPr>
            <a:lvl4pPr indent="0" lvl="3" marL="0" marR="0" algn="r">
              <a:spcBef>
                <a:spcPts val="0"/>
              </a:spcBef>
              <a:buNone/>
              <a:defRPr b="0" i="0" sz="900" u="none" cap="none" strike="noStrike">
                <a:solidFill>
                  <a:srgbClr val="98A2B3"/>
                </a:solidFill>
                <a:latin typeface="Arial"/>
                <a:ea typeface="Arial"/>
                <a:cs typeface="Arial"/>
                <a:sym typeface="Arial"/>
              </a:defRPr>
            </a:lvl4pPr>
            <a:lvl5pPr indent="0" lvl="4" marL="0" marR="0" algn="r">
              <a:spcBef>
                <a:spcPts val="0"/>
              </a:spcBef>
              <a:buNone/>
              <a:defRPr b="0" i="0" sz="900" u="none" cap="none" strike="noStrike">
                <a:solidFill>
                  <a:srgbClr val="98A2B3"/>
                </a:solidFill>
                <a:latin typeface="Arial"/>
                <a:ea typeface="Arial"/>
                <a:cs typeface="Arial"/>
                <a:sym typeface="Arial"/>
              </a:defRPr>
            </a:lvl5pPr>
            <a:lvl6pPr indent="0" lvl="5" marL="0" marR="0" algn="r">
              <a:spcBef>
                <a:spcPts val="0"/>
              </a:spcBef>
              <a:buNone/>
              <a:defRPr b="0" i="0" sz="900" u="none" cap="none" strike="noStrike">
                <a:solidFill>
                  <a:srgbClr val="98A2B3"/>
                </a:solidFill>
                <a:latin typeface="Arial"/>
                <a:ea typeface="Arial"/>
                <a:cs typeface="Arial"/>
                <a:sym typeface="Arial"/>
              </a:defRPr>
            </a:lvl6pPr>
            <a:lvl7pPr indent="0" lvl="6" marL="0" marR="0" algn="r">
              <a:spcBef>
                <a:spcPts val="0"/>
              </a:spcBef>
              <a:buNone/>
              <a:defRPr b="0" i="0" sz="900" u="none" cap="none" strike="noStrike">
                <a:solidFill>
                  <a:srgbClr val="98A2B3"/>
                </a:solidFill>
                <a:latin typeface="Arial"/>
                <a:ea typeface="Arial"/>
                <a:cs typeface="Arial"/>
                <a:sym typeface="Arial"/>
              </a:defRPr>
            </a:lvl7pPr>
            <a:lvl8pPr indent="0" lvl="7" marL="0" marR="0" algn="r">
              <a:spcBef>
                <a:spcPts val="0"/>
              </a:spcBef>
              <a:buNone/>
              <a:defRPr b="0" i="0" sz="900" u="none" cap="none" strike="noStrike">
                <a:solidFill>
                  <a:srgbClr val="98A2B3"/>
                </a:solidFill>
                <a:latin typeface="Arial"/>
                <a:ea typeface="Arial"/>
                <a:cs typeface="Arial"/>
                <a:sym typeface="Arial"/>
              </a:defRPr>
            </a:lvl8pPr>
            <a:lvl9pPr indent="0" lvl="8" marL="0" marR="0" algn="r">
              <a:spcBef>
                <a:spcPts val="0"/>
              </a:spcBef>
              <a:buNone/>
              <a:defRPr b="0" i="0" sz="900" u="none" cap="none" strike="noStrike">
                <a:solidFill>
                  <a:srgbClr val="98A2B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01400" y="6428232"/>
            <a:ext cx="411480" cy="20116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900" u="none" cap="none" strike="noStrike">
                <a:solidFill>
                  <a:srgbClr val="98A2B3"/>
                </a:solidFill>
                <a:latin typeface="Arial"/>
                <a:ea typeface="Arial"/>
                <a:cs typeface="Arial"/>
                <a:sym typeface="Arial"/>
              </a:defRPr>
            </a:lvl1pPr>
            <a:lvl2pPr indent="0" lvl="1" marL="0" marR="0" rtl="0" algn="r">
              <a:spcBef>
                <a:spcPts val="0"/>
              </a:spcBef>
              <a:buNone/>
              <a:defRPr b="0" i="0" sz="900" u="none" cap="none" strike="noStrike">
                <a:solidFill>
                  <a:srgbClr val="98A2B3"/>
                </a:solidFill>
                <a:latin typeface="Arial"/>
                <a:ea typeface="Arial"/>
                <a:cs typeface="Arial"/>
                <a:sym typeface="Arial"/>
              </a:defRPr>
            </a:lvl2pPr>
            <a:lvl3pPr indent="0" lvl="2" marL="0" marR="0" rtl="0" algn="r">
              <a:spcBef>
                <a:spcPts val="0"/>
              </a:spcBef>
              <a:buNone/>
              <a:defRPr b="0" i="0" sz="900" u="none" cap="none" strike="noStrike">
                <a:solidFill>
                  <a:srgbClr val="98A2B3"/>
                </a:solidFill>
                <a:latin typeface="Arial"/>
                <a:ea typeface="Arial"/>
                <a:cs typeface="Arial"/>
                <a:sym typeface="Arial"/>
              </a:defRPr>
            </a:lvl3pPr>
            <a:lvl4pPr indent="0" lvl="3" marL="0" marR="0" rtl="0" algn="r">
              <a:spcBef>
                <a:spcPts val="0"/>
              </a:spcBef>
              <a:buNone/>
              <a:defRPr b="0" i="0" sz="900" u="none" cap="none" strike="noStrike">
                <a:solidFill>
                  <a:srgbClr val="98A2B3"/>
                </a:solidFill>
                <a:latin typeface="Arial"/>
                <a:ea typeface="Arial"/>
                <a:cs typeface="Arial"/>
                <a:sym typeface="Arial"/>
              </a:defRPr>
            </a:lvl4pPr>
            <a:lvl5pPr indent="0" lvl="4" marL="0" marR="0" rtl="0" algn="r">
              <a:spcBef>
                <a:spcPts val="0"/>
              </a:spcBef>
              <a:buNone/>
              <a:defRPr b="0" i="0" sz="900" u="none" cap="none" strike="noStrike">
                <a:solidFill>
                  <a:srgbClr val="98A2B3"/>
                </a:solidFill>
                <a:latin typeface="Arial"/>
                <a:ea typeface="Arial"/>
                <a:cs typeface="Arial"/>
                <a:sym typeface="Arial"/>
              </a:defRPr>
            </a:lvl5pPr>
            <a:lvl6pPr indent="0" lvl="5" marL="0" marR="0" rtl="0" algn="r">
              <a:spcBef>
                <a:spcPts val="0"/>
              </a:spcBef>
              <a:buNone/>
              <a:defRPr b="0" i="0" sz="900" u="none" cap="none" strike="noStrike">
                <a:solidFill>
                  <a:srgbClr val="98A2B3"/>
                </a:solidFill>
                <a:latin typeface="Arial"/>
                <a:ea typeface="Arial"/>
                <a:cs typeface="Arial"/>
                <a:sym typeface="Arial"/>
              </a:defRPr>
            </a:lvl6pPr>
            <a:lvl7pPr indent="0" lvl="6" marL="0" marR="0" rtl="0" algn="r">
              <a:spcBef>
                <a:spcPts val="0"/>
              </a:spcBef>
              <a:buNone/>
              <a:defRPr b="0" i="0" sz="900" u="none" cap="none" strike="noStrike">
                <a:solidFill>
                  <a:srgbClr val="98A2B3"/>
                </a:solidFill>
                <a:latin typeface="Arial"/>
                <a:ea typeface="Arial"/>
                <a:cs typeface="Arial"/>
                <a:sym typeface="Arial"/>
              </a:defRPr>
            </a:lvl7pPr>
            <a:lvl8pPr indent="0" lvl="7" marL="0" marR="0" rtl="0" algn="r">
              <a:spcBef>
                <a:spcPts val="0"/>
              </a:spcBef>
              <a:buNone/>
              <a:defRPr b="0" i="0" sz="900" u="none" cap="none" strike="noStrike">
                <a:solidFill>
                  <a:srgbClr val="98A2B3"/>
                </a:solidFill>
                <a:latin typeface="Arial"/>
                <a:ea typeface="Arial"/>
                <a:cs typeface="Arial"/>
                <a:sym typeface="Arial"/>
              </a:defRPr>
            </a:lvl8pPr>
            <a:lvl9pPr indent="0" lvl="8" marL="0" marR="0" rtl="0" algn="r">
              <a:spcBef>
                <a:spcPts val="0"/>
              </a:spcBef>
              <a:buNone/>
              <a:defRPr b="0" i="0" sz="900" u="none" cap="none" strike="noStrike">
                <a:solidFill>
                  <a:srgbClr val="98A2B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8"/>
        </a:solidFill>
      </p:bgPr>
    </p:bg>
    <p:spTree>
      <p:nvGrpSpPr>
        <p:cNvPr id="20" name="Shape 20"/>
        <p:cNvGrpSpPr/>
        <p:nvPr/>
      </p:nvGrpSpPr>
      <p:grpSpPr>
        <a:xfrm>
          <a:off x="0" y="0"/>
          <a:ext cx="0" cy="0"/>
          <a:chOff x="0" y="0"/>
          <a:chExt cx="0" cy="0"/>
        </a:xfrm>
      </p:grpSpPr>
      <p:sp>
        <p:nvSpPr>
          <p:cNvPr id="21" name="Google Shape;21;p4"/>
          <p:cNvSpPr/>
          <p:nvPr/>
        </p:nvSpPr>
        <p:spPr>
          <a:xfrm>
            <a:off x="0" y="0"/>
            <a:ext cx="12191695" cy="6858000"/>
          </a:xfrm>
          <a:prstGeom prst="rect">
            <a:avLst/>
          </a:prstGeom>
          <a:solidFill>
            <a:srgbClr val="101828"/>
          </a:solidFill>
          <a:ln cap="flat" cmpd="sng" w="12700">
            <a:solidFill>
              <a:srgbClr val="101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0" y="0"/>
            <a:ext cx="100584" cy="68580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822960" y="1005840"/>
            <a:ext cx="649224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PREDICTING</a:t>
            </a:r>
            <a:endParaRPr b="0" i="0" sz="3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CUSTOMER CHURN</a:t>
            </a:r>
            <a:endParaRPr b="0" i="0" sz="3800" u="none" cap="none" strike="noStrike">
              <a:solidFill>
                <a:schemeClr val="dk1"/>
              </a:solidFill>
              <a:latin typeface="Arial"/>
              <a:ea typeface="Arial"/>
              <a:cs typeface="Arial"/>
              <a:sym typeface="Arial"/>
            </a:endParaRPr>
          </a:p>
        </p:txBody>
      </p:sp>
      <p:sp>
        <p:nvSpPr>
          <p:cNvPr id="24" name="Google Shape;24;p4"/>
          <p:cNvSpPr/>
          <p:nvPr/>
        </p:nvSpPr>
        <p:spPr>
          <a:xfrm>
            <a:off x="841248" y="2880360"/>
            <a:ext cx="60350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5DD"/>
              </a:buClr>
              <a:buSzPts val="2200"/>
              <a:buFont typeface="Arial"/>
              <a:buNone/>
            </a:pPr>
            <a:r>
              <a:rPr b="0" i="0" lang="en-US" sz="2200" u="none" cap="none" strike="noStrike">
                <a:solidFill>
                  <a:srgbClr val="D0D5DD"/>
                </a:solidFill>
                <a:latin typeface="Arial"/>
                <a:ea typeface="Arial"/>
                <a:cs typeface="Arial"/>
                <a:sym typeface="Arial"/>
              </a:rPr>
              <a:t>Who should the retention team call first?</a:t>
            </a:r>
            <a:endParaRPr b="0" i="0" sz="2200" u="none" cap="none" strike="noStrike">
              <a:solidFill>
                <a:schemeClr val="dk1"/>
              </a:solidFill>
              <a:latin typeface="Arial"/>
              <a:ea typeface="Arial"/>
              <a:cs typeface="Arial"/>
              <a:sym typeface="Arial"/>
            </a:endParaRPr>
          </a:p>
        </p:txBody>
      </p:sp>
      <p:sp>
        <p:nvSpPr>
          <p:cNvPr id="25" name="Google Shape;25;p4"/>
          <p:cNvSpPr/>
          <p:nvPr/>
        </p:nvSpPr>
        <p:spPr>
          <a:xfrm>
            <a:off x="841248" y="3703320"/>
            <a:ext cx="2423160" cy="384048"/>
          </a:xfrm>
          <a:prstGeom prst="roundRect">
            <a:avLst>
              <a:gd fmla="val 19048" name="adj"/>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914400" y="3767328"/>
            <a:ext cx="227685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TELCO · CLASSIFICATION</a:t>
            </a:r>
            <a:endParaRPr b="0" i="0" sz="1100" u="none" cap="none" strike="noStrike">
              <a:solidFill>
                <a:schemeClr val="dk1"/>
              </a:solidFill>
              <a:latin typeface="Arial"/>
              <a:ea typeface="Arial"/>
              <a:cs typeface="Arial"/>
              <a:sym typeface="Arial"/>
            </a:endParaRPr>
          </a:p>
        </p:txBody>
      </p:sp>
      <p:sp>
        <p:nvSpPr>
          <p:cNvPr id="27" name="Google Shape;27;p4"/>
          <p:cNvSpPr/>
          <p:nvPr/>
        </p:nvSpPr>
        <p:spPr>
          <a:xfrm>
            <a:off x="841248" y="5349240"/>
            <a:ext cx="6309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A2B3"/>
              </a:buClr>
              <a:buSzPts val="1400"/>
              <a:buFont typeface="Arial"/>
              <a:buNone/>
            </a:pPr>
            <a:r>
              <a:rPr b="0" i="0" lang="en-US" sz="1400" u="none" cap="none" strike="noStrike">
                <a:solidFill>
                  <a:srgbClr val="98A2B3"/>
                </a:solidFill>
                <a:latin typeface="Arial"/>
                <a:ea typeface="Arial"/>
                <a:cs typeface="Arial"/>
                <a:sym typeface="Arial"/>
              </a:rPr>
              <a:t>Alex  ·  Project 2  ·  Data Science &amp; Machine Learning</a:t>
            </a:r>
            <a:endParaRPr b="0" i="0" sz="1400" u="none" cap="none" strike="noStrike">
              <a:solidFill>
                <a:schemeClr val="dk1"/>
              </a:solidFill>
              <a:latin typeface="Arial"/>
              <a:ea typeface="Arial"/>
              <a:cs typeface="Arial"/>
              <a:sym typeface="Arial"/>
            </a:endParaRPr>
          </a:p>
        </p:txBody>
      </p:sp>
      <p:sp>
        <p:nvSpPr>
          <p:cNvPr id="28" name="Google Shape;28;p4"/>
          <p:cNvSpPr/>
          <p:nvPr/>
        </p:nvSpPr>
        <p:spPr>
          <a:xfrm>
            <a:off x="8046720" y="1115568"/>
            <a:ext cx="3017520" cy="3154680"/>
          </a:xfrm>
          <a:prstGeom prst="roundRect">
            <a:avLst>
              <a:gd fmla="val 4848" name="adj"/>
            </a:avLst>
          </a:prstGeom>
          <a:solidFill>
            <a:srgbClr val="172033"/>
          </a:solidFill>
          <a:ln cap="flat" cmpd="sng" w="12700">
            <a:solidFill>
              <a:srgbClr val="34405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8394192" y="1600200"/>
            <a:ext cx="2286000"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Arial"/>
              <a:buNone/>
            </a:pPr>
            <a:r>
              <a:rPr b="1" i="0" lang="en-US" sz="5400" u="none" cap="none" strike="noStrike">
                <a:solidFill>
                  <a:srgbClr val="FFFFFF"/>
                </a:solidFill>
                <a:latin typeface="Arial"/>
                <a:ea typeface="Arial"/>
                <a:cs typeface="Arial"/>
                <a:sym typeface="Arial"/>
              </a:rPr>
              <a:t>78%</a:t>
            </a:r>
            <a:endParaRPr b="0" i="0" sz="5400" u="none" cap="none" strike="noStrike">
              <a:solidFill>
                <a:schemeClr val="dk1"/>
              </a:solidFill>
              <a:latin typeface="Arial"/>
              <a:ea typeface="Arial"/>
              <a:cs typeface="Arial"/>
              <a:sym typeface="Arial"/>
            </a:endParaRPr>
          </a:p>
        </p:txBody>
      </p:sp>
      <p:sp>
        <p:nvSpPr>
          <p:cNvPr id="30" name="Google Shape;30;p4"/>
          <p:cNvSpPr/>
          <p:nvPr/>
        </p:nvSpPr>
        <p:spPr>
          <a:xfrm>
            <a:off x="8321040" y="2487168"/>
            <a:ext cx="246888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0D5DD"/>
              </a:buClr>
              <a:buSzPts val="1700"/>
              <a:buFont typeface="Arial"/>
              <a:buNone/>
            </a:pPr>
            <a:r>
              <a:rPr b="0" i="0" lang="en-US" sz="1700" u="none" cap="none" strike="noStrike">
                <a:solidFill>
                  <a:srgbClr val="D0D5DD"/>
                </a:solidFill>
                <a:latin typeface="Arial"/>
                <a:ea typeface="Arial"/>
                <a:cs typeface="Arial"/>
                <a:sym typeface="Arial"/>
              </a:rPr>
              <a:t>of actual churners</a:t>
            </a:r>
            <a:endParaRPr b="0" i="0" sz="17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D0D5DD"/>
              </a:buClr>
              <a:buSzPts val="1700"/>
              <a:buFont typeface="Arial"/>
              <a:buNone/>
            </a:pPr>
            <a:r>
              <a:rPr b="0" i="0" lang="en-US" sz="1700" u="none" cap="none" strike="noStrike">
                <a:solidFill>
                  <a:srgbClr val="D0D5DD"/>
                </a:solidFill>
                <a:latin typeface="Arial"/>
                <a:ea typeface="Arial"/>
                <a:cs typeface="Arial"/>
                <a:sym typeface="Arial"/>
              </a:rPr>
              <a:t>identified on unseen data</a:t>
            </a:r>
            <a:endParaRPr b="0" i="0" sz="1700" u="none" cap="none" strike="noStrike">
              <a:solidFill>
                <a:schemeClr val="dk1"/>
              </a:solidFill>
              <a:latin typeface="Arial"/>
              <a:ea typeface="Arial"/>
              <a:cs typeface="Arial"/>
              <a:sym typeface="Arial"/>
            </a:endParaRPr>
          </a:p>
        </p:txBody>
      </p:sp>
      <p:cxnSp>
        <p:nvCxnSpPr>
          <p:cNvPr id="31" name="Google Shape;31;p4"/>
          <p:cNvCxnSpPr/>
          <p:nvPr/>
        </p:nvCxnSpPr>
        <p:spPr>
          <a:xfrm>
            <a:off x="8641080" y="3456432"/>
            <a:ext cx="1783080" cy="0"/>
          </a:xfrm>
          <a:prstGeom prst="straightConnector1">
            <a:avLst/>
          </a:prstGeom>
          <a:noFill/>
          <a:ln cap="flat" cmpd="sng" w="38100">
            <a:solidFill>
              <a:srgbClr val="0F766E"/>
            </a:solidFill>
            <a:prstDash val="solid"/>
            <a:round/>
            <a:headEnd len="sm" w="sm" type="none"/>
            <a:tailEnd len="sm" w="sm" type="none"/>
          </a:ln>
        </p:spPr>
      </p:cxnSp>
      <p:sp>
        <p:nvSpPr>
          <p:cNvPr id="32" name="Google Shape;32;p4"/>
          <p:cNvSpPr/>
          <p:nvPr/>
        </p:nvSpPr>
        <p:spPr>
          <a:xfrm>
            <a:off x="8348472" y="3657600"/>
            <a:ext cx="2423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DF4EF"/>
              </a:buClr>
              <a:buSzPts val="1500"/>
              <a:buFont typeface="Arial"/>
              <a:buNone/>
            </a:pPr>
            <a:r>
              <a:rPr b="1" i="0" lang="en-US" sz="1500" u="none" cap="none" strike="noStrike">
                <a:solidFill>
                  <a:srgbClr val="DDF4EF"/>
                </a:solidFill>
                <a:latin typeface="Arial"/>
                <a:ea typeface="Arial"/>
                <a:cs typeface="Arial"/>
                <a:sym typeface="Arial"/>
              </a:rPr>
              <a:t>Useful, not magic.</a:t>
            </a:r>
            <a:endParaRPr b="0" i="0" sz="1500" u="none" cap="none" strike="noStrike">
              <a:solidFill>
                <a:schemeClr val="dk1"/>
              </a:solidFill>
              <a:latin typeface="Arial"/>
              <a:ea typeface="Arial"/>
              <a:cs typeface="Arial"/>
              <a:sym typeface="Arial"/>
            </a:endParaRPr>
          </a:p>
        </p:txBody>
      </p:sp>
      <p:sp>
        <p:nvSpPr>
          <p:cNvPr id="33" name="Google Shape;33;p4"/>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5"/>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1 · THE PROBLEM</a:t>
            </a:r>
            <a:endParaRPr b="0" i="0" sz="1000" u="none" cap="none" strike="noStrike">
              <a:solidFill>
                <a:schemeClr val="dk1"/>
              </a:solidFill>
              <a:latin typeface="Arial"/>
              <a:ea typeface="Arial"/>
              <a:cs typeface="Arial"/>
              <a:sym typeface="Arial"/>
            </a:endParaRPr>
          </a:p>
        </p:txBody>
      </p:sp>
      <p:sp>
        <p:nvSpPr>
          <p:cNvPr id="40" name="Google Shape;40;p5"/>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The prediction has a job to do</a:t>
            </a:r>
            <a:endParaRPr b="0" i="0" sz="2700" u="none" cap="none" strike="noStrike">
              <a:solidFill>
                <a:schemeClr val="dk1"/>
              </a:solidFill>
              <a:latin typeface="Arial"/>
              <a:ea typeface="Arial"/>
              <a:cs typeface="Arial"/>
              <a:sym typeface="Arial"/>
            </a:endParaRPr>
          </a:p>
        </p:txBody>
      </p:sp>
      <p:sp>
        <p:nvSpPr>
          <p:cNvPr id="41" name="Google Shape;41;p5"/>
          <p:cNvSpPr/>
          <p:nvPr/>
        </p:nvSpPr>
        <p:spPr>
          <a:xfrm>
            <a:off x="685800" y="1554480"/>
            <a:ext cx="10972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Target</a:t>
            </a:r>
            <a:endParaRPr b="0" i="0" sz="1200" u="none" cap="none" strike="noStrike">
              <a:solidFill>
                <a:schemeClr val="dk1"/>
              </a:solidFill>
              <a:latin typeface="Arial"/>
              <a:ea typeface="Arial"/>
              <a:cs typeface="Arial"/>
              <a:sym typeface="Arial"/>
            </a:endParaRPr>
          </a:p>
        </p:txBody>
      </p:sp>
      <p:sp>
        <p:nvSpPr>
          <p:cNvPr id="42" name="Google Shape;42;p5"/>
          <p:cNvSpPr/>
          <p:nvPr/>
        </p:nvSpPr>
        <p:spPr>
          <a:xfrm>
            <a:off x="685800" y="1847088"/>
            <a:ext cx="2743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800"/>
              <a:buFont typeface="Arial"/>
              <a:buNone/>
            </a:pPr>
            <a:r>
              <a:rPr b="1" i="0" lang="en-US" sz="2800" u="none" cap="none" strike="noStrike">
                <a:solidFill>
                  <a:srgbClr val="101828"/>
                </a:solidFill>
                <a:latin typeface="Arial"/>
                <a:ea typeface="Arial"/>
                <a:cs typeface="Arial"/>
                <a:sym typeface="Arial"/>
              </a:rPr>
              <a:t>Churn = Yes</a:t>
            </a:r>
            <a:endParaRPr b="0" i="0" sz="2800" u="none" cap="none" strike="noStrike">
              <a:solidFill>
                <a:schemeClr val="dk1"/>
              </a:solidFill>
              <a:latin typeface="Arial"/>
              <a:ea typeface="Arial"/>
              <a:cs typeface="Arial"/>
              <a:sym typeface="Arial"/>
            </a:endParaRPr>
          </a:p>
        </p:txBody>
      </p:sp>
      <p:sp>
        <p:nvSpPr>
          <p:cNvPr id="43" name="Google Shape;43;p5"/>
          <p:cNvSpPr/>
          <p:nvPr/>
        </p:nvSpPr>
        <p:spPr>
          <a:xfrm>
            <a:off x="685800" y="2404872"/>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0" i="0" lang="en-US" sz="1100" u="none" cap="none" strike="noStrike">
                <a:solidFill>
                  <a:srgbClr val="667085"/>
                </a:solidFill>
                <a:latin typeface="Arial"/>
                <a:ea typeface="Arial"/>
                <a:cs typeface="Arial"/>
                <a:sym typeface="Arial"/>
              </a:rPr>
              <a:t>Positive class</a:t>
            </a:r>
            <a:endParaRPr b="0" i="0" sz="1100" u="none" cap="none" strike="noStrike">
              <a:solidFill>
                <a:schemeClr val="dk1"/>
              </a:solidFill>
              <a:latin typeface="Arial"/>
              <a:ea typeface="Arial"/>
              <a:cs typeface="Arial"/>
              <a:sym typeface="Arial"/>
            </a:endParaRPr>
          </a:p>
        </p:txBody>
      </p:sp>
      <p:cxnSp>
        <p:nvCxnSpPr>
          <p:cNvPr id="44" name="Google Shape;44;p5"/>
          <p:cNvCxnSpPr/>
          <p:nvPr/>
        </p:nvCxnSpPr>
        <p:spPr>
          <a:xfrm>
            <a:off x="3794760" y="1572768"/>
            <a:ext cx="0" cy="4023360"/>
          </a:xfrm>
          <a:prstGeom prst="straightConnector1">
            <a:avLst/>
          </a:prstGeom>
          <a:noFill/>
          <a:ln cap="flat" cmpd="sng" w="12700">
            <a:solidFill>
              <a:srgbClr val="D0D5DD"/>
            </a:solidFill>
            <a:prstDash val="solid"/>
            <a:round/>
            <a:headEnd len="sm" w="sm" type="none"/>
            <a:tailEnd len="sm" w="sm" type="none"/>
          </a:ln>
        </p:spPr>
      </p:cxnSp>
      <p:sp>
        <p:nvSpPr>
          <p:cNvPr id="45" name="Google Shape;45;p5"/>
          <p:cNvSpPr/>
          <p:nvPr/>
        </p:nvSpPr>
        <p:spPr>
          <a:xfrm>
            <a:off x="4251960" y="1554480"/>
            <a:ext cx="1554480" cy="384048"/>
          </a:xfrm>
          <a:prstGeom prst="roundRect">
            <a:avLst>
              <a:gd fmla="val 19048"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325112" y="1618488"/>
            <a:ext cx="140817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WHO USES IT?</a:t>
            </a:r>
            <a:endParaRPr b="0" i="0" sz="1100" u="none" cap="none" strike="noStrike">
              <a:solidFill>
                <a:schemeClr val="dk1"/>
              </a:solidFill>
              <a:latin typeface="Arial"/>
              <a:ea typeface="Arial"/>
              <a:cs typeface="Arial"/>
              <a:sym typeface="Arial"/>
            </a:endParaRPr>
          </a:p>
        </p:txBody>
      </p:sp>
      <p:sp>
        <p:nvSpPr>
          <p:cNvPr id="47" name="Google Shape;47;p5"/>
          <p:cNvSpPr/>
          <p:nvPr/>
        </p:nvSpPr>
        <p:spPr>
          <a:xfrm>
            <a:off x="4251960" y="2029968"/>
            <a:ext cx="2834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300"/>
              <a:buFont typeface="Arial"/>
              <a:buNone/>
            </a:pPr>
            <a:r>
              <a:rPr b="1" i="0" lang="en-US" sz="2300" u="none" cap="none" strike="noStrike">
                <a:solidFill>
                  <a:srgbClr val="101828"/>
                </a:solidFill>
                <a:latin typeface="Arial"/>
                <a:ea typeface="Arial"/>
                <a:cs typeface="Arial"/>
                <a:sym typeface="Arial"/>
              </a:rPr>
              <a:t>Customer retention team</a:t>
            </a:r>
            <a:endParaRPr b="0" i="0" sz="2300" u="none" cap="none" strike="noStrike">
              <a:solidFill>
                <a:schemeClr val="dk1"/>
              </a:solidFill>
              <a:latin typeface="Arial"/>
              <a:ea typeface="Arial"/>
              <a:cs typeface="Arial"/>
              <a:sym typeface="Arial"/>
            </a:endParaRPr>
          </a:p>
        </p:txBody>
      </p:sp>
      <p:sp>
        <p:nvSpPr>
          <p:cNvPr id="48" name="Google Shape;48;p5"/>
          <p:cNvSpPr/>
          <p:nvPr/>
        </p:nvSpPr>
        <p:spPr>
          <a:xfrm>
            <a:off x="4251960" y="2816352"/>
            <a:ext cx="1645920" cy="384048"/>
          </a:xfrm>
          <a:prstGeom prst="roundRect">
            <a:avLst>
              <a:gd fmla="val 19048"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4325112" y="2880360"/>
            <a:ext cx="149961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WHAT DECISION?</a:t>
            </a:r>
            <a:endParaRPr b="0" i="0" sz="1100" u="none" cap="none" strike="noStrike">
              <a:solidFill>
                <a:schemeClr val="dk1"/>
              </a:solidFill>
              <a:latin typeface="Arial"/>
              <a:ea typeface="Arial"/>
              <a:cs typeface="Arial"/>
              <a:sym typeface="Arial"/>
            </a:endParaRPr>
          </a:p>
        </p:txBody>
      </p:sp>
      <p:sp>
        <p:nvSpPr>
          <p:cNvPr id="50" name="Google Shape;50;p5"/>
          <p:cNvSpPr/>
          <p:nvPr/>
        </p:nvSpPr>
        <p:spPr>
          <a:xfrm>
            <a:off x="4251960" y="3273552"/>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300"/>
              <a:buFont typeface="Arial"/>
              <a:buNone/>
            </a:pPr>
            <a:r>
              <a:rPr b="1" i="0" lang="en-US" sz="2300" u="none" cap="none" strike="noStrike">
                <a:solidFill>
                  <a:srgbClr val="101828"/>
                </a:solidFill>
                <a:latin typeface="Arial"/>
                <a:ea typeface="Arial"/>
                <a:cs typeface="Arial"/>
                <a:sym typeface="Arial"/>
              </a:rPr>
              <a:t>Who gets contacted first?</a:t>
            </a:r>
            <a:endParaRPr b="0" i="0" sz="2300" u="none" cap="none" strike="noStrike">
              <a:solidFill>
                <a:schemeClr val="dk1"/>
              </a:solidFill>
              <a:latin typeface="Arial"/>
              <a:ea typeface="Arial"/>
              <a:cs typeface="Arial"/>
              <a:sym typeface="Arial"/>
            </a:endParaRPr>
          </a:p>
        </p:txBody>
      </p:sp>
      <p:sp>
        <p:nvSpPr>
          <p:cNvPr id="51" name="Google Shape;51;p5"/>
          <p:cNvSpPr/>
          <p:nvPr/>
        </p:nvSpPr>
        <p:spPr>
          <a:xfrm>
            <a:off x="7818120" y="1554480"/>
            <a:ext cx="1737360" cy="384048"/>
          </a:xfrm>
          <a:prstGeom prst="roundRect">
            <a:avLst>
              <a:gd fmla="val 19048"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7891272" y="1618488"/>
            <a:ext cx="159105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COST OF A MISS</a:t>
            </a:r>
            <a:endParaRPr b="0" i="0" sz="1100" u="none" cap="none" strike="noStrike">
              <a:solidFill>
                <a:schemeClr val="dk1"/>
              </a:solidFill>
              <a:latin typeface="Arial"/>
              <a:ea typeface="Arial"/>
              <a:cs typeface="Arial"/>
              <a:sym typeface="Arial"/>
            </a:endParaRPr>
          </a:p>
        </p:txBody>
      </p:sp>
      <p:sp>
        <p:nvSpPr>
          <p:cNvPr id="53" name="Google Shape;53;p5"/>
          <p:cNvSpPr/>
          <p:nvPr/>
        </p:nvSpPr>
        <p:spPr>
          <a:xfrm>
            <a:off x="7818120" y="2029968"/>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2000"/>
              <a:buFont typeface="Arial"/>
              <a:buNone/>
            </a:pPr>
            <a:r>
              <a:rPr b="1" i="0" lang="en-US" sz="2000" u="none" cap="none" strike="noStrike">
                <a:solidFill>
                  <a:srgbClr val="B42318"/>
                </a:solidFill>
                <a:latin typeface="Arial"/>
                <a:ea typeface="Arial"/>
                <a:cs typeface="Arial"/>
                <a:sym typeface="Arial"/>
              </a:rPr>
              <a:t>False negative</a:t>
            </a:r>
            <a:endParaRPr b="0" i="0" sz="2000" u="none" cap="none" strike="noStrike">
              <a:solidFill>
                <a:schemeClr val="dk1"/>
              </a:solidFill>
              <a:latin typeface="Arial"/>
              <a:ea typeface="Arial"/>
              <a:cs typeface="Arial"/>
              <a:sym typeface="Arial"/>
            </a:endParaRPr>
          </a:p>
        </p:txBody>
      </p:sp>
      <p:sp>
        <p:nvSpPr>
          <p:cNvPr id="54" name="Google Shape;54;p5"/>
          <p:cNvSpPr/>
          <p:nvPr/>
        </p:nvSpPr>
        <p:spPr>
          <a:xfrm>
            <a:off x="7818120" y="2441448"/>
            <a:ext cx="32918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A genuine churner is missed.</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The business loses the chance to intervene.</a:t>
            </a:r>
            <a:endParaRPr b="0" i="0" sz="1600" u="none" cap="none" strike="noStrike">
              <a:solidFill>
                <a:schemeClr val="dk1"/>
              </a:solidFill>
              <a:latin typeface="Arial"/>
              <a:ea typeface="Arial"/>
              <a:cs typeface="Arial"/>
              <a:sym typeface="Arial"/>
            </a:endParaRPr>
          </a:p>
        </p:txBody>
      </p:sp>
      <p:sp>
        <p:nvSpPr>
          <p:cNvPr id="55" name="Google Shape;55;p5"/>
          <p:cNvSpPr/>
          <p:nvPr/>
        </p:nvSpPr>
        <p:spPr>
          <a:xfrm>
            <a:off x="7818120" y="3703320"/>
            <a:ext cx="1325880" cy="384048"/>
          </a:xfrm>
          <a:prstGeom prst="roundRect">
            <a:avLst>
              <a:gd fmla="val 19048"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7891272" y="3767328"/>
            <a:ext cx="117957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TRADE-OFF</a:t>
            </a:r>
            <a:endParaRPr b="0" i="0" sz="1100" u="none" cap="none" strike="noStrike">
              <a:solidFill>
                <a:schemeClr val="dk1"/>
              </a:solidFill>
              <a:latin typeface="Arial"/>
              <a:ea typeface="Arial"/>
              <a:cs typeface="Arial"/>
              <a:sym typeface="Arial"/>
            </a:endParaRPr>
          </a:p>
        </p:txBody>
      </p:sp>
      <p:sp>
        <p:nvSpPr>
          <p:cNvPr id="57" name="Google Shape;57;p5"/>
          <p:cNvSpPr/>
          <p:nvPr/>
        </p:nvSpPr>
        <p:spPr>
          <a:xfrm>
            <a:off x="7818120" y="4160520"/>
            <a:ext cx="3383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1" i="0" lang="en-US" sz="1600" u="none" cap="none" strike="noStrike">
                <a:solidFill>
                  <a:srgbClr val="101828"/>
                </a:solidFill>
                <a:latin typeface="Arial"/>
                <a:ea typeface="Arial"/>
                <a:cs typeface="Arial"/>
                <a:sym typeface="Arial"/>
              </a:rPr>
              <a:t>I would rather make some extra calls than miss most of the people leaving.</a:t>
            </a:r>
            <a:endParaRPr b="0" i="0" sz="1600" u="none" cap="none" strike="noStrike">
              <a:solidFill>
                <a:schemeClr val="dk1"/>
              </a:solidFill>
              <a:latin typeface="Arial"/>
              <a:ea typeface="Arial"/>
              <a:cs typeface="Arial"/>
              <a:sym typeface="Arial"/>
            </a:endParaRPr>
          </a:p>
        </p:txBody>
      </p:sp>
      <p:sp>
        <p:nvSpPr>
          <p:cNvPr id="58" name="Google Shape;58;p5"/>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2 · THE DATA</a:t>
            </a:r>
            <a:endParaRPr b="0" i="0" sz="1000" u="none" cap="none" strike="noStrike">
              <a:solidFill>
                <a:schemeClr val="dk1"/>
              </a:solidFill>
              <a:latin typeface="Arial"/>
              <a:ea typeface="Arial"/>
              <a:cs typeface="Arial"/>
              <a:sym typeface="Arial"/>
            </a:endParaRPr>
          </a:p>
        </p:txBody>
      </p:sp>
      <p:sp>
        <p:nvSpPr>
          <p:cNvPr id="65" name="Google Shape;65;p6"/>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7,043 customers — and a few traps</a:t>
            </a:r>
            <a:endParaRPr b="0" i="0" sz="2700" u="none" cap="none" strike="noStrike">
              <a:solidFill>
                <a:schemeClr val="dk1"/>
              </a:solidFill>
              <a:latin typeface="Arial"/>
              <a:ea typeface="Arial"/>
              <a:cs typeface="Arial"/>
              <a:sym typeface="Arial"/>
            </a:endParaRPr>
          </a:p>
        </p:txBody>
      </p:sp>
      <p:sp>
        <p:nvSpPr>
          <p:cNvPr id="66" name="Google Shape;66;p6"/>
          <p:cNvSpPr/>
          <p:nvPr/>
        </p:nvSpPr>
        <p:spPr>
          <a:xfrm>
            <a:off x="685800" y="1417320"/>
            <a:ext cx="214884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685800" y="1417320"/>
            <a:ext cx="54864" cy="1115568"/>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886968" y="158191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7,043</a:t>
            </a:r>
            <a:endParaRPr b="0" i="0" sz="2500" u="none" cap="none" strike="noStrike">
              <a:solidFill>
                <a:schemeClr val="dk1"/>
              </a:solidFill>
              <a:latin typeface="Arial"/>
              <a:ea typeface="Arial"/>
              <a:cs typeface="Arial"/>
              <a:sym typeface="Arial"/>
            </a:endParaRPr>
          </a:p>
        </p:txBody>
      </p:sp>
      <p:sp>
        <p:nvSpPr>
          <p:cNvPr id="69" name="Google Shape;69;p6"/>
          <p:cNvSpPr/>
          <p:nvPr/>
        </p:nvSpPr>
        <p:spPr>
          <a:xfrm>
            <a:off x="886968" y="2020824"/>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Customers</a:t>
            </a:r>
            <a:endParaRPr b="0" i="0" sz="1100" u="none" cap="none" strike="noStrike">
              <a:solidFill>
                <a:schemeClr val="dk1"/>
              </a:solidFill>
              <a:latin typeface="Arial"/>
              <a:ea typeface="Arial"/>
              <a:cs typeface="Arial"/>
              <a:sym typeface="Arial"/>
            </a:endParaRPr>
          </a:p>
        </p:txBody>
      </p:sp>
      <p:sp>
        <p:nvSpPr>
          <p:cNvPr id="70" name="Google Shape;70;p6"/>
          <p:cNvSpPr/>
          <p:nvPr/>
        </p:nvSpPr>
        <p:spPr>
          <a:xfrm>
            <a:off x="886968" y="2267712"/>
            <a:ext cx="1828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one row = one customer</a:t>
            </a:r>
            <a:endParaRPr b="0" i="0" sz="900" u="none" cap="none" strike="noStrike">
              <a:solidFill>
                <a:schemeClr val="dk1"/>
              </a:solidFill>
              <a:latin typeface="Arial"/>
              <a:ea typeface="Arial"/>
              <a:cs typeface="Arial"/>
              <a:sym typeface="Arial"/>
            </a:endParaRPr>
          </a:p>
        </p:txBody>
      </p:sp>
      <p:sp>
        <p:nvSpPr>
          <p:cNvPr id="71" name="Google Shape;71;p6"/>
          <p:cNvSpPr/>
          <p:nvPr/>
        </p:nvSpPr>
        <p:spPr>
          <a:xfrm>
            <a:off x="3017520" y="1417320"/>
            <a:ext cx="214884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3017520" y="1417320"/>
            <a:ext cx="54864" cy="1115568"/>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3218688" y="158191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26.5%</a:t>
            </a:r>
            <a:endParaRPr b="0" i="0" sz="2500" u="none" cap="none" strike="noStrike">
              <a:solidFill>
                <a:schemeClr val="dk1"/>
              </a:solidFill>
              <a:latin typeface="Arial"/>
              <a:ea typeface="Arial"/>
              <a:cs typeface="Arial"/>
              <a:sym typeface="Arial"/>
            </a:endParaRPr>
          </a:p>
        </p:txBody>
      </p:sp>
      <p:sp>
        <p:nvSpPr>
          <p:cNvPr id="74" name="Google Shape;74;p6"/>
          <p:cNvSpPr/>
          <p:nvPr/>
        </p:nvSpPr>
        <p:spPr>
          <a:xfrm>
            <a:off x="3218688" y="2020824"/>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Churn rate</a:t>
            </a:r>
            <a:endParaRPr b="0" i="0" sz="1100" u="none" cap="none" strike="noStrike">
              <a:solidFill>
                <a:schemeClr val="dk1"/>
              </a:solidFill>
              <a:latin typeface="Arial"/>
              <a:ea typeface="Arial"/>
              <a:cs typeface="Arial"/>
              <a:sym typeface="Arial"/>
            </a:endParaRPr>
          </a:p>
        </p:txBody>
      </p:sp>
      <p:sp>
        <p:nvSpPr>
          <p:cNvPr id="75" name="Google Shape;75;p6"/>
          <p:cNvSpPr/>
          <p:nvPr/>
        </p:nvSpPr>
        <p:spPr>
          <a:xfrm>
            <a:off x="3218688" y="2267712"/>
            <a:ext cx="1828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moderately imbalanced</a:t>
            </a:r>
            <a:endParaRPr b="0" i="0" sz="900" u="none" cap="none" strike="noStrike">
              <a:solidFill>
                <a:schemeClr val="dk1"/>
              </a:solidFill>
              <a:latin typeface="Arial"/>
              <a:ea typeface="Arial"/>
              <a:cs typeface="Arial"/>
              <a:sym typeface="Arial"/>
            </a:endParaRPr>
          </a:p>
        </p:txBody>
      </p:sp>
      <p:sp>
        <p:nvSpPr>
          <p:cNvPr id="76" name="Google Shape;76;p6"/>
          <p:cNvSpPr/>
          <p:nvPr/>
        </p:nvSpPr>
        <p:spPr>
          <a:xfrm>
            <a:off x="5349240" y="1417320"/>
            <a:ext cx="214884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5349240" y="1417320"/>
            <a:ext cx="54864" cy="1115568"/>
          </a:xfrm>
          <a:prstGeom prst="rect">
            <a:avLst/>
          </a:prstGeom>
          <a:solidFill>
            <a:srgbClr val="175CD3"/>
          </a:solidFill>
          <a:ln cap="flat" cmpd="sng" w="12700">
            <a:solidFill>
              <a:srgbClr val="175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5550408" y="158191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11</a:t>
            </a:r>
            <a:endParaRPr b="0" i="0" sz="2500" u="none" cap="none" strike="noStrike">
              <a:solidFill>
                <a:schemeClr val="dk1"/>
              </a:solidFill>
              <a:latin typeface="Arial"/>
              <a:ea typeface="Arial"/>
              <a:cs typeface="Arial"/>
              <a:sym typeface="Arial"/>
            </a:endParaRPr>
          </a:p>
        </p:txBody>
      </p:sp>
      <p:sp>
        <p:nvSpPr>
          <p:cNvPr id="79" name="Google Shape;79;p6"/>
          <p:cNvSpPr/>
          <p:nvPr/>
        </p:nvSpPr>
        <p:spPr>
          <a:xfrm>
            <a:off x="5550408" y="2020824"/>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Blank TotalCharges</a:t>
            </a:r>
            <a:endParaRPr b="0" i="0" sz="1100" u="none" cap="none" strike="noStrike">
              <a:solidFill>
                <a:schemeClr val="dk1"/>
              </a:solidFill>
              <a:latin typeface="Arial"/>
              <a:ea typeface="Arial"/>
              <a:cs typeface="Arial"/>
              <a:sym typeface="Arial"/>
            </a:endParaRPr>
          </a:p>
        </p:txBody>
      </p:sp>
      <p:sp>
        <p:nvSpPr>
          <p:cNvPr id="80" name="Google Shape;80;p6"/>
          <p:cNvSpPr/>
          <p:nvPr/>
        </p:nvSpPr>
        <p:spPr>
          <a:xfrm>
            <a:off x="5550408" y="2267712"/>
            <a:ext cx="1828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all tenure = 0</a:t>
            </a:r>
            <a:endParaRPr b="0" i="0" sz="900" u="none" cap="none" strike="noStrike">
              <a:solidFill>
                <a:schemeClr val="dk1"/>
              </a:solidFill>
              <a:latin typeface="Arial"/>
              <a:ea typeface="Arial"/>
              <a:cs typeface="Arial"/>
              <a:sym typeface="Arial"/>
            </a:endParaRPr>
          </a:p>
        </p:txBody>
      </p:sp>
      <p:sp>
        <p:nvSpPr>
          <p:cNvPr id="81" name="Google Shape;81;p6"/>
          <p:cNvSpPr/>
          <p:nvPr/>
        </p:nvSpPr>
        <p:spPr>
          <a:xfrm>
            <a:off x="7680960" y="1417320"/>
            <a:ext cx="214884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7680960" y="1417320"/>
            <a:ext cx="54864" cy="1115568"/>
          </a:xfrm>
          <a:prstGeom prst="rect">
            <a:avLst/>
          </a:prstGeom>
          <a:solidFill>
            <a:srgbClr val="067647"/>
          </a:solidFill>
          <a:ln cap="flat" cmpd="sng" w="12700">
            <a:solidFill>
              <a:srgbClr val="0676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7882128" y="1581912"/>
            <a:ext cx="1828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1 column</a:t>
            </a:r>
            <a:endParaRPr b="0" i="0" sz="2500" u="none" cap="none" strike="noStrike">
              <a:solidFill>
                <a:schemeClr val="dk1"/>
              </a:solidFill>
              <a:latin typeface="Arial"/>
              <a:ea typeface="Arial"/>
              <a:cs typeface="Arial"/>
              <a:sym typeface="Arial"/>
            </a:endParaRPr>
          </a:p>
        </p:txBody>
      </p:sp>
      <p:sp>
        <p:nvSpPr>
          <p:cNvPr id="84" name="Google Shape;84;p6"/>
          <p:cNvSpPr/>
          <p:nvPr/>
        </p:nvSpPr>
        <p:spPr>
          <a:xfrm>
            <a:off x="7882128" y="2020824"/>
            <a:ext cx="18288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Identifier removed</a:t>
            </a:r>
            <a:endParaRPr b="0" i="0" sz="1100" u="none" cap="none" strike="noStrike">
              <a:solidFill>
                <a:schemeClr val="dk1"/>
              </a:solidFill>
              <a:latin typeface="Arial"/>
              <a:ea typeface="Arial"/>
              <a:cs typeface="Arial"/>
              <a:sym typeface="Arial"/>
            </a:endParaRPr>
          </a:p>
        </p:txBody>
      </p:sp>
      <p:sp>
        <p:nvSpPr>
          <p:cNvPr id="85" name="Google Shape;85;p6"/>
          <p:cNvSpPr/>
          <p:nvPr/>
        </p:nvSpPr>
        <p:spPr>
          <a:xfrm>
            <a:off x="7882128" y="2267712"/>
            <a:ext cx="18288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customerID dropped</a:t>
            </a:r>
            <a:endParaRPr b="0" i="0" sz="900" u="none" cap="none" strike="noStrike">
              <a:solidFill>
                <a:schemeClr val="dk1"/>
              </a:solidFill>
              <a:latin typeface="Arial"/>
              <a:ea typeface="Arial"/>
              <a:cs typeface="Arial"/>
              <a:sym typeface="Arial"/>
            </a:endParaRPr>
          </a:p>
        </p:txBody>
      </p:sp>
      <p:sp>
        <p:nvSpPr>
          <p:cNvPr id="86" name="Google Shape;86;p6"/>
          <p:cNvSpPr/>
          <p:nvPr/>
        </p:nvSpPr>
        <p:spPr>
          <a:xfrm>
            <a:off x="685800" y="2907792"/>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300"/>
              <a:buFont typeface="Arial"/>
              <a:buNone/>
            </a:pPr>
            <a:r>
              <a:rPr b="1" i="0" lang="en-US" sz="1300" u="none" cap="none" strike="noStrike">
                <a:solidFill>
                  <a:srgbClr val="667085"/>
                </a:solidFill>
                <a:latin typeface="Arial"/>
                <a:ea typeface="Arial"/>
                <a:cs typeface="Arial"/>
                <a:sym typeface="Arial"/>
              </a:rPr>
              <a:t>What the row contains</a:t>
            </a:r>
            <a:endParaRPr b="0" i="0" sz="1300" u="none" cap="none" strike="noStrike">
              <a:solidFill>
                <a:schemeClr val="dk1"/>
              </a:solidFill>
              <a:latin typeface="Arial"/>
              <a:ea typeface="Arial"/>
              <a:cs typeface="Arial"/>
              <a:sym typeface="Arial"/>
            </a:endParaRPr>
          </a:p>
        </p:txBody>
      </p:sp>
      <p:sp>
        <p:nvSpPr>
          <p:cNvPr id="87" name="Google Shape;87;p6"/>
          <p:cNvSpPr/>
          <p:nvPr/>
        </p:nvSpPr>
        <p:spPr>
          <a:xfrm>
            <a:off x="713232" y="3401568"/>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96112" y="3310128"/>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Demographics and household information</a:t>
            </a:r>
            <a:endParaRPr b="0" i="0" sz="1600" u="none" cap="none" strike="noStrike">
              <a:solidFill>
                <a:schemeClr val="dk1"/>
              </a:solidFill>
              <a:latin typeface="Arial"/>
              <a:ea typeface="Arial"/>
              <a:cs typeface="Arial"/>
              <a:sym typeface="Arial"/>
            </a:endParaRPr>
          </a:p>
        </p:txBody>
      </p:sp>
      <p:sp>
        <p:nvSpPr>
          <p:cNvPr id="89" name="Google Shape;89;p6"/>
          <p:cNvSpPr/>
          <p:nvPr/>
        </p:nvSpPr>
        <p:spPr>
          <a:xfrm>
            <a:off x="713232" y="3968496"/>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896112" y="3877056"/>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Services, contract, billing and payment behaviour</a:t>
            </a:r>
            <a:endParaRPr b="0" i="0" sz="1600" u="none" cap="none" strike="noStrike">
              <a:solidFill>
                <a:schemeClr val="dk1"/>
              </a:solidFill>
              <a:latin typeface="Arial"/>
              <a:ea typeface="Arial"/>
              <a:cs typeface="Arial"/>
              <a:sym typeface="Arial"/>
            </a:endParaRPr>
          </a:p>
        </p:txBody>
      </p:sp>
      <p:sp>
        <p:nvSpPr>
          <p:cNvPr id="91" name="Google Shape;91;p6"/>
          <p:cNvSpPr/>
          <p:nvPr/>
        </p:nvSpPr>
        <p:spPr>
          <a:xfrm>
            <a:off x="713232" y="4535424"/>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896112" y="4443984"/>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Tenure, monthly charges and total charges</a:t>
            </a:r>
            <a:endParaRPr b="0" i="0" sz="1600" u="none" cap="none" strike="noStrike">
              <a:solidFill>
                <a:schemeClr val="dk1"/>
              </a:solidFill>
              <a:latin typeface="Arial"/>
              <a:ea typeface="Arial"/>
              <a:cs typeface="Arial"/>
              <a:sym typeface="Arial"/>
            </a:endParaRPr>
          </a:p>
        </p:txBody>
      </p:sp>
      <p:sp>
        <p:nvSpPr>
          <p:cNvPr id="93" name="Google Shape;93;p6"/>
          <p:cNvSpPr/>
          <p:nvPr/>
        </p:nvSpPr>
        <p:spPr>
          <a:xfrm>
            <a:off x="6400800" y="3017520"/>
            <a:ext cx="4937760" cy="2240280"/>
          </a:xfrm>
          <a:prstGeom prst="roundRect">
            <a:avLst>
              <a:gd fmla="val 4898"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720840" y="3310128"/>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700"/>
              <a:buFont typeface="Arial"/>
              <a:buNone/>
            </a:pPr>
            <a:r>
              <a:rPr b="1" i="0" lang="en-US" sz="1700" u="none" cap="none" strike="noStrike">
                <a:solidFill>
                  <a:srgbClr val="101828"/>
                </a:solidFill>
                <a:latin typeface="Arial"/>
                <a:ea typeface="Arial"/>
                <a:cs typeface="Arial"/>
                <a:sym typeface="Arial"/>
              </a:rPr>
              <a:t>Cleaning choices that mattered</a:t>
            </a:r>
            <a:endParaRPr b="0" i="0" sz="1700" u="none" cap="none" strike="noStrike">
              <a:solidFill>
                <a:schemeClr val="dk1"/>
              </a:solidFill>
              <a:latin typeface="Arial"/>
              <a:ea typeface="Arial"/>
              <a:cs typeface="Arial"/>
              <a:sym typeface="Arial"/>
            </a:endParaRPr>
          </a:p>
        </p:txBody>
      </p:sp>
      <p:sp>
        <p:nvSpPr>
          <p:cNvPr id="95" name="Google Shape;95;p6"/>
          <p:cNvSpPr/>
          <p:nvPr/>
        </p:nvSpPr>
        <p:spPr>
          <a:xfrm>
            <a:off x="6720840" y="3767328"/>
            <a:ext cx="1417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5E59"/>
              </a:buClr>
              <a:buSzPts val="1300"/>
              <a:buFont typeface="Arial"/>
              <a:buNone/>
            </a:pPr>
            <a:r>
              <a:rPr b="1" i="0" lang="en-US" sz="1300" u="none" cap="none" strike="noStrike">
                <a:solidFill>
                  <a:srgbClr val="115E59"/>
                </a:solidFill>
                <a:latin typeface="Arial"/>
                <a:ea typeface="Arial"/>
                <a:cs typeface="Arial"/>
                <a:sym typeface="Arial"/>
              </a:rPr>
              <a:t>TotalCharges</a:t>
            </a:r>
            <a:endParaRPr b="0" i="0" sz="1300" u="none" cap="none" strike="noStrike">
              <a:solidFill>
                <a:schemeClr val="dk1"/>
              </a:solidFill>
              <a:latin typeface="Arial"/>
              <a:ea typeface="Arial"/>
              <a:cs typeface="Arial"/>
              <a:sym typeface="Arial"/>
            </a:endParaRPr>
          </a:p>
        </p:txBody>
      </p:sp>
      <p:sp>
        <p:nvSpPr>
          <p:cNvPr id="96" name="Google Shape;96;p6"/>
          <p:cNvSpPr/>
          <p:nvPr/>
        </p:nvSpPr>
        <p:spPr>
          <a:xfrm>
            <a:off x="8229600" y="3730752"/>
            <a:ext cx="2651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300"/>
              <a:buFont typeface="Arial"/>
              <a:buNone/>
            </a:pPr>
            <a:r>
              <a:rPr b="0" i="0" lang="en-US" sz="1300" u="none" cap="none" strike="noStrike">
                <a:solidFill>
                  <a:srgbClr val="101828"/>
                </a:solidFill>
                <a:latin typeface="Arial"/>
                <a:ea typeface="Arial"/>
                <a:cs typeface="Arial"/>
                <a:sym typeface="Arial"/>
              </a:rPr>
              <a:t>text → numeric; 11 new customers filled with 0</a:t>
            </a:r>
            <a:endParaRPr b="0" i="0" sz="1300" u="none" cap="none" strike="noStrike">
              <a:solidFill>
                <a:schemeClr val="dk1"/>
              </a:solidFill>
              <a:latin typeface="Arial"/>
              <a:ea typeface="Arial"/>
              <a:cs typeface="Arial"/>
              <a:sym typeface="Arial"/>
            </a:endParaRPr>
          </a:p>
        </p:txBody>
      </p:sp>
      <p:sp>
        <p:nvSpPr>
          <p:cNvPr id="97" name="Google Shape;97;p6"/>
          <p:cNvSpPr/>
          <p:nvPr/>
        </p:nvSpPr>
        <p:spPr>
          <a:xfrm>
            <a:off x="6720840" y="4315968"/>
            <a:ext cx="1417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5E59"/>
              </a:buClr>
              <a:buSzPts val="1300"/>
              <a:buFont typeface="Arial"/>
              <a:buNone/>
            </a:pPr>
            <a:r>
              <a:rPr b="1" i="0" lang="en-US" sz="1300" u="none" cap="none" strike="noStrike">
                <a:solidFill>
                  <a:srgbClr val="115E59"/>
                </a:solidFill>
                <a:latin typeface="Arial"/>
                <a:ea typeface="Arial"/>
                <a:cs typeface="Arial"/>
                <a:sym typeface="Arial"/>
              </a:rPr>
              <a:t>customerID</a:t>
            </a:r>
            <a:endParaRPr b="0" i="0" sz="1300" u="none" cap="none" strike="noStrike">
              <a:solidFill>
                <a:schemeClr val="dk1"/>
              </a:solidFill>
              <a:latin typeface="Arial"/>
              <a:ea typeface="Arial"/>
              <a:cs typeface="Arial"/>
              <a:sym typeface="Arial"/>
            </a:endParaRPr>
          </a:p>
        </p:txBody>
      </p:sp>
      <p:sp>
        <p:nvSpPr>
          <p:cNvPr id="98" name="Google Shape;98;p6"/>
          <p:cNvSpPr/>
          <p:nvPr/>
        </p:nvSpPr>
        <p:spPr>
          <a:xfrm>
            <a:off x="8229600" y="4279392"/>
            <a:ext cx="2651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300"/>
              <a:buFont typeface="Arial"/>
              <a:buNone/>
            </a:pPr>
            <a:r>
              <a:rPr b="0" i="0" lang="en-US" sz="1300" u="none" cap="none" strike="noStrike">
                <a:solidFill>
                  <a:srgbClr val="101828"/>
                </a:solidFill>
                <a:latin typeface="Arial"/>
                <a:ea typeface="Arial"/>
                <a:cs typeface="Arial"/>
                <a:sym typeface="Arial"/>
              </a:rPr>
              <a:t>dropped: it identifies people, not churn risk</a:t>
            </a:r>
            <a:endParaRPr b="0" i="0" sz="1300" u="none" cap="none" strike="noStrike">
              <a:solidFill>
                <a:schemeClr val="dk1"/>
              </a:solidFill>
              <a:latin typeface="Arial"/>
              <a:ea typeface="Arial"/>
              <a:cs typeface="Arial"/>
              <a:sym typeface="Arial"/>
            </a:endParaRPr>
          </a:p>
        </p:txBody>
      </p:sp>
      <p:sp>
        <p:nvSpPr>
          <p:cNvPr id="99" name="Google Shape;99;p6"/>
          <p:cNvSpPr/>
          <p:nvPr/>
        </p:nvSpPr>
        <p:spPr>
          <a:xfrm>
            <a:off x="685800" y="5806440"/>
            <a:ext cx="61264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000"/>
              <a:buFont typeface="Arial"/>
              <a:buNone/>
            </a:pPr>
            <a:r>
              <a:rPr b="0" i="0" lang="en-US" sz="1000" u="none" cap="none" strike="noStrike">
                <a:solidFill>
                  <a:srgbClr val="667085"/>
                </a:solidFill>
                <a:latin typeface="Arial"/>
                <a:ea typeface="Arial"/>
                <a:cs typeface="Arial"/>
                <a:sym typeface="Arial"/>
              </a:rPr>
              <a:t>Source: IBM Telco Customer Churn sample · Apache 2.0</a:t>
            </a:r>
            <a:endParaRPr b="0" i="0" sz="1000" u="none" cap="none" strike="noStrike">
              <a:solidFill>
                <a:schemeClr val="dk1"/>
              </a:solidFill>
              <a:latin typeface="Arial"/>
              <a:ea typeface="Arial"/>
              <a:cs typeface="Arial"/>
              <a:sym typeface="Arial"/>
            </a:endParaRPr>
          </a:p>
        </p:txBody>
      </p:sp>
      <p:sp>
        <p:nvSpPr>
          <p:cNvPr id="100" name="Google Shape;100;p6"/>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3 · METRIC + BASELINE</a:t>
            </a:r>
            <a:endParaRPr b="0" i="0" sz="1000" u="none" cap="none" strike="noStrike">
              <a:solidFill>
                <a:schemeClr val="dk1"/>
              </a:solidFill>
              <a:latin typeface="Arial"/>
              <a:ea typeface="Arial"/>
              <a:cs typeface="Arial"/>
              <a:sym typeface="Arial"/>
            </a:endParaRPr>
          </a:p>
        </p:txBody>
      </p:sp>
      <p:sp>
        <p:nvSpPr>
          <p:cNvPr id="107" name="Google Shape;107;p7"/>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Recall is the score I care about</a:t>
            </a:r>
            <a:endParaRPr b="0" i="0" sz="2700" u="none" cap="none" strike="noStrike">
              <a:solidFill>
                <a:schemeClr val="dk1"/>
              </a:solidFill>
              <a:latin typeface="Arial"/>
              <a:ea typeface="Arial"/>
              <a:cs typeface="Arial"/>
              <a:sym typeface="Arial"/>
            </a:endParaRPr>
          </a:p>
        </p:txBody>
      </p:sp>
      <p:sp>
        <p:nvSpPr>
          <p:cNvPr id="108" name="Google Shape;108;p7"/>
          <p:cNvSpPr/>
          <p:nvPr/>
        </p:nvSpPr>
        <p:spPr>
          <a:xfrm>
            <a:off x="731520" y="1444752"/>
            <a:ext cx="4754880" cy="3474720"/>
          </a:xfrm>
          <a:prstGeom prst="roundRect">
            <a:avLst>
              <a:gd fmla="val 3684"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1051560" y="1810512"/>
            <a:ext cx="1920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300"/>
              <a:buFont typeface="Arial"/>
              <a:buNone/>
            </a:pPr>
            <a:r>
              <a:rPr b="1" i="0" lang="en-US" sz="2300" u="none" cap="none" strike="noStrike">
                <a:solidFill>
                  <a:srgbClr val="101828"/>
                </a:solidFill>
                <a:latin typeface="Arial"/>
                <a:ea typeface="Arial"/>
                <a:cs typeface="Arial"/>
                <a:sym typeface="Arial"/>
              </a:rPr>
              <a:t>Why recall?</a:t>
            </a:r>
            <a:endParaRPr b="0" i="0" sz="2300" u="none" cap="none" strike="noStrike">
              <a:solidFill>
                <a:schemeClr val="dk1"/>
              </a:solidFill>
              <a:latin typeface="Arial"/>
              <a:ea typeface="Arial"/>
              <a:cs typeface="Arial"/>
              <a:sym typeface="Arial"/>
            </a:endParaRPr>
          </a:p>
        </p:txBody>
      </p:sp>
      <p:sp>
        <p:nvSpPr>
          <p:cNvPr id="110" name="Google Shape;110;p7"/>
          <p:cNvSpPr/>
          <p:nvPr/>
        </p:nvSpPr>
        <p:spPr>
          <a:xfrm>
            <a:off x="1051560" y="2359152"/>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900"/>
              <a:buFont typeface="Arial"/>
              <a:buNone/>
            </a:pPr>
            <a:r>
              <a:rPr b="0" i="0" lang="en-US" sz="1900" u="none" cap="none" strike="noStrike">
                <a:solidFill>
                  <a:srgbClr val="101828"/>
                </a:solidFill>
                <a:latin typeface="Arial"/>
                <a:ea typeface="Arial"/>
                <a:cs typeface="Arial"/>
                <a:sym typeface="Arial"/>
              </a:rPr>
              <a:t>Of the customers who really churn…</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900"/>
              <a:buFont typeface="Arial"/>
              <a:buNone/>
            </a:pPr>
            <a:r>
              <a:rPr b="0" i="0" lang="en-US" sz="1900" u="none" cap="none" strike="noStrike">
                <a:solidFill>
                  <a:srgbClr val="101828"/>
                </a:solidFill>
                <a:latin typeface="Arial"/>
                <a:ea typeface="Arial"/>
                <a:cs typeface="Arial"/>
                <a:sym typeface="Arial"/>
              </a:rPr>
              <a:t>how many did I actually catch?</a:t>
            </a:r>
            <a:endParaRPr b="0" i="0" sz="1900" u="none" cap="none" strike="noStrike">
              <a:solidFill>
                <a:schemeClr val="dk1"/>
              </a:solidFill>
              <a:latin typeface="Arial"/>
              <a:ea typeface="Arial"/>
              <a:cs typeface="Arial"/>
              <a:sym typeface="Arial"/>
            </a:endParaRPr>
          </a:p>
        </p:txBody>
      </p:sp>
      <p:sp>
        <p:nvSpPr>
          <p:cNvPr id="111" name="Google Shape;111;p7"/>
          <p:cNvSpPr/>
          <p:nvPr/>
        </p:nvSpPr>
        <p:spPr>
          <a:xfrm>
            <a:off x="1051560" y="3502152"/>
            <a:ext cx="3840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1500"/>
              <a:buFont typeface="Arial"/>
              <a:buNone/>
            </a:pPr>
            <a:r>
              <a:rPr b="1" i="0" lang="en-US" sz="1500" u="none" cap="none" strike="noStrike">
                <a:solidFill>
                  <a:srgbClr val="B42318"/>
                </a:solidFill>
                <a:latin typeface="Arial"/>
                <a:ea typeface="Arial"/>
                <a:cs typeface="Arial"/>
                <a:sym typeface="Arial"/>
              </a:rPr>
              <a:t>False negative = missed retention opportunity</a:t>
            </a:r>
            <a:endParaRPr b="0" i="0" sz="1500" u="none" cap="none" strike="noStrike">
              <a:solidFill>
                <a:schemeClr val="dk1"/>
              </a:solidFill>
              <a:latin typeface="Arial"/>
              <a:ea typeface="Arial"/>
              <a:cs typeface="Arial"/>
              <a:sym typeface="Arial"/>
            </a:endParaRPr>
          </a:p>
        </p:txBody>
      </p:sp>
      <p:sp>
        <p:nvSpPr>
          <p:cNvPr id="112" name="Google Shape;112;p7"/>
          <p:cNvSpPr/>
          <p:nvPr/>
        </p:nvSpPr>
        <p:spPr>
          <a:xfrm>
            <a:off x="1051560" y="4041648"/>
            <a:ext cx="38862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400"/>
              <a:buFont typeface="Arial"/>
              <a:buNone/>
            </a:pPr>
            <a:r>
              <a:rPr b="0" i="0" lang="en-US" sz="1400" u="none" cap="none" strike="noStrike">
                <a:solidFill>
                  <a:srgbClr val="667085"/>
                </a:solidFill>
                <a:latin typeface="Arial"/>
                <a:ea typeface="Arial"/>
                <a:cs typeface="Arial"/>
                <a:sym typeface="Arial"/>
              </a:rPr>
              <a:t>Precision still matters, because calls and offers are not free.</a:t>
            </a:r>
            <a:endParaRPr b="0" i="0" sz="1400" u="none" cap="none" strike="noStrike">
              <a:solidFill>
                <a:schemeClr val="dk1"/>
              </a:solidFill>
              <a:latin typeface="Arial"/>
              <a:ea typeface="Arial"/>
              <a:cs typeface="Arial"/>
              <a:sym typeface="Arial"/>
            </a:endParaRPr>
          </a:p>
        </p:txBody>
      </p:sp>
      <p:sp>
        <p:nvSpPr>
          <p:cNvPr id="113" name="Google Shape;113;p7"/>
          <p:cNvSpPr/>
          <p:nvPr/>
        </p:nvSpPr>
        <p:spPr>
          <a:xfrm>
            <a:off x="5989320" y="1444752"/>
            <a:ext cx="5303520" cy="3474720"/>
          </a:xfrm>
          <a:prstGeom prst="roundRect">
            <a:avLst>
              <a:gd fmla="val 3684" name="adj"/>
            </a:avLst>
          </a:prstGeom>
          <a:solidFill>
            <a:srgbClr val="F2F4F7"/>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355080" y="1810512"/>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300"/>
              <a:buFont typeface="Arial"/>
              <a:buNone/>
            </a:pPr>
            <a:r>
              <a:rPr b="1" i="0" lang="en-US" sz="2300" u="none" cap="none" strike="noStrike">
                <a:solidFill>
                  <a:srgbClr val="101828"/>
                </a:solidFill>
                <a:latin typeface="Arial"/>
                <a:ea typeface="Arial"/>
                <a:cs typeface="Arial"/>
                <a:sym typeface="Arial"/>
              </a:rPr>
              <a:t>The score to beat</a:t>
            </a:r>
            <a:endParaRPr b="0" i="0" sz="2300" u="none" cap="none" strike="noStrike">
              <a:solidFill>
                <a:schemeClr val="dk1"/>
              </a:solidFill>
              <a:latin typeface="Arial"/>
              <a:ea typeface="Arial"/>
              <a:cs typeface="Arial"/>
              <a:sym typeface="Arial"/>
            </a:endParaRPr>
          </a:p>
        </p:txBody>
      </p:sp>
      <p:sp>
        <p:nvSpPr>
          <p:cNvPr id="115" name="Google Shape;115;p7"/>
          <p:cNvSpPr/>
          <p:nvPr/>
        </p:nvSpPr>
        <p:spPr>
          <a:xfrm>
            <a:off x="6400800" y="2395728"/>
            <a:ext cx="214884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4800"/>
              <a:buFont typeface="Arial"/>
              <a:buNone/>
            </a:pPr>
            <a:r>
              <a:rPr b="1" i="0" lang="en-US" sz="4800" u="none" cap="none" strike="noStrike">
                <a:solidFill>
                  <a:srgbClr val="D97706"/>
                </a:solidFill>
                <a:latin typeface="Arial"/>
                <a:ea typeface="Arial"/>
                <a:cs typeface="Arial"/>
                <a:sym typeface="Arial"/>
              </a:rPr>
              <a:t>0.000</a:t>
            </a:r>
            <a:endParaRPr b="0" i="0" sz="4800" u="none" cap="none" strike="noStrike">
              <a:solidFill>
                <a:schemeClr val="dk1"/>
              </a:solidFill>
              <a:latin typeface="Arial"/>
              <a:ea typeface="Arial"/>
              <a:cs typeface="Arial"/>
              <a:sym typeface="Arial"/>
            </a:endParaRPr>
          </a:p>
        </p:txBody>
      </p:sp>
      <p:sp>
        <p:nvSpPr>
          <p:cNvPr id="116" name="Google Shape;116;p7"/>
          <p:cNvSpPr/>
          <p:nvPr/>
        </p:nvSpPr>
        <p:spPr>
          <a:xfrm>
            <a:off x="8321040" y="2624328"/>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400"/>
              <a:buFont typeface="Arial"/>
              <a:buNone/>
            </a:pPr>
            <a:r>
              <a:rPr b="1" i="0" lang="en-US" sz="1400" u="none" cap="none" strike="noStrike">
                <a:solidFill>
                  <a:srgbClr val="667085"/>
                </a:solidFill>
                <a:latin typeface="Arial"/>
                <a:ea typeface="Arial"/>
                <a:cs typeface="Arial"/>
                <a:sym typeface="Arial"/>
              </a:rPr>
              <a:t>Dummy baseline recall</a:t>
            </a:r>
            <a:endParaRPr b="0" i="0" sz="1400" u="none" cap="none" strike="noStrike">
              <a:solidFill>
                <a:schemeClr val="dk1"/>
              </a:solidFill>
              <a:latin typeface="Arial"/>
              <a:ea typeface="Arial"/>
              <a:cs typeface="Arial"/>
              <a:sym typeface="Arial"/>
            </a:endParaRPr>
          </a:p>
        </p:txBody>
      </p:sp>
      <p:sp>
        <p:nvSpPr>
          <p:cNvPr id="117" name="Google Shape;117;p7"/>
          <p:cNvSpPr/>
          <p:nvPr/>
        </p:nvSpPr>
        <p:spPr>
          <a:xfrm>
            <a:off x="6355080" y="3456432"/>
            <a:ext cx="429768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The dummy predicts “No churn” for everyone.</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Great accuracy. Completely useless for finding churners.</a:t>
            </a:r>
            <a:endParaRPr b="0" i="0" sz="1600" u="none" cap="none" strike="noStrike">
              <a:solidFill>
                <a:schemeClr val="dk1"/>
              </a:solidFill>
              <a:latin typeface="Arial"/>
              <a:ea typeface="Arial"/>
              <a:cs typeface="Arial"/>
              <a:sym typeface="Arial"/>
            </a:endParaRPr>
          </a:p>
        </p:txBody>
      </p:sp>
      <p:sp>
        <p:nvSpPr>
          <p:cNvPr id="118" name="Google Shape;118;p7"/>
          <p:cNvSpPr/>
          <p:nvPr/>
        </p:nvSpPr>
        <p:spPr>
          <a:xfrm>
            <a:off x="6355080" y="4572000"/>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Same 5-fold stratified CV used for every model</a:t>
            </a:r>
            <a:endParaRPr b="0" i="0" sz="1100" u="none" cap="none" strike="noStrike">
              <a:solidFill>
                <a:schemeClr val="dk1"/>
              </a:solidFill>
              <a:latin typeface="Arial"/>
              <a:ea typeface="Arial"/>
              <a:cs typeface="Arial"/>
              <a:sym typeface="Arial"/>
            </a:endParaRPr>
          </a:p>
        </p:txBody>
      </p:sp>
      <p:sp>
        <p:nvSpPr>
          <p:cNvPr id="119" name="Google Shape;119;p7"/>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4 · WHAT I TRIED</a:t>
            </a:r>
            <a:endParaRPr b="0" i="0" sz="1000" u="none" cap="none" strike="noStrike">
              <a:solidFill>
                <a:schemeClr val="dk1"/>
              </a:solidFill>
              <a:latin typeface="Arial"/>
              <a:ea typeface="Arial"/>
              <a:cs typeface="Arial"/>
              <a:sym typeface="Arial"/>
            </a:endParaRPr>
          </a:p>
        </p:txBody>
      </p:sp>
      <p:sp>
        <p:nvSpPr>
          <p:cNvPr id="126" name="Google Shape;126;p8"/>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Three model families. Same folds.</a:t>
            </a:r>
            <a:endParaRPr b="0" i="0" sz="2700" u="none" cap="none" strike="noStrike">
              <a:solidFill>
                <a:schemeClr val="dk1"/>
              </a:solidFill>
              <a:latin typeface="Arial"/>
              <a:ea typeface="Arial"/>
              <a:cs typeface="Arial"/>
              <a:sym typeface="Arial"/>
            </a:endParaRPr>
          </a:p>
        </p:txBody>
      </p:sp>
      <p:sp>
        <p:nvSpPr>
          <p:cNvPr id="127" name="Google Shape;127;p8"/>
          <p:cNvSpPr/>
          <p:nvPr/>
        </p:nvSpPr>
        <p:spPr>
          <a:xfrm>
            <a:off x="9738360" y="1170432"/>
            <a:ext cx="13716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Mean CV recall</a:t>
            </a:r>
            <a:endParaRPr b="0" i="0" sz="1100" u="none" cap="none" strike="noStrike">
              <a:solidFill>
                <a:schemeClr val="dk1"/>
              </a:solidFill>
              <a:latin typeface="Arial"/>
              <a:ea typeface="Arial"/>
              <a:cs typeface="Arial"/>
              <a:sym typeface="Arial"/>
            </a:endParaRPr>
          </a:p>
        </p:txBody>
      </p:sp>
      <p:sp>
        <p:nvSpPr>
          <p:cNvPr id="128" name="Google Shape;128;p8"/>
          <p:cNvSpPr/>
          <p:nvPr/>
        </p:nvSpPr>
        <p:spPr>
          <a:xfrm>
            <a:off x="777240" y="1645920"/>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1" i="0" lang="en-US" sz="1600" u="none" cap="none" strike="noStrike">
                <a:solidFill>
                  <a:srgbClr val="101828"/>
                </a:solidFill>
                <a:latin typeface="Arial"/>
                <a:ea typeface="Arial"/>
                <a:cs typeface="Arial"/>
                <a:sym typeface="Arial"/>
              </a:rPr>
              <a:t>Logistic Regression</a:t>
            </a:r>
            <a:endParaRPr b="0" i="0" sz="1600" u="none" cap="none" strike="noStrike">
              <a:solidFill>
                <a:schemeClr val="dk1"/>
              </a:solidFill>
              <a:latin typeface="Arial"/>
              <a:ea typeface="Arial"/>
              <a:cs typeface="Arial"/>
              <a:sym typeface="Arial"/>
            </a:endParaRPr>
          </a:p>
        </p:txBody>
      </p:sp>
      <p:sp>
        <p:nvSpPr>
          <p:cNvPr id="129" name="Google Shape;129;p8"/>
          <p:cNvSpPr/>
          <p:nvPr/>
        </p:nvSpPr>
        <p:spPr>
          <a:xfrm>
            <a:off x="3749040" y="1572768"/>
            <a:ext cx="6812280" cy="438912"/>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3749040" y="1572768"/>
            <a:ext cx="5699258" cy="438912"/>
          </a:xfrm>
          <a:prstGeom prst="roundRect">
            <a:avLst>
              <a:gd fmla="val 12500" name="adj"/>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0287000" y="1645920"/>
            <a:ext cx="7772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0.544</a:t>
            </a:r>
            <a:endParaRPr b="0" i="0" sz="1500" u="none" cap="none" strike="noStrike">
              <a:solidFill>
                <a:schemeClr val="dk1"/>
              </a:solidFill>
              <a:latin typeface="Arial"/>
              <a:ea typeface="Arial"/>
              <a:cs typeface="Arial"/>
              <a:sym typeface="Arial"/>
            </a:endParaRPr>
          </a:p>
        </p:txBody>
      </p:sp>
      <p:sp>
        <p:nvSpPr>
          <p:cNvPr id="132" name="Google Shape;132;p8"/>
          <p:cNvSpPr/>
          <p:nvPr/>
        </p:nvSpPr>
        <p:spPr>
          <a:xfrm>
            <a:off x="777240" y="2633472"/>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Decision Tree</a:t>
            </a:r>
            <a:endParaRPr b="0" i="0" sz="1600" u="none" cap="none" strike="noStrike">
              <a:solidFill>
                <a:schemeClr val="dk1"/>
              </a:solidFill>
              <a:latin typeface="Arial"/>
              <a:ea typeface="Arial"/>
              <a:cs typeface="Arial"/>
              <a:sym typeface="Arial"/>
            </a:endParaRPr>
          </a:p>
        </p:txBody>
      </p:sp>
      <p:sp>
        <p:nvSpPr>
          <p:cNvPr id="133" name="Google Shape;133;p8"/>
          <p:cNvSpPr/>
          <p:nvPr/>
        </p:nvSpPr>
        <p:spPr>
          <a:xfrm>
            <a:off x="3749040" y="2560320"/>
            <a:ext cx="6812280" cy="438912"/>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749040" y="2560320"/>
            <a:ext cx="5243360" cy="438912"/>
          </a:xfrm>
          <a:prstGeom prst="roundRect">
            <a:avLst>
              <a:gd fmla="val 12500" name="adj"/>
            </a:avLst>
          </a:prstGeom>
          <a:solidFill>
            <a:srgbClr val="175CD3"/>
          </a:solidFill>
          <a:ln cap="flat" cmpd="sng" w="12700">
            <a:solidFill>
              <a:srgbClr val="175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10287000" y="2633472"/>
            <a:ext cx="7772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0.500</a:t>
            </a:r>
            <a:endParaRPr b="0" i="0" sz="1500" u="none" cap="none" strike="noStrike">
              <a:solidFill>
                <a:schemeClr val="dk1"/>
              </a:solidFill>
              <a:latin typeface="Arial"/>
              <a:ea typeface="Arial"/>
              <a:cs typeface="Arial"/>
              <a:sym typeface="Arial"/>
            </a:endParaRPr>
          </a:p>
        </p:txBody>
      </p:sp>
      <p:sp>
        <p:nvSpPr>
          <p:cNvPr id="136" name="Google Shape;136;p8"/>
          <p:cNvSpPr/>
          <p:nvPr/>
        </p:nvSpPr>
        <p:spPr>
          <a:xfrm>
            <a:off x="777240" y="3621024"/>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Random Forest</a:t>
            </a:r>
            <a:endParaRPr b="0" i="0" sz="1600" u="none" cap="none" strike="noStrike">
              <a:solidFill>
                <a:schemeClr val="dk1"/>
              </a:solidFill>
              <a:latin typeface="Arial"/>
              <a:ea typeface="Arial"/>
              <a:cs typeface="Arial"/>
              <a:sym typeface="Arial"/>
            </a:endParaRPr>
          </a:p>
        </p:txBody>
      </p:sp>
      <p:sp>
        <p:nvSpPr>
          <p:cNvPr id="137" name="Google Shape;137;p8"/>
          <p:cNvSpPr/>
          <p:nvPr/>
        </p:nvSpPr>
        <p:spPr>
          <a:xfrm>
            <a:off x="3749040" y="3547872"/>
            <a:ext cx="6812280" cy="438912"/>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3749040" y="3547872"/>
            <a:ext cx="5089297" cy="438912"/>
          </a:xfrm>
          <a:prstGeom prst="roundRect">
            <a:avLst>
              <a:gd fmla="val 1250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10287000" y="3621024"/>
            <a:ext cx="7772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0.486</a:t>
            </a:r>
            <a:endParaRPr b="0" i="0" sz="1500" u="none" cap="none" strike="noStrike">
              <a:solidFill>
                <a:schemeClr val="dk1"/>
              </a:solidFill>
              <a:latin typeface="Arial"/>
              <a:ea typeface="Arial"/>
              <a:cs typeface="Arial"/>
              <a:sym typeface="Arial"/>
            </a:endParaRPr>
          </a:p>
        </p:txBody>
      </p:sp>
      <p:sp>
        <p:nvSpPr>
          <p:cNvPr id="140" name="Google Shape;140;p8"/>
          <p:cNvSpPr/>
          <p:nvPr/>
        </p:nvSpPr>
        <p:spPr>
          <a:xfrm>
            <a:off x="777240" y="460857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Dummy baseline</a:t>
            </a:r>
            <a:endParaRPr b="0" i="0" sz="1600" u="none" cap="none" strike="noStrike">
              <a:solidFill>
                <a:schemeClr val="dk1"/>
              </a:solidFill>
              <a:latin typeface="Arial"/>
              <a:ea typeface="Arial"/>
              <a:cs typeface="Arial"/>
              <a:sym typeface="Arial"/>
            </a:endParaRPr>
          </a:p>
        </p:txBody>
      </p:sp>
      <p:sp>
        <p:nvSpPr>
          <p:cNvPr id="141" name="Google Shape;141;p8"/>
          <p:cNvSpPr/>
          <p:nvPr/>
        </p:nvSpPr>
        <p:spPr>
          <a:xfrm>
            <a:off x="3749040" y="4535424"/>
            <a:ext cx="6812280" cy="438912"/>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0287000" y="4608576"/>
            <a:ext cx="7772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0.000</a:t>
            </a:r>
            <a:endParaRPr b="0" i="0" sz="1500" u="none" cap="none" strike="noStrike">
              <a:solidFill>
                <a:schemeClr val="dk1"/>
              </a:solidFill>
              <a:latin typeface="Arial"/>
              <a:ea typeface="Arial"/>
              <a:cs typeface="Arial"/>
              <a:sym typeface="Arial"/>
            </a:endParaRPr>
          </a:p>
        </p:txBody>
      </p:sp>
      <p:sp>
        <p:nvSpPr>
          <p:cNvPr id="143" name="Google Shape;143;p8"/>
          <p:cNvSpPr/>
          <p:nvPr/>
        </p:nvSpPr>
        <p:spPr>
          <a:xfrm>
            <a:off x="777240" y="5486400"/>
            <a:ext cx="10332720" cy="603504"/>
          </a:xfrm>
          <a:prstGeom prst="roundRect">
            <a:avLst>
              <a:gd fmla="val 15152"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1051560" y="5669280"/>
            <a:ext cx="98298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600"/>
              <a:buFont typeface="Arial"/>
              <a:buNone/>
            </a:pPr>
            <a:r>
              <a:rPr b="1" i="0" lang="en-US" sz="1600" u="none" cap="none" strike="noStrike">
                <a:solidFill>
                  <a:srgbClr val="115E59"/>
                </a:solidFill>
                <a:latin typeface="Arial"/>
                <a:ea typeface="Arial"/>
                <a:cs typeface="Arial"/>
                <a:sym typeface="Arial"/>
              </a:rPr>
              <a:t>Winner before tuning: Logistic Regression · simple, strongest recall, easy to explain</a:t>
            </a:r>
            <a:endParaRPr b="0" i="0" sz="1600" u="none" cap="none" strike="noStrike">
              <a:solidFill>
                <a:schemeClr val="dk1"/>
              </a:solidFill>
              <a:latin typeface="Arial"/>
              <a:ea typeface="Arial"/>
              <a:cs typeface="Arial"/>
              <a:sym typeface="Arial"/>
            </a:endParaRPr>
          </a:p>
        </p:txBody>
      </p:sp>
      <p:sp>
        <p:nvSpPr>
          <p:cNvPr id="145" name="Google Shape;145;p8"/>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5 · FINAL MODEL</a:t>
            </a:r>
            <a:endParaRPr b="0" i="0" sz="1000" u="none" cap="none" strike="noStrike">
              <a:solidFill>
                <a:schemeClr val="dk1"/>
              </a:solidFill>
              <a:latin typeface="Arial"/>
              <a:ea typeface="Arial"/>
              <a:cs typeface="Arial"/>
              <a:sym typeface="Arial"/>
            </a:endParaRPr>
          </a:p>
        </p:txBody>
      </p:sp>
      <p:sp>
        <p:nvSpPr>
          <p:cNvPr id="152" name="Google Shape;152;p9"/>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Tuning changed the picture</a:t>
            </a:r>
            <a:endParaRPr b="0" i="0" sz="2700" u="none" cap="none" strike="noStrike">
              <a:solidFill>
                <a:schemeClr val="dk1"/>
              </a:solidFill>
              <a:latin typeface="Arial"/>
              <a:ea typeface="Arial"/>
              <a:cs typeface="Arial"/>
              <a:sym typeface="Arial"/>
            </a:endParaRPr>
          </a:p>
        </p:txBody>
      </p:sp>
      <p:sp>
        <p:nvSpPr>
          <p:cNvPr id="153" name="Google Shape;153;p9"/>
          <p:cNvSpPr/>
          <p:nvPr/>
        </p:nvSpPr>
        <p:spPr>
          <a:xfrm>
            <a:off x="731520" y="1417320"/>
            <a:ext cx="233172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731520" y="1417320"/>
            <a:ext cx="54864" cy="1115568"/>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932688" y="1581912"/>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0.801</a:t>
            </a:r>
            <a:endParaRPr b="0" i="0" sz="2500" u="none" cap="none" strike="noStrike">
              <a:solidFill>
                <a:schemeClr val="dk1"/>
              </a:solidFill>
              <a:latin typeface="Arial"/>
              <a:ea typeface="Arial"/>
              <a:cs typeface="Arial"/>
              <a:sym typeface="Arial"/>
            </a:endParaRPr>
          </a:p>
        </p:txBody>
      </p:sp>
      <p:sp>
        <p:nvSpPr>
          <p:cNvPr id="156" name="Google Shape;156;p9"/>
          <p:cNvSpPr/>
          <p:nvPr/>
        </p:nvSpPr>
        <p:spPr>
          <a:xfrm>
            <a:off x="932688" y="2020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CV recall</a:t>
            </a:r>
            <a:endParaRPr b="0" i="0" sz="1100" u="none" cap="none" strike="noStrike">
              <a:solidFill>
                <a:schemeClr val="dk1"/>
              </a:solidFill>
              <a:latin typeface="Arial"/>
              <a:ea typeface="Arial"/>
              <a:cs typeface="Arial"/>
              <a:sym typeface="Arial"/>
            </a:endParaRPr>
          </a:p>
        </p:txBody>
      </p:sp>
      <p:sp>
        <p:nvSpPr>
          <p:cNvPr id="157" name="Google Shape;157;p9"/>
          <p:cNvSpPr/>
          <p:nvPr/>
        </p:nvSpPr>
        <p:spPr>
          <a:xfrm>
            <a:off x="932688" y="2267712"/>
            <a:ext cx="20116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5-fold spread ± 0.038</a:t>
            </a:r>
            <a:endParaRPr b="0" i="0" sz="900" u="none" cap="none" strike="noStrike">
              <a:solidFill>
                <a:schemeClr val="dk1"/>
              </a:solidFill>
              <a:latin typeface="Arial"/>
              <a:ea typeface="Arial"/>
              <a:cs typeface="Arial"/>
              <a:sym typeface="Arial"/>
            </a:endParaRPr>
          </a:p>
        </p:txBody>
      </p:sp>
      <p:sp>
        <p:nvSpPr>
          <p:cNvPr id="158" name="Google Shape;158;p9"/>
          <p:cNvSpPr/>
          <p:nvPr/>
        </p:nvSpPr>
        <p:spPr>
          <a:xfrm>
            <a:off x="3291840" y="1417320"/>
            <a:ext cx="233172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3291840" y="1417320"/>
            <a:ext cx="54864" cy="1115568"/>
          </a:xfrm>
          <a:prstGeom prst="rect">
            <a:avLst/>
          </a:prstGeom>
          <a:solidFill>
            <a:srgbClr val="067647"/>
          </a:solidFill>
          <a:ln cap="flat" cmpd="sng" w="12700">
            <a:solidFill>
              <a:srgbClr val="0676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3493008" y="1581912"/>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0.783</a:t>
            </a:r>
            <a:endParaRPr b="0" i="0" sz="2500" u="none" cap="none" strike="noStrike">
              <a:solidFill>
                <a:schemeClr val="dk1"/>
              </a:solidFill>
              <a:latin typeface="Arial"/>
              <a:ea typeface="Arial"/>
              <a:cs typeface="Arial"/>
              <a:sym typeface="Arial"/>
            </a:endParaRPr>
          </a:p>
        </p:txBody>
      </p:sp>
      <p:sp>
        <p:nvSpPr>
          <p:cNvPr id="161" name="Google Shape;161;p9"/>
          <p:cNvSpPr/>
          <p:nvPr/>
        </p:nvSpPr>
        <p:spPr>
          <a:xfrm>
            <a:off x="3493008" y="2020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Test recall</a:t>
            </a:r>
            <a:endParaRPr b="0" i="0" sz="1100" u="none" cap="none" strike="noStrike">
              <a:solidFill>
                <a:schemeClr val="dk1"/>
              </a:solidFill>
              <a:latin typeface="Arial"/>
              <a:ea typeface="Arial"/>
              <a:cs typeface="Arial"/>
              <a:sym typeface="Arial"/>
            </a:endParaRPr>
          </a:p>
        </p:txBody>
      </p:sp>
      <p:sp>
        <p:nvSpPr>
          <p:cNvPr id="162" name="Google Shape;162;p9"/>
          <p:cNvSpPr/>
          <p:nvPr/>
        </p:nvSpPr>
        <p:spPr>
          <a:xfrm>
            <a:off x="3493008" y="2267712"/>
            <a:ext cx="20116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only 0.018 below CV</a:t>
            </a:r>
            <a:endParaRPr b="0" i="0" sz="900" u="none" cap="none" strike="noStrike">
              <a:solidFill>
                <a:schemeClr val="dk1"/>
              </a:solidFill>
              <a:latin typeface="Arial"/>
              <a:ea typeface="Arial"/>
              <a:cs typeface="Arial"/>
              <a:sym typeface="Arial"/>
            </a:endParaRPr>
          </a:p>
        </p:txBody>
      </p:sp>
      <p:sp>
        <p:nvSpPr>
          <p:cNvPr id="163" name="Google Shape;163;p9"/>
          <p:cNvSpPr/>
          <p:nvPr/>
        </p:nvSpPr>
        <p:spPr>
          <a:xfrm>
            <a:off x="5852160" y="1417320"/>
            <a:ext cx="233172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5852160" y="1417320"/>
            <a:ext cx="54864" cy="1115568"/>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6053328" y="1581912"/>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0.504</a:t>
            </a:r>
            <a:endParaRPr b="0" i="0" sz="2500" u="none" cap="none" strike="noStrike">
              <a:solidFill>
                <a:schemeClr val="dk1"/>
              </a:solidFill>
              <a:latin typeface="Arial"/>
              <a:ea typeface="Arial"/>
              <a:cs typeface="Arial"/>
              <a:sym typeface="Arial"/>
            </a:endParaRPr>
          </a:p>
        </p:txBody>
      </p:sp>
      <p:sp>
        <p:nvSpPr>
          <p:cNvPr id="166" name="Google Shape;166;p9"/>
          <p:cNvSpPr/>
          <p:nvPr/>
        </p:nvSpPr>
        <p:spPr>
          <a:xfrm>
            <a:off x="6053328" y="2020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Precision</a:t>
            </a:r>
            <a:endParaRPr b="0" i="0" sz="1100" u="none" cap="none" strike="noStrike">
              <a:solidFill>
                <a:schemeClr val="dk1"/>
              </a:solidFill>
              <a:latin typeface="Arial"/>
              <a:ea typeface="Arial"/>
              <a:cs typeface="Arial"/>
              <a:sym typeface="Arial"/>
            </a:endParaRPr>
          </a:p>
        </p:txBody>
      </p:sp>
      <p:sp>
        <p:nvSpPr>
          <p:cNvPr id="167" name="Google Shape;167;p9"/>
          <p:cNvSpPr/>
          <p:nvPr/>
        </p:nvSpPr>
        <p:spPr>
          <a:xfrm>
            <a:off x="6053328" y="2267712"/>
            <a:ext cx="20116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about half of flags churn</a:t>
            </a:r>
            <a:endParaRPr b="0" i="0" sz="900" u="none" cap="none" strike="noStrike">
              <a:solidFill>
                <a:schemeClr val="dk1"/>
              </a:solidFill>
              <a:latin typeface="Arial"/>
              <a:ea typeface="Arial"/>
              <a:cs typeface="Arial"/>
              <a:sym typeface="Arial"/>
            </a:endParaRPr>
          </a:p>
        </p:txBody>
      </p:sp>
      <p:sp>
        <p:nvSpPr>
          <p:cNvPr id="168" name="Google Shape;168;p9"/>
          <p:cNvSpPr/>
          <p:nvPr/>
        </p:nvSpPr>
        <p:spPr>
          <a:xfrm>
            <a:off x="8412480" y="1417320"/>
            <a:ext cx="2331720" cy="1115568"/>
          </a:xfrm>
          <a:prstGeom prst="roundRect">
            <a:avLst>
              <a:gd fmla="val 655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8412480" y="1417320"/>
            <a:ext cx="54864" cy="1115568"/>
          </a:xfrm>
          <a:prstGeom prst="rect">
            <a:avLst/>
          </a:prstGeom>
          <a:solidFill>
            <a:srgbClr val="175CD3"/>
          </a:solidFill>
          <a:ln cap="flat" cmpd="sng" w="12700">
            <a:solidFill>
              <a:srgbClr val="175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8613648" y="1581912"/>
            <a:ext cx="20116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500"/>
              <a:buFont typeface="Arial"/>
              <a:buNone/>
            </a:pPr>
            <a:r>
              <a:rPr b="1" i="0" lang="en-US" sz="2500" u="none" cap="none" strike="noStrike">
                <a:solidFill>
                  <a:srgbClr val="101828"/>
                </a:solidFill>
                <a:latin typeface="Arial"/>
                <a:ea typeface="Arial"/>
                <a:cs typeface="Arial"/>
                <a:sym typeface="Arial"/>
              </a:rPr>
              <a:t>0.614</a:t>
            </a:r>
            <a:endParaRPr b="0" i="0" sz="2500" u="none" cap="none" strike="noStrike">
              <a:solidFill>
                <a:schemeClr val="dk1"/>
              </a:solidFill>
              <a:latin typeface="Arial"/>
              <a:ea typeface="Arial"/>
              <a:cs typeface="Arial"/>
              <a:sym typeface="Arial"/>
            </a:endParaRPr>
          </a:p>
        </p:txBody>
      </p:sp>
      <p:sp>
        <p:nvSpPr>
          <p:cNvPr id="171" name="Google Shape;171;p9"/>
          <p:cNvSpPr/>
          <p:nvPr/>
        </p:nvSpPr>
        <p:spPr>
          <a:xfrm>
            <a:off x="8613648" y="2020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1" i="0" lang="en-US" sz="1100" u="none" cap="none" strike="noStrike">
                <a:solidFill>
                  <a:srgbClr val="667085"/>
                </a:solidFill>
                <a:latin typeface="Arial"/>
                <a:ea typeface="Arial"/>
                <a:cs typeface="Arial"/>
                <a:sym typeface="Arial"/>
              </a:rPr>
              <a:t>F1</a:t>
            </a:r>
            <a:endParaRPr b="0" i="0" sz="1100" u="none" cap="none" strike="noStrike">
              <a:solidFill>
                <a:schemeClr val="dk1"/>
              </a:solidFill>
              <a:latin typeface="Arial"/>
              <a:ea typeface="Arial"/>
              <a:cs typeface="Arial"/>
              <a:sym typeface="Arial"/>
            </a:endParaRPr>
          </a:p>
        </p:txBody>
      </p:sp>
      <p:sp>
        <p:nvSpPr>
          <p:cNvPr id="172" name="Google Shape;172;p9"/>
          <p:cNvSpPr/>
          <p:nvPr/>
        </p:nvSpPr>
        <p:spPr>
          <a:xfrm>
            <a:off x="8613648" y="2267712"/>
            <a:ext cx="20116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00"/>
              <a:buFont typeface="Arial"/>
              <a:buNone/>
            </a:pPr>
            <a:r>
              <a:rPr b="0" i="0" lang="en-US" sz="900" u="none" cap="none" strike="noStrike">
                <a:solidFill>
                  <a:srgbClr val="667085"/>
                </a:solidFill>
                <a:latin typeface="Arial"/>
                <a:ea typeface="Arial"/>
                <a:cs typeface="Arial"/>
                <a:sym typeface="Arial"/>
              </a:rPr>
              <a:t>precision/recall balance</a:t>
            </a:r>
            <a:endParaRPr b="0" i="0" sz="900" u="none" cap="none" strike="noStrike">
              <a:solidFill>
                <a:schemeClr val="dk1"/>
              </a:solidFill>
              <a:latin typeface="Arial"/>
              <a:ea typeface="Arial"/>
              <a:cs typeface="Arial"/>
              <a:sym typeface="Arial"/>
            </a:endParaRPr>
          </a:p>
        </p:txBody>
      </p:sp>
      <p:sp>
        <p:nvSpPr>
          <p:cNvPr id="173" name="Google Shape;173;p9"/>
          <p:cNvSpPr/>
          <p:nvPr/>
        </p:nvSpPr>
        <p:spPr>
          <a:xfrm>
            <a:off x="731520" y="2971800"/>
            <a:ext cx="5029200" cy="2103120"/>
          </a:xfrm>
          <a:prstGeom prst="roundRect">
            <a:avLst>
              <a:gd fmla="val 5217"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1051560" y="333756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400"/>
              <a:buFont typeface="Arial"/>
              <a:buNone/>
            </a:pPr>
            <a:r>
              <a:rPr b="1" i="0" lang="en-US" sz="1400" u="none" cap="none" strike="noStrike">
                <a:solidFill>
                  <a:srgbClr val="667085"/>
                </a:solidFill>
                <a:latin typeface="Arial"/>
                <a:ea typeface="Arial"/>
                <a:cs typeface="Arial"/>
                <a:sym typeface="Arial"/>
              </a:rPr>
              <a:t>Chosen model</a:t>
            </a:r>
            <a:endParaRPr b="0" i="0" sz="1400" u="none" cap="none" strike="noStrike">
              <a:solidFill>
                <a:schemeClr val="dk1"/>
              </a:solidFill>
              <a:latin typeface="Arial"/>
              <a:ea typeface="Arial"/>
              <a:cs typeface="Arial"/>
              <a:sym typeface="Arial"/>
            </a:endParaRPr>
          </a:p>
        </p:txBody>
      </p:sp>
      <p:sp>
        <p:nvSpPr>
          <p:cNvPr id="175" name="Google Shape;175;p9"/>
          <p:cNvSpPr/>
          <p:nvPr/>
        </p:nvSpPr>
        <p:spPr>
          <a:xfrm>
            <a:off x="1051560" y="3730752"/>
            <a:ext cx="3291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Logistic Regression</a:t>
            </a:r>
            <a:endParaRPr b="0" i="0" sz="2700" u="none" cap="none" strike="noStrike">
              <a:solidFill>
                <a:schemeClr val="dk1"/>
              </a:solidFill>
              <a:latin typeface="Arial"/>
              <a:ea typeface="Arial"/>
              <a:cs typeface="Arial"/>
              <a:sym typeface="Arial"/>
            </a:endParaRPr>
          </a:p>
        </p:txBody>
      </p:sp>
      <p:sp>
        <p:nvSpPr>
          <p:cNvPr id="176" name="Google Shape;176;p9"/>
          <p:cNvSpPr/>
          <p:nvPr/>
        </p:nvSpPr>
        <p:spPr>
          <a:xfrm>
            <a:off x="1051560" y="4370832"/>
            <a:ext cx="1051560" cy="384048"/>
          </a:xfrm>
          <a:prstGeom prst="roundRect">
            <a:avLst>
              <a:gd fmla="val 19048" name="adj"/>
            </a:avLst>
          </a:prstGeom>
          <a:solidFill>
            <a:srgbClr val="F2F4F7"/>
          </a:solidFill>
          <a:ln cap="flat" cmpd="sng" w="12700">
            <a:solidFill>
              <a:srgbClr val="F2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1124712" y="4434840"/>
            <a:ext cx="90525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100"/>
              <a:buFont typeface="Arial"/>
              <a:buNone/>
            </a:pPr>
            <a:r>
              <a:rPr b="1" i="0" lang="en-US" sz="1100" u="none" cap="none" strike="noStrike">
                <a:solidFill>
                  <a:srgbClr val="101828"/>
                </a:solidFill>
                <a:latin typeface="Arial"/>
                <a:ea typeface="Arial"/>
                <a:cs typeface="Arial"/>
                <a:sym typeface="Arial"/>
              </a:rPr>
              <a:t>C = 1</a:t>
            </a:r>
            <a:endParaRPr b="0" i="0" sz="1100" u="none" cap="none" strike="noStrike">
              <a:solidFill>
                <a:schemeClr val="dk1"/>
              </a:solidFill>
              <a:latin typeface="Arial"/>
              <a:ea typeface="Arial"/>
              <a:cs typeface="Arial"/>
              <a:sym typeface="Arial"/>
            </a:endParaRPr>
          </a:p>
        </p:txBody>
      </p:sp>
      <p:sp>
        <p:nvSpPr>
          <p:cNvPr id="178" name="Google Shape;178;p9"/>
          <p:cNvSpPr/>
          <p:nvPr/>
        </p:nvSpPr>
        <p:spPr>
          <a:xfrm>
            <a:off x="2240280" y="4370832"/>
            <a:ext cx="2331720" cy="384048"/>
          </a:xfrm>
          <a:prstGeom prst="roundRect">
            <a:avLst>
              <a:gd fmla="val 19048" name="adj"/>
            </a:avLst>
          </a:prstGeom>
          <a:solidFill>
            <a:srgbClr val="F2F4F7"/>
          </a:solidFill>
          <a:ln cap="flat" cmpd="sng" w="12700">
            <a:solidFill>
              <a:srgbClr val="F2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2313432" y="4434840"/>
            <a:ext cx="218541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100"/>
              <a:buFont typeface="Arial"/>
              <a:buNone/>
            </a:pPr>
            <a:r>
              <a:rPr b="1" i="0" lang="en-US" sz="1100" u="none" cap="none" strike="noStrike">
                <a:solidFill>
                  <a:srgbClr val="101828"/>
                </a:solidFill>
                <a:latin typeface="Arial"/>
                <a:ea typeface="Arial"/>
                <a:cs typeface="Arial"/>
                <a:sym typeface="Arial"/>
              </a:rPr>
              <a:t>class_weight = balanced</a:t>
            </a:r>
            <a:endParaRPr b="0" i="0" sz="1100" u="none" cap="none" strike="noStrike">
              <a:solidFill>
                <a:schemeClr val="dk1"/>
              </a:solidFill>
              <a:latin typeface="Arial"/>
              <a:ea typeface="Arial"/>
              <a:cs typeface="Arial"/>
              <a:sym typeface="Arial"/>
            </a:endParaRPr>
          </a:p>
        </p:txBody>
      </p:sp>
      <p:sp>
        <p:nvSpPr>
          <p:cNvPr id="180" name="Google Shape;180;p9"/>
          <p:cNvSpPr/>
          <p:nvPr/>
        </p:nvSpPr>
        <p:spPr>
          <a:xfrm>
            <a:off x="6217920" y="2971800"/>
            <a:ext cx="4937760" cy="2103120"/>
          </a:xfrm>
          <a:prstGeom prst="roundRect">
            <a:avLst>
              <a:gd fmla="val 5217" name="adj"/>
            </a:avLst>
          </a:prstGeom>
          <a:solidFill>
            <a:srgbClr val="F2F4F7"/>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6537960" y="3337560"/>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400"/>
              <a:buFont typeface="Arial"/>
              <a:buNone/>
            </a:pPr>
            <a:r>
              <a:rPr b="1" i="0" lang="en-US" sz="1400" u="none" cap="none" strike="noStrike">
                <a:solidFill>
                  <a:srgbClr val="667085"/>
                </a:solidFill>
                <a:latin typeface="Arial"/>
                <a:ea typeface="Arial"/>
                <a:cs typeface="Arial"/>
                <a:sym typeface="Arial"/>
              </a:rPr>
              <a:t>Threshold</a:t>
            </a:r>
            <a:endParaRPr b="0" i="0" sz="1400" u="none" cap="none" strike="noStrike">
              <a:solidFill>
                <a:schemeClr val="dk1"/>
              </a:solidFill>
              <a:latin typeface="Arial"/>
              <a:ea typeface="Arial"/>
              <a:cs typeface="Arial"/>
              <a:sym typeface="Arial"/>
            </a:endParaRPr>
          </a:p>
        </p:txBody>
      </p:sp>
      <p:sp>
        <p:nvSpPr>
          <p:cNvPr id="182" name="Google Shape;182;p9"/>
          <p:cNvSpPr/>
          <p:nvPr/>
        </p:nvSpPr>
        <p:spPr>
          <a:xfrm>
            <a:off x="6537960" y="3675888"/>
            <a:ext cx="1417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3300"/>
              <a:buFont typeface="Arial"/>
              <a:buNone/>
            </a:pPr>
            <a:r>
              <a:rPr b="1" i="0" lang="en-US" sz="3300" u="none" cap="none" strike="noStrike">
                <a:solidFill>
                  <a:srgbClr val="101828"/>
                </a:solidFill>
                <a:latin typeface="Arial"/>
                <a:ea typeface="Arial"/>
                <a:cs typeface="Arial"/>
                <a:sym typeface="Arial"/>
              </a:rPr>
              <a:t>0.50</a:t>
            </a:r>
            <a:endParaRPr b="0" i="0" sz="3300" u="none" cap="none" strike="noStrike">
              <a:solidFill>
                <a:schemeClr val="dk1"/>
              </a:solidFill>
              <a:latin typeface="Arial"/>
              <a:ea typeface="Arial"/>
              <a:cs typeface="Arial"/>
              <a:sym typeface="Arial"/>
            </a:endParaRPr>
          </a:p>
        </p:txBody>
      </p:sp>
      <p:sp>
        <p:nvSpPr>
          <p:cNvPr id="183" name="Google Shape;183;p9"/>
          <p:cNvSpPr/>
          <p:nvPr/>
        </p:nvSpPr>
        <p:spPr>
          <a:xfrm>
            <a:off x="7955280" y="3502152"/>
            <a:ext cx="283464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0" i="0" lang="en-US" sz="1500" u="none" cap="none" strike="noStrike">
                <a:solidFill>
                  <a:srgbClr val="101828"/>
                </a:solidFill>
                <a:latin typeface="Arial"/>
                <a:ea typeface="Arial"/>
                <a:cs typeface="Arial"/>
                <a:sym typeface="Arial"/>
              </a:rPr>
              <a:t>I tested the precision/recall trade-off using cross-validated training probabilities. 0.50 already met the ≥80% recall target with the best precision.</a:t>
            </a:r>
            <a:endParaRPr b="0" i="0" sz="1500" u="none" cap="none" strike="noStrike">
              <a:solidFill>
                <a:schemeClr val="dk1"/>
              </a:solidFill>
              <a:latin typeface="Arial"/>
              <a:ea typeface="Arial"/>
              <a:cs typeface="Arial"/>
              <a:sym typeface="Arial"/>
            </a:endParaRPr>
          </a:p>
        </p:txBody>
      </p:sp>
      <p:sp>
        <p:nvSpPr>
          <p:cNvPr id="184" name="Google Shape;184;p9"/>
          <p:cNvSpPr/>
          <p:nvPr/>
        </p:nvSpPr>
        <p:spPr>
          <a:xfrm>
            <a:off x="777240" y="5605272"/>
            <a:ext cx="102412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400"/>
              <a:buFont typeface="Arial"/>
              <a:buNone/>
            </a:pPr>
            <a:r>
              <a:rPr b="1" i="0" lang="en-US" sz="1400" u="none" cap="none" strike="noStrike">
                <a:solidFill>
                  <a:srgbClr val="115E59"/>
                </a:solidFill>
                <a:latin typeface="Arial"/>
                <a:ea typeface="Arial"/>
                <a:cs typeface="Arial"/>
                <a:sym typeface="Arial"/>
              </a:rPr>
              <a:t>Untouched test set used once — after model + threshold were fixed.</a:t>
            </a:r>
            <a:endParaRPr b="0" i="0" sz="1400" u="none" cap="none" strike="noStrike">
              <a:solidFill>
                <a:schemeClr val="dk1"/>
              </a:solidFill>
              <a:latin typeface="Arial"/>
              <a:ea typeface="Arial"/>
              <a:cs typeface="Arial"/>
              <a:sym typeface="Arial"/>
            </a:endParaRPr>
          </a:p>
        </p:txBody>
      </p:sp>
      <p:sp>
        <p:nvSpPr>
          <p:cNvPr id="185" name="Google Shape;185;p9"/>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6 · WHERE IT GOES WRONG</a:t>
            </a:r>
            <a:endParaRPr b="0" i="0" sz="1000" u="none" cap="none" strike="noStrike">
              <a:solidFill>
                <a:schemeClr val="dk1"/>
              </a:solidFill>
              <a:latin typeface="Arial"/>
              <a:ea typeface="Arial"/>
              <a:cs typeface="Arial"/>
              <a:sym typeface="Arial"/>
            </a:endParaRPr>
          </a:p>
        </p:txBody>
      </p:sp>
      <p:sp>
        <p:nvSpPr>
          <p:cNvPr id="192" name="Google Shape;192;p10"/>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The mistakes are the trade-off</a:t>
            </a:r>
            <a:endParaRPr b="0" i="0" sz="2700" u="none" cap="none" strike="noStrike">
              <a:solidFill>
                <a:schemeClr val="dk1"/>
              </a:solidFill>
              <a:latin typeface="Arial"/>
              <a:ea typeface="Arial"/>
              <a:cs typeface="Arial"/>
              <a:sym typeface="Arial"/>
            </a:endParaRPr>
          </a:p>
        </p:txBody>
      </p:sp>
      <p:sp>
        <p:nvSpPr>
          <p:cNvPr id="193" name="Google Shape;193;p10"/>
          <p:cNvSpPr/>
          <p:nvPr/>
        </p:nvSpPr>
        <p:spPr>
          <a:xfrm>
            <a:off x="804672" y="1389888"/>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000"/>
              <a:buFont typeface="Arial"/>
              <a:buNone/>
            </a:pPr>
            <a:r>
              <a:rPr b="1" i="0" lang="en-US" sz="1000" u="none" cap="none" strike="noStrike">
                <a:solidFill>
                  <a:srgbClr val="667085"/>
                </a:solidFill>
                <a:latin typeface="Arial"/>
                <a:ea typeface="Arial"/>
                <a:cs typeface="Arial"/>
                <a:sym typeface="Arial"/>
              </a:rPr>
              <a:t>TRUE LABEL</a:t>
            </a:r>
            <a:endParaRPr b="0" i="0" sz="1000" u="none" cap="none" strike="noStrike">
              <a:solidFill>
                <a:schemeClr val="dk1"/>
              </a:solidFill>
              <a:latin typeface="Arial"/>
              <a:ea typeface="Arial"/>
              <a:cs typeface="Arial"/>
              <a:sym typeface="Arial"/>
            </a:endParaRPr>
          </a:p>
        </p:txBody>
      </p:sp>
      <p:sp>
        <p:nvSpPr>
          <p:cNvPr id="194" name="Google Shape;194;p10"/>
          <p:cNvSpPr/>
          <p:nvPr/>
        </p:nvSpPr>
        <p:spPr>
          <a:xfrm>
            <a:off x="3977640" y="1389888"/>
            <a:ext cx="18288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Predicted stay</a:t>
            </a:r>
            <a:endParaRPr b="0" i="0" sz="1200" u="none" cap="none" strike="noStrike">
              <a:solidFill>
                <a:schemeClr val="dk1"/>
              </a:solidFill>
              <a:latin typeface="Arial"/>
              <a:ea typeface="Arial"/>
              <a:cs typeface="Arial"/>
              <a:sym typeface="Arial"/>
            </a:endParaRPr>
          </a:p>
        </p:txBody>
      </p:sp>
      <p:sp>
        <p:nvSpPr>
          <p:cNvPr id="195" name="Google Shape;195;p10"/>
          <p:cNvSpPr/>
          <p:nvPr/>
        </p:nvSpPr>
        <p:spPr>
          <a:xfrm>
            <a:off x="6766560" y="1389888"/>
            <a:ext cx="18288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Predicted churn</a:t>
            </a:r>
            <a:endParaRPr b="0" i="0" sz="1200" u="none" cap="none" strike="noStrike">
              <a:solidFill>
                <a:schemeClr val="dk1"/>
              </a:solidFill>
              <a:latin typeface="Arial"/>
              <a:ea typeface="Arial"/>
              <a:cs typeface="Arial"/>
              <a:sym typeface="Arial"/>
            </a:endParaRPr>
          </a:p>
        </p:txBody>
      </p:sp>
      <p:sp>
        <p:nvSpPr>
          <p:cNvPr id="196" name="Google Shape;196;p10"/>
          <p:cNvSpPr/>
          <p:nvPr/>
        </p:nvSpPr>
        <p:spPr>
          <a:xfrm>
            <a:off x="804672" y="21488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Actually stayed</a:t>
            </a:r>
            <a:endParaRPr b="0" i="0" sz="1500" u="none" cap="none" strike="noStrike">
              <a:solidFill>
                <a:schemeClr val="dk1"/>
              </a:solidFill>
              <a:latin typeface="Arial"/>
              <a:ea typeface="Arial"/>
              <a:cs typeface="Arial"/>
              <a:sym typeface="Arial"/>
            </a:endParaRPr>
          </a:p>
        </p:txBody>
      </p:sp>
      <p:sp>
        <p:nvSpPr>
          <p:cNvPr id="197" name="Google Shape;197;p10"/>
          <p:cNvSpPr/>
          <p:nvPr/>
        </p:nvSpPr>
        <p:spPr>
          <a:xfrm>
            <a:off x="804672" y="3822192"/>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Actually churned</a:t>
            </a:r>
            <a:endParaRPr b="0" i="0" sz="1500" u="none" cap="none" strike="noStrike">
              <a:solidFill>
                <a:schemeClr val="dk1"/>
              </a:solidFill>
              <a:latin typeface="Arial"/>
              <a:ea typeface="Arial"/>
              <a:cs typeface="Arial"/>
              <a:sym typeface="Arial"/>
            </a:endParaRPr>
          </a:p>
        </p:txBody>
      </p:sp>
      <p:sp>
        <p:nvSpPr>
          <p:cNvPr id="198" name="Google Shape;198;p10"/>
          <p:cNvSpPr/>
          <p:nvPr/>
        </p:nvSpPr>
        <p:spPr>
          <a:xfrm>
            <a:off x="3429000" y="1828800"/>
            <a:ext cx="2377440" cy="1234440"/>
          </a:xfrm>
          <a:prstGeom prst="roundRect">
            <a:avLst>
              <a:gd fmla="val 8889" name="adj"/>
            </a:avLst>
          </a:prstGeom>
          <a:solidFill>
            <a:srgbClr val="E8F5EE"/>
          </a:solidFill>
          <a:ln cap="flat" cmpd="sng" w="12700">
            <a:solidFill>
              <a:srgbClr val="E8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3429000" y="1993392"/>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647"/>
              </a:buClr>
              <a:buSzPts val="3300"/>
              <a:buFont typeface="Arial"/>
              <a:buNone/>
            </a:pPr>
            <a:r>
              <a:rPr b="1" i="0" lang="en-US" sz="3300" u="none" cap="none" strike="noStrike">
                <a:solidFill>
                  <a:srgbClr val="067647"/>
                </a:solidFill>
                <a:latin typeface="Arial"/>
                <a:ea typeface="Arial"/>
                <a:cs typeface="Arial"/>
                <a:sym typeface="Arial"/>
              </a:rPr>
              <a:t>747</a:t>
            </a:r>
            <a:endParaRPr b="0" i="0" sz="3300" u="none" cap="none" strike="noStrike">
              <a:solidFill>
                <a:schemeClr val="dk1"/>
              </a:solidFill>
              <a:latin typeface="Arial"/>
              <a:ea typeface="Arial"/>
              <a:cs typeface="Arial"/>
              <a:sym typeface="Arial"/>
            </a:endParaRPr>
          </a:p>
        </p:txBody>
      </p:sp>
      <p:sp>
        <p:nvSpPr>
          <p:cNvPr id="200" name="Google Shape;200;p10"/>
          <p:cNvSpPr/>
          <p:nvPr/>
        </p:nvSpPr>
        <p:spPr>
          <a:xfrm>
            <a:off x="3429000" y="2542032"/>
            <a:ext cx="2377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200"/>
              <a:buFont typeface="Arial"/>
              <a:buNone/>
            </a:pPr>
            <a:r>
              <a:rPr b="1" i="0" lang="en-US" sz="1200" u="none" cap="none" strike="noStrike">
                <a:solidFill>
                  <a:srgbClr val="101828"/>
                </a:solidFill>
                <a:latin typeface="Arial"/>
                <a:ea typeface="Arial"/>
                <a:cs typeface="Arial"/>
                <a:sym typeface="Arial"/>
              </a:rPr>
              <a:t>correct stays</a:t>
            </a:r>
            <a:endParaRPr b="0" i="0" sz="1200" u="none" cap="none" strike="noStrike">
              <a:solidFill>
                <a:schemeClr val="dk1"/>
              </a:solidFill>
              <a:latin typeface="Arial"/>
              <a:ea typeface="Arial"/>
              <a:cs typeface="Arial"/>
              <a:sym typeface="Arial"/>
            </a:endParaRPr>
          </a:p>
        </p:txBody>
      </p:sp>
      <p:sp>
        <p:nvSpPr>
          <p:cNvPr id="201" name="Google Shape;201;p10"/>
          <p:cNvSpPr/>
          <p:nvPr/>
        </p:nvSpPr>
        <p:spPr>
          <a:xfrm>
            <a:off x="6217920" y="1828800"/>
            <a:ext cx="2377440" cy="1234440"/>
          </a:xfrm>
          <a:prstGeom prst="roundRect">
            <a:avLst>
              <a:gd fmla="val 8889" name="adj"/>
            </a:avLst>
          </a:prstGeom>
          <a:solidFill>
            <a:srgbClr val="FFF0D5"/>
          </a:solidFill>
          <a:ln cap="flat" cmpd="sng" w="12700">
            <a:solidFill>
              <a:srgbClr val="FFF0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6217920" y="1993392"/>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3300"/>
              <a:buFont typeface="Arial"/>
              <a:buNone/>
            </a:pPr>
            <a:r>
              <a:rPr b="1" i="0" lang="en-US" sz="3300" u="none" cap="none" strike="noStrike">
                <a:solidFill>
                  <a:srgbClr val="D97706"/>
                </a:solidFill>
                <a:latin typeface="Arial"/>
                <a:ea typeface="Arial"/>
                <a:cs typeface="Arial"/>
                <a:sym typeface="Arial"/>
              </a:rPr>
              <a:t>288</a:t>
            </a:r>
            <a:endParaRPr b="0" i="0" sz="3300" u="none" cap="none" strike="noStrike">
              <a:solidFill>
                <a:schemeClr val="dk1"/>
              </a:solidFill>
              <a:latin typeface="Arial"/>
              <a:ea typeface="Arial"/>
              <a:cs typeface="Arial"/>
              <a:sym typeface="Arial"/>
            </a:endParaRPr>
          </a:p>
        </p:txBody>
      </p:sp>
      <p:sp>
        <p:nvSpPr>
          <p:cNvPr id="203" name="Google Shape;203;p10"/>
          <p:cNvSpPr/>
          <p:nvPr/>
        </p:nvSpPr>
        <p:spPr>
          <a:xfrm>
            <a:off x="6217920" y="2542032"/>
            <a:ext cx="2377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200"/>
              <a:buFont typeface="Arial"/>
              <a:buNone/>
            </a:pPr>
            <a:r>
              <a:rPr b="1" i="0" lang="en-US" sz="1200" u="none" cap="none" strike="noStrike">
                <a:solidFill>
                  <a:srgbClr val="101828"/>
                </a:solidFill>
                <a:latin typeface="Arial"/>
                <a:ea typeface="Arial"/>
                <a:cs typeface="Arial"/>
                <a:sym typeface="Arial"/>
              </a:rPr>
              <a:t>false alarms</a:t>
            </a:r>
            <a:endParaRPr b="0" i="0" sz="1200" u="none" cap="none" strike="noStrike">
              <a:solidFill>
                <a:schemeClr val="dk1"/>
              </a:solidFill>
              <a:latin typeface="Arial"/>
              <a:ea typeface="Arial"/>
              <a:cs typeface="Arial"/>
              <a:sym typeface="Arial"/>
            </a:endParaRPr>
          </a:p>
        </p:txBody>
      </p:sp>
      <p:sp>
        <p:nvSpPr>
          <p:cNvPr id="204" name="Google Shape;204;p10"/>
          <p:cNvSpPr/>
          <p:nvPr/>
        </p:nvSpPr>
        <p:spPr>
          <a:xfrm>
            <a:off x="3429000" y="3502152"/>
            <a:ext cx="2377440" cy="1234440"/>
          </a:xfrm>
          <a:prstGeom prst="roundRect">
            <a:avLst>
              <a:gd fmla="val 8889" name="adj"/>
            </a:avLst>
          </a:prstGeom>
          <a:solidFill>
            <a:srgbClr val="FEE4E2"/>
          </a:solidFill>
          <a:ln cap="flat" cmpd="sng" w="12700">
            <a:solidFill>
              <a:srgbClr val="FEE4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3429000" y="366674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2318"/>
              </a:buClr>
              <a:buSzPts val="3300"/>
              <a:buFont typeface="Arial"/>
              <a:buNone/>
            </a:pPr>
            <a:r>
              <a:rPr b="1" i="0" lang="en-US" sz="3300" u="none" cap="none" strike="noStrike">
                <a:solidFill>
                  <a:srgbClr val="B42318"/>
                </a:solidFill>
                <a:latin typeface="Arial"/>
                <a:ea typeface="Arial"/>
                <a:cs typeface="Arial"/>
                <a:sym typeface="Arial"/>
              </a:rPr>
              <a:t>81</a:t>
            </a:r>
            <a:endParaRPr b="0" i="0" sz="3300" u="none" cap="none" strike="noStrike">
              <a:solidFill>
                <a:schemeClr val="dk1"/>
              </a:solidFill>
              <a:latin typeface="Arial"/>
              <a:ea typeface="Arial"/>
              <a:cs typeface="Arial"/>
              <a:sym typeface="Arial"/>
            </a:endParaRPr>
          </a:p>
        </p:txBody>
      </p:sp>
      <p:sp>
        <p:nvSpPr>
          <p:cNvPr id="206" name="Google Shape;206;p10"/>
          <p:cNvSpPr/>
          <p:nvPr/>
        </p:nvSpPr>
        <p:spPr>
          <a:xfrm>
            <a:off x="3429000" y="4215384"/>
            <a:ext cx="2377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200"/>
              <a:buFont typeface="Arial"/>
              <a:buNone/>
            </a:pPr>
            <a:r>
              <a:rPr b="1" i="0" lang="en-US" sz="1200" u="none" cap="none" strike="noStrike">
                <a:solidFill>
                  <a:srgbClr val="101828"/>
                </a:solidFill>
                <a:latin typeface="Arial"/>
                <a:ea typeface="Arial"/>
                <a:cs typeface="Arial"/>
                <a:sym typeface="Arial"/>
              </a:rPr>
              <a:t>missed churners</a:t>
            </a:r>
            <a:endParaRPr b="0" i="0" sz="1200" u="none" cap="none" strike="noStrike">
              <a:solidFill>
                <a:schemeClr val="dk1"/>
              </a:solidFill>
              <a:latin typeface="Arial"/>
              <a:ea typeface="Arial"/>
              <a:cs typeface="Arial"/>
              <a:sym typeface="Arial"/>
            </a:endParaRPr>
          </a:p>
        </p:txBody>
      </p:sp>
      <p:sp>
        <p:nvSpPr>
          <p:cNvPr id="207" name="Google Shape;207;p10"/>
          <p:cNvSpPr/>
          <p:nvPr/>
        </p:nvSpPr>
        <p:spPr>
          <a:xfrm>
            <a:off x="6217920" y="3502152"/>
            <a:ext cx="2377440" cy="1234440"/>
          </a:xfrm>
          <a:prstGeom prst="roundRect">
            <a:avLst>
              <a:gd fmla="val 8889"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6217920" y="366674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3300"/>
              <a:buFont typeface="Arial"/>
              <a:buNone/>
            </a:pPr>
            <a:r>
              <a:rPr b="1" i="0" lang="en-US" sz="3300" u="none" cap="none" strike="noStrike">
                <a:solidFill>
                  <a:srgbClr val="115E59"/>
                </a:solidFill>
                <a:latin typeface="Arial"/>
                <a:ea typeface="Arial"/>
                <a:cs typeface="Arial"/>
                <a:sym typeface="Arial"/>
              </a:rPr>
              <a:t>293</a:t>
            </a:r>
            <a:endParaRPr b="0" i="0" sz="3300" u="none" cap="none" strike="noStrike">
              <a:solidFill>
                <a:schemeClr val="dk1"/>
              </a:solidFill>
              <a:latin typeface="Arial"/>
              <a:ea typeface="Arial"/>
              <a:cs typeface="Arial"/>
              <a:sym typeface="Arial"/>
            </a:endParaRPr>
          </a:p>
        </p:txBody>
      </p:sp>
      <p:sp>
        <p:nvSpPr>
          <p:cNvPr id="209" name="Google Shape;209;p10"/>
          <p:cNvSpPr/>
          <p:nvPr/>
        </p:nvSpPr>
        <p:spPr>
          <a:xfrm>
            <a:off x="6217920" y="4215384"/>
            <a:ext cx="23774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200"/>
              <a:buFont typeface="Arial"/>
              <a:buNone/>
            </a:pPr>
            <a:r>
              <a:rPr b="1" i="0" lang="en-US" sz="1200" u="none" cap="none" strike="noStrike">
                <a:solidFill>
                  <a:srgbClr val="101828"/>
                </a:solidFill>
                <a:latin typeface="Arial"/>
                <a:ea typeface="Arial"/>
                <a:cs typeface="Arial"/>
                <a:sym typeface="Arial"/>
              </a:rPr>
              <a:t>caught churners</a:t>
            </a:r>
            <a:endParaRPr b="0" i="0" sz="1200" u="none" cap="none" strike="noStrike">
              <a:solidFill>
                <a:schemeClr val="dk1"/>
              </a:solidFill>
              <a:latin typeface="Arial"/>
              <a:ea typeface="Arial"/>
              <a:cs typeface="Arial"/>
              <a:sym typeface="Arial"/>
            </a:endParaRPr>
          </a:p>
        </p:txBody>
      </p:sp>
      <p:sp>
        <p:nvSpPr>
          <p:cNvPr id="210" name="Google Shape;210;p10"/>
          <p:cNvSpPr/>
          <p:nvPr/>
        </p:nvSpPr>
        <p:spPr>
          <a:xfrm>
            <a:off x="9006840" y="1737360"/>
            <a:ext cx="2331720" cy="3154680"/>
          </a:xfrm>
          <a:prstGeom prst="roundRect">
            <a:avLst>
              <a:gd fmla="val 4706"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9281160" y="201168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1" i="0" lang="en-US" sz="1600" u="none" cap="none" strike="noStrike">
                <a:solidFill>
                  <a:srgbClr val="101828"/>
                </a:solidFill>
                <a:latin typeface="Arial"/>
                <a:ea typeface="Arial"/>
                <a:cs typeface="Arial"/>
                <a:sym typeface="Arial"/>
              </a:rPr>
              <a:t>Pattern in the errors</a:t>
            </a:r>
            <a:endParaRPr b="0" i="0" sz="1600" u="none" cap="none" strike="noStrike">
              <a:solidFill>
                <a:schemeClr val="dk1"/>
              </a:solidFill>
              <a:latin typeface="Arial"/>
              <a:ea typeface="Arial"/>
              <a:cs typeface="Arial"/>
              <a:sym typeface="Arial"/>
            </a:endParaRPr>
          </a:p>
        </p:txBody>
      </p:sp>
      <p:sp>
        <p:nvSpPr>
          <p:cNvPr id="212" name="Google Shape;212;p10"/>
          <p:cNvSpPr/>
          <p:nvPr/>
        </p:nvSpPr>
        <p:spPr>
          <a:xfrm>
            <a:off x="9281160" y="2542032"/>
            <a:ext cx="155448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1200"/>
              <a:buFont typeface="Arial"/>
              <a:buNone/>
            </a:pPr>
            <a:r>
              <a:rPr b="1" i="0" lang="en-US" sz="1200" u="none" cap="none" strike="noStrike">
                <a:solidFill>
                  <a:srgbClr val="B42318"/>
                </a:solidFill>
                <a:latin typeface="Arial"/>
                <a:ea typeface="Arial"/>
                <a:cs typeface="Arial"/>
                <a:sym typeface="Arial"/>
              </a:rPr>
              <a:t>False negatives</a:t>
            </a:r>
            <a:endParaRPr b="0" i="0" sz="1200" u="none" cap="none" strike="noStrike">
              <a:solidFill>
                <a:schemeClr val="dk1"/>
              </a:solidFill>
              <a:latin typeface="Arial"/>
              <a:ea typeface="Arial"/>
              <a:cs typeface="Arial"/>
              <a:sym typeface="Arial"/>
            </a:endParaRPr>
          </a:p>
        </p:txBody>
      </p:sp>
      <p:sp>
        <p:nvSpPr>
          <p:cNvPr id="213" name="Google Shape;213;p10"/>
          <p:cNvSpPr/>
          <p:nvPr/>
        </p:nvSpPr>
        <p:spPr>
          <a:xfrm>
            <a:off x="9281160" y="2816352"/>
            <a:ext cx="1737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long tenure · 1–2 year contracts · often DSL / automatic pay</a:t>
            </a:r>
            <a:endParaRPr b="0" i="0" sz="1200" u="none" cap="none" strike="noStrike">
              <a:solidFill>
                <a:schemeClr val="dk1"/>
              </a:solidFill>
              <a:latin typeface="Arial"/>
              <a:ea typeface="Arial"/>
              <a:cs typeface="Arial"/>
              <a:sym typeface="Arial"/>
            </a:endParaRPr>
          </a:p>
        </p:txBody>
      </p:sp>
      <p:sp>
        <p:nvSpPr>
          <p:cNvPr id="214" name="Google Shape;214;p10"/>
          <p:cNvSpPr/>
          <p:nvPr/>
        </p:nvSpPr>
        <p:spPr>
          <a:xfrm>
            <a:off x="9281160" y="3657600"/>
            <a:ext cx="155448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Arial"/>
              <a:buNone/>
            </a:pPr>
            <a:r>
              <a:rPr b="1" i="0" lang="en-US" sz="1200" u="none" cap="none" strike="noStrike">
                <a:solidFill>
                  <a:srgbClr val="D97706"/>
                </a:solidFill>
                <a:latin typeface="Arial"/>
                <a:ea typeface="Arial"/>
                <a:cs typeface="Arial"/>
                <a:sym typeface="Arial"/>
              </a:rPr>
              <a:t>False positives</a:t>
            </a:r>
            <a:endParaRPr b="0" i="0" sz="1200" u="none" cap="none" strike="noStrike">
              <a:solidFill>
                <a:schemeClr val="dk1"/>
              </a:solidFill>
              <a:latin typeface="Arial"/>
              <a:ea typeface="Arial"/>
              <a:cs typeface="Arial"/>
              <a:sym typeface="Arial"/>
            </a:endParaRPr>
          </a:p>
        </p:txBody>
      </p:sp>
      <p:sp>
        <p:nvSpPr>
          <p:cNvPr id="215" name="Google Shape;215;p10"/>
          <p:cNvSpPr/>
          <p:nvPr/>
        </p:nvSpPr>
        <p:spPr>
          <a:xfrm>
            <a:off x="9281160" y="3931920"/>
            <a:ext cx="1737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short tenure · month-to-month · fibre · electronic check</a:t>
            </a:r>
            <a:endParaRPr b="0" i="0" sz="1200" u="none" cap="none" strike="noStrike">
              <a:solidFill>
                <a:schemeClr val="dk1"/>
              </a:solidFill>
              <a:latin typeface="Arial"/>
              <a:ea typeface="Arial"/>
              <a:cs typeface="Arial"/>
              <a:sym typeface="Arial"/>
            </a:endParaRPr>
          </a:p>
        </p:txBody>
      </p:sp>
      <p:sp>
        <p:nvSpPr>
          <p:cNvPr id="216" name="Google Shape;216;p10"/>
          <p:cNvSpPr/>
          <p:nvPr/>
        </p:nvSpPr>
        <p:spPr>
          <a:xfrm>
            <a:off x="914400" y="5532120"/>
            <a:ext cx="9966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The model is behaving consistently with the historical patterns — people can still surprise it.</a:t>
            </a:r>
            <a:endParaRPr b="0" i="0" sz="1500" u="none" cap="none" strike="noStrike">
              <a:solidFill>
                <a:schemeClr val="dk1"/>
              </a:solidFill>
              <a:latin typeface="Arial"/>
              <a:ea typeface="Arial"/>
              <a:cs typeface="Arial"/>
              <a:sym typeface="Arial"/>
            </a:endParaRPr>
          </a:p>
        </p:txBody>
      </p:sp>
      <p:sp>
        <p:nvSpPr>
          <p:cNvPr id="217" name="Google Shape;217;p10"/>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7 · WHAT DRIVES IT</a:t>
            </a:r>
            <a:endParaRPr b="0" i="0" sz="1000" u="none" cap="none" strike="noStrike">
              <a:solidFill>
                <a:schemeClr val="dk1"/>
              </a:solidFill>
              <a:latin typeface="Arial"/>
              <a:ea typeface="Arial"/>
              <a:cs typeface="Arial"/>
              <a:sym typeface="Arial"/>
            </a:endParaRPr>
          </a:p>
        </p:txBody>
      </p:sp>
      <p:sp>
        <p:nvSpPr>
          <p:cNvPr id="224" name="Google Shape;224;p11"/>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Tenure matters most — by a mile</a:t>
            </a:r>
            <a:endParaRPr b="0" i="0" sz="2700" u="none" cap="none" strike="noStrike">
              <a:solidFill>
                <a:schemeClr val="dk1"/>
              </a:solidFill>
              <a:latin typeface="Arial"/>
              <a:ea typeface="Arial"/>
              <a:cs typeface="Arial"/>
              <a:sym typeface="Arial"/>
            </a:endParaRPr>
          </a:p>
        </p:txBody>
      </p:sp>
      <p:sp>
        <p:nvSpPr>
          <p:cNvPr id="225" name="Google Shape;225;p11"/>
          <p:cNvSpPr/>
          <p:nvPr/>
        </p:nvSpPr>
        <p:spPr>
          <a:xfrm>
            <a:off x="804672" y="160020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tenure</a:t>
            </a:r>
            <a:endParaRPr b="0" i="0" sz="1500" u="none" cap="none" strike="noStrike">
              <a:solidFill>
                <a:schemeClr val="dk1"/>
              </a:solidFill>
              <a:latin typeface="Arial"/>
              <a:ea typeface="Arial"/>
              <a:cs typeface="Arial"/>
              <a:sym typeface="Arial"/>
            </a:endParaRPr>
          </a:p>
        </p:txBody>
      </p:sp>
      <p:sp>
        <p:nvSpPr>
          <p:cNvPr id="226" name="Google Shape;226;p11"/>
          <p:cNvSpPr/>
          <p:nvPr/>
        </p:nvSpPr>
        <p:spPr>
          <a:xfrm>
            <a:off x="3017520" y="1508760"/>
            <a:ext cx="7040880" cy="365760"/>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3017520" y="1508760"/>
            <a:ext cx="6646591" cy="365760"/>
          </a:xfrm>
          <a:prstGeom prst="roundRect">
            <a:avLst>
              <a:gd fmla="val 12500" name="adj"/>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10241280" y="1572768"/>
            <a:ext cx="73152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0.236</a:t>
            </a:r>
            <a:endParaRPr b="0" i="0" sz="1200" u="none" cap="none" strike="noStrike">
              <a:solidFill>
                <a:schemeClr val="dk1"/>
              </a:solidFill>
              <a:latin typeface="Arial"/>
              <a:ea typeface="Arial"/>
              <a:cs typeface="Arial"/>
              <a:sym typeface="Arial"/>
            </a:endParaRPr>
          </a:p>
        </p:txBody>
      </p:sp>
      <p:sp>
        <p:nvSpPr>
          <p:cNvPr id="229" name="Google Shape;229;p11"/>
          <p:cNvSpPr/>
          <p:nvPr/>
        </p:nvSpPr>
        <p:spPr>
          <a:xfrm>
            <a:off x="804672" y="237744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Contract</a:t>
            </a:r>
            <a:endParaRPr b="0" i="0" sz="1500" u="none" cap="none" strike="noStrike">
              <a:solidFill>
                <a:schemeClr val="dk1"/>
              </a:solidFill>
              <a:latin typeface="Arial"/>
              <a:ea typeface="Arial"/>
              <a:cs typeface="Arial"/>
              <a:sym typeface="Arial"/>
            </a:endParaRPr>
          </a:p>
        </p:txBody>
      </p:sp>
      <p:sp>
        <p:nvSpPr>
          <p:cNvPr id="230" name="Google Shape;230;p11"/>
          <p:cNvSpPr/>
          <p:nvPr/>
        </p:nvSpPr>
        <p:spPr>
          <a:xfrm>
            <a:off x="3017520" y="2286000"/>
            <a:ext cx="7040880" cy="365760"/>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3017520" y="2286000"/>
            <a:ext cx="2929006" cy="365760"/>
          </a:xfrm>
          <a:prstGeom prst="roundRect">
            <a:avLst>
              <a:gd fmla="val 12500" name="adj"/>
            </a:avLst>
          </a:prstGeom>
          <a:solidFill>
            <a:srgbClr val="175CD3"/>
          </a:solidFill>
          <a:ln cap="flat" cmpd="sng" w="12700">
            <a:solidFill>
              <a:srgbClr val="175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10241280" y="2350008"/>
            <a:ext cx="73152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0.104</a:t>
            </a:r>
            <a:endParaRPr b="0" i="0" sz="1200" u="none" cap="none" strike="noStrike">
              <a:solidFill>
                <a:schemeClr val="dk1"/>
              </a:solidFill>
              <a:latin typeface="Arial"/>
              <a:ea typeface="Arial"/>
              <a:cs typeface="Arial"/>
              <a:sym typeface="Arial"/>
            </a:endParaRPr>
          </a:p>
        </p:txBody>
      </p:sp>
      <p:sp>
        <p:nvSpPr>
          <p:cNvPr id="233" name="Google Shape;233;p11"/>
          <p:cNvSpPr/>
          <p:nvPr/>
        </p:nvSpPr>
        <p:spPr>
          <a:xfrm>
            <a:off x="804672" y="315468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1" i="0" lang="en-US" sz="1500" u="none" cap="none" strike="noStrike">
                <a:solidFill>
                  <a:srgbClr val="101828"/>
                </a:solidFill>
                <a:latin typeface="Arial"/>
                <a:ea typeface="Arial"/>
                <a:cs typeface="Arial"/>
                <a:sym typeface="Arial"/>
              </a:rPr>
              <a:t>InternetService</a:t>
            </a:r>
            <a:endParaRPr b="0" i="0" sz="1500" u="none" cap="none" strike="noStrike">
              <a:solidFill>
                <a:schemeClr val="dk1"/>
              </a:solidFill>
              <a:latin typeface="Arial"/>
              <a:ea typeface="Arial"/>
              <a:cs typeface="Arial"/>
              <a:sym typeface="Arial"/>
            </a:endParaRPr>
          </a:p>
        </p:txBody>
      </p:sp>
      <p:sp>
        <p:nvSpPr>
          <p:cNvPr id="234" name="Google Shape;234;p11"/>
          <p:cNvSpPr/>
          <p:nvPr/>
        </p:nvSpPr>
        <p:spPr>
          <a:xfrm>
            <a:off x="3017520" y="3063240"/>
            <a:ext cx="7040880" cy="365760"/>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3017520" y="3063240"/>
            <a:ext cx="1070214" cy="365760"/>
          </a:xfrm>
          <a:prstGeom prst="roundRect">
            <a:avLst>
              <a:gd fmla="val 1250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10241280" y="3127248"/>
            <a:ext cx="73152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0.038</a:t>
            </a:r>
            <a:endParaRPr b="0" i="0" sz="1200" u="none" cap="none" strike="noStrike">
              <a:solidFill>
                <a:schemeClr val="dk1"/>
              </a:solidFill>
              <a:latin typeface="Arial"/>
              <a:ea typeface="Arial"/>
              <a:cs typeface="Arial"/>
              <a:sym typeface="Arial"/>
            </a:endParaRPr>
          </a:p>
        </p:txBody>
      </p:sp>
      <p:sp>
        <p:nvSpPr>
          <p:cNvPr id="237" name="Google Shape;237;p11"/>
          <p:cNvSpPr/>
          <p:nvPr/>
        </p:nvSpPr>
        <p:spPr>
          <a:xfrm>
            <a:off x="804672" y="393192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0" i="0" lang="en-US" sz="1500" u="none" cap="none" strike="noStrike">
                <a:solidFill>
                  <a:srgbClr val="101828"/>
                </a:solidFill>
                <a:latin typeface="Arial"/>
                <a:ea typeface="Arial"/>
                <a:cs typeface="Arial"/>
                <a:sym typeface="Arial"/>
              </a:rPr>
              <a:t>MonthlyCharges</a:t>
            </a:r>
            <a:endParaRPr b="0" i="0" sz="1500" u="none" cap="none" strike="noStrike">
              <a:solidFill>
                <a:schemeClr val="dk1"/>
              </a:solidFill>
              <a:latin typeface="Arial"/>
              <a:ea typeface="Arial"/>
              <a:cs typeface="Arial"/>
              <a:sym typeface="Arial"/>
            </a:endParaRPr>
          </a:p>
        </p:txBody>
      </p:sp>
      <p:sp>
        <p:nvSpPr>
          <p:cNvPr id="238" name="Google Shape;238;p11"/>
          <p:cNvSpPr/>
          <p:nvPr/>
        </p:nvSpPr>
        <p:spPr>
          <a:xfrm>
            <a:off x="3017520" y="3840480"/>
            <a:ext cx="7040880" cy="365760"/>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3017520" y="3840480"/>
            <a:ext cx="591434" cy="365760"/>
          </a:xfrm>
          <a:prstGeom prst="roundRect">
            <a:avLst>
              <a:gd fmla="val 1250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10241280" y="3904488"/>
            <a:ext cx="73152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0.021</a:t>
            </a:r>
            <a:endParaRPr b="0" i="0" sz="1200" u="none" cap="none" strike="noStrike">
              <a:solidFill>
                <a:schemeClr val="dk1"/>
              </a:solidFill>
              <a:latin typeface="Arial"/>
              <a:ea typeface="Arial"/>
              <a:cs typeface="Arial"/>
              <a:sym typeface="Arial"/>
            </a:endParaRPr>
          </a:p>
        </p:txBody>
      </p:sp>
      <p:sp>
        <p:nvSpPr>
          <p:cNvPr id="241" name="Google Shape;241;p11"/>
          <p:cNvSpPr/>
          <p:nvPr/>
        </p:nvSpPr>
        <p:spPr>
          <a:xfrm>
            <a:off x="804672" y="470916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500"/>
              <a:buFont typeface="Arial"/>
              <a:buNone/>
            </a:pPr>
            <a:r>
              <a:rPr b="0" i="0" lang="en-US" sz="1500" u="none" cap="none" strike="noStrike">
                <a:solidFill>
                  <a:srgbClr val="101828"/>
                </a:solidFill>
                <a:latin typeface="Arial"/>
                <a:ea typeface="Arial"/>
                <a:cs typeface="Arial"/>
                <a:sym typeface="Arial"/>
              </a:rPr>
              <a:t>PaymentMethod</a:t>
            </a:r>
            <a:endParaRPr b="0" i="0" sz="1500" u="none" cap="none" strike="noStrike">
              <a:solidFill>
                <a:schemeClr val="dk1"/>
              </a:solidFill>
              <a:latin typeface="Arial"/>
              <a:ea typeface="Arial"/>
              <a:cs typeface="Arial"/>
              <a:sym typeface="Arial"/>
            </a:endParaRPr>
          </a:p>
        </p:txBody>
      </p:sp>
      <p:sp>
        <p:nvSpPr>
          <p:cNvPr id="242" name="Google Shape;242;p11"/>
          <p:cNvSpPr/>
          <p:nvPr/>
        </p:nvSpPr>
        <p:spPr>
          <a:xfrm>
            <a:off x="3017520" y="4617720"/>
            <a:ext cx="7040880" cy="365760"/>
          </a:xfrm>
          <a:prstGeom prst="roundRect">
            <a:avLst>
              <a:gd fmla="val 12500" name="adj"/>
            </a:avLst>
          </a:prstGeom>
          <a:solidFill>
            <a:srgbClr val="EAECF0"/>
          </a:solidFill>
          <a:ln cap="flat" cmpd="sng" w="12700">
            <a:solidFill>
              <a:srgbClr val="EAEC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3017520" y="4617720"/>
            <a:ext cx="84491" cy="365760"/>
          </a:xfrm>
          <a:prstGeom prst="roundRect">
            <a:avLst>
              <a:gd fmla="val 54112"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10241280" y="4681728"/>
            <a:ext cx="731520" cy="2103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1200"/>
              <a:buFont typeface="Arial"/>
              <a:buNone/>
            </a:pPr>
            <a:r>
              <a:rPr b="1" i="0" lang="en-US" sz="1200" u="none" cap="none" strike="noStrike">
                <a:solidFill>
                  <a:srgbClr val="667085"/>
                </a:solidFill>
                <a:latin typeface="Arial"/>
                <a:ea typeface="Arial"/>
                <a:cs typeface="Arial"/>
                <a:sym typeface="Arial"/>
              </a:rPr>
              <a:t>0.003</a:t>
            </a:r>
            <a:endParaRPr b="0" i="0" sz="1200" u="none" cap="none" strike="noStrike">
              <a:solidFill>
                <a:schemeClr val="dk1"/>
              </a:solidFill>
              <a:latin typeface="Arial"/>
              <a:ea typeface="Arial"/>
              <a:cs typeface="Arial"/>
              <a:sym typeface="Arial"/>
            </a:endParaRPr>
          </a:p>
        </p:txBody>
      </p:sp>
      <p:sp>
        <p:nvSpPr>
          <p:cNvPr id="245" name="Google Shape;245;p11"/>
          <p:cNvSpPr/>
          <p:nvPr/>
        </p:nvSpPr>
        <p:spPr>
          <a:xfrm>
            <a:off x="3017520" y="5440680"/>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1100"/>
              <a:buFont typeface="Arial"/>
              <a:buNone/>
            </a:pPr>
            <a:r>
              <a:rPr b="0" i="0" lang="en-US" sz="1100" u="none" cap="none" strike="noStrike">
                <a:solidFill>
                  <a:srgbClr val="667085"/>
                </a:solidFill>
                <a:latin typeface="Arial"/>
                <a:ea typeface="Arial"/>
                <a:cs typeface="Arial"/>
                <a:sym typeface="Arial"/>
              </a:rPr>
              <a:t>Drop in recall when the original feature is shuffled</a:t>
            </a:r>
            <a:endParaRPr b="0" i="0" sz="1100" u="none" cap="none" strike="noStrike">
              <a:solidFill>
                <a:schemeClr val="dk1"/>
              </a:solidFill>
              <a:latin typeface="Arial"/>
              <a:ea typeface="Arial"/>
              <a:cs typeface="Arial"/>
              <a:sym typeface="Arial"/>
            </a:endParaRPr>
          </a:p>
        </p:txBody>
      </p:sp>
      <p:sp>
        <p:nvSpPr>
          <p:cNvPr id="246" name="Google Shape;246;p11"/>
          <p:cNvSpPr/>
          <p:nvPr/>
        </p:nvSpPr>
        <p:spPr>
          <a:xfrm>
            <a:off x="8595360" y="5193792"/>
            <a:ext cx="2560320" cy="658368"/>
          </a:xfrm>
          <a:prstGeom prst="roundRect">
            <a:avLst>
              <a:gd fmla="val 13889"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8823960" y="5330952"/>
            <a:ext cx="210312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1050"/>
              <a:buFont typeface="Arial"/>
              <a:buNone/>
            </a:pPr>
            <a:r>
              <a:rPr b="1" i="0" lang="en-US" sz="1050" u="none" cap="none" strike="noStrike">
                <a:solidFill>
                  <a:srgbClr val="115E59"/>
                </a:solidFill>
                <a:latin typeface="Arial"/>
                <a:ea typeface="Arial"/>
                <a:cs typeface="Arial"/>
                <a:sym typeface="Arial"/>
              </a:rPr>
              <a:t>Coefficients agreed:</a:t>
            </a:r>
            <a:endParaRPr b="0" i="0" sz="10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5E59"/>
              </a:buClr>
              <a:buSzPts val="1050"/>
              <a:buFont typeface="Arial"/>
              <a:buNone/>
            </a:pPr>
            <a:r>
              <a:rPr b="1" i="0" lang="en-US" sz="1050" u="none" cap="none" strike="noStrike">
                <a:solidFill>
                  <a:srgbClr val="115E59"/>
                </a:solidFill>
                <a:latin typeface="Arial"/>
                <a:ea typeface="Arial"/>
                <a:cs typeface="Arial"/>
                <a:sym typeface="Arial"/>
              </a:rPr>
              <a:t>month-to-month + fibre ↑ churn</a:t>
            </a:r>
            <a:endParaRPr b="0" i="0" sz="10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15E59"/>
              </a:buClr>
              <a:buSzPts val="1050"/>
              <a:buFont typeface="Arial"/>
              <a:buNone/>
            </a:pPr>
            <a:r>
              <a:rPr b="1" i="0" lang="en-US" sz="1050" u="none" cap="none" strike="noStrike">
                <a:solidFill>
                  <a:srgbClr val="115E59"/>
                </a:solidFill>
                <a:latin typeface="Arial"/>
                <a:ea typeface="Arial"/>
                <a:cs typeface="Arial"/>
                <a:sym typeface="Arial"/>
              </a:rPr>
              <a:t>long tenure + 2-year ↓ churn</a:t>
            </a:r>
            <a:endParaRPr b="0" i="0" sz="1050" u="none" cap="none" strike="noStrike">
              <a:solidFill>
                <a:schemeClr val="dk1"/>
              </a:solidFill>
              <a:latin typeface="Arial"/>
              <a:ea typeface="Arial"/>
              <a:cs typeface="Arial"/>
              <a:sym typeface="Arial"/>
            </a:endParaRPr>
          </a:p>
        </p:txBody>
      </p:sp>
      <p:sp>
        <p:nvSpPr>
          <p:cNvPr id="248" name="Google Shape;248;p11"/>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2"/>
          <p:cNvSpPr/>
          <p:nvPr/>
        </p:nvSpPr>
        <p:spPr>
          <a:xfrm>
            <a:off x="640080" y="384048"/>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000"/>
              <a:buFont typeface="Arial"/>
              <a:buNone/>
            </a:pPr>
            <a:r>
              <a:rPr b="1" i="0" lang="en-US" sz="1000" u="none" cap="none" strike="noStrike">
                <a:solidFill>
                  <a:srgbClr val="0F766E"/>
                </a:solidFill>
                <a:latin typeface="Arial"/>
                <a:ea typeface="Arial"/>
                <a:cs typeface="Arial"/>
                <a:sym typeface="Arial"/>
              </a:rPr>
              <a:t>8 · RECOMMENDATION</a:t>
            </a:r>
            <a:endParaRPr b="0" i="0" sz="1000" u="none" cap="none" strike="noStrike">
              <a:solidFill>
                <a:schemeClr val="dk1"/>
              </a:solidFill>
              <a:latin typeface="Arial"/>
              <a:ea typeface="Arial"/>
              <a:cs typeface="Arial"/>
              <a:sym typeface="Arial"/>
            </a:endParaRPr>
          </a:p>
        </p:txBody>
      </p:sp>
      <p:sp>
        <p:nvSpPr>
          <p:cNvPr id="255" name="Google Shape;255;p12"/>
          <p:cNvSpPr/>
          <p:nvPr/>
        </p:nvSpPr>
        <p:spPr>
          <a:xfrm>
            <a:off x="640080" y="749808"/>
            <a:ext cx="10927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700"/>
              <a:buFont typeface="Arial"/>
              <a:buNone/>
            </a:pPr>
            <a:r>
              <a:rPr b="1" i="0" lang="en-US" sz="2700" u="none" cap="none" strike="noStrike">
                <a:solidFill>
                  <a:srgbClr val="101828"/>
                </a:solidFill>
                <a:latin typeface="Arial"/>
                <a:ea typeface="Arial"/>
                <a:cs typeface="Arial"/>
                <a:sym typeface="Arial"/>
              </a:rPr>
              <a:t>Would I use it? Yes — with boundaries.</a:t>
            </a:r>
            <a:endParaRPr b="0" i="0" sz="2700" u="none" cap="none" strike="noStrike">
              <a:solidFill>
                <a:schemeClr val="dk1"/>
              </a:solidFill>
              <a:latin typeface="Arial"/>
              <a:ea typeface="Arial"/>
              <a:cs typeface="Arial"/>
              <a:sym typeface="Arial"/>
            </a:endParaRPr>
          </a:p>
        </p:txBody>
      </p:sp>
      <p:sp>
        <p:nvSpPr>
          <p:cNvPr id="256" name="Google Shape;256;p12"/>
          <p:cNvSpPr/>
          <p:nvPr/>
        </p:nvSpPr>
        <p:spPr>
          <a:xfrm>
            <a:off x="731520" y="1417320"/>
            <a:ext cx="5212080" cy="4251960"/>
          </a:xfrm>
          <a:prstGeom prst="roundRect">
            <a:avLst>
              <a:gd fmla="val 3011" name="adj"/>
            </a:avLst>
          </a:prstGeom>
          <a:solidFill>
            <a:srgbClr val="DDF4EF"/>
          </a:solidFill>
          <a:ln cap="flat" cmpd="sng" w="12700">
            <a:solidFill>
              <a:srgbClr val="DDF4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1078992" y="1783080"/>
            <a:ext cx="1645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5E59"/>
              </a:buClr>
              <a:buSzPts val="1100"/>
              <a:buFont typeface="Arial"/>
              <a:buNone/>
            </a:pPr>
            <a:r>
              <a:rPr b="1" i="0" lang="en-US" sz="1100" u="none" cap="none" strike="noStrike">
                <a:solidFill>
                  <a:srgbClr val="115E59"/>
                </a:solidFill>
                <a:latin typeface="Arial"/>
                <a:ea typeface="Arial"/>
                <a:cs typeface="Arial"/>
                <a:sym typeface="Arial"/>
              </a:rPr>
              <a:t>USE IT FOR</a:t>
            </a:r>
            <a:endParaRPr b="0" i="0" sz="1100" u="none" cap="none" strike="noStrike">
              <a:solidFill>
                <a:schemeClr val="dk1"/>
              </a:solidFill>
              <a:latin typeface="Arial"/>
              <a:ea typeface="Arial"/>
              <a:cs typeface="Arial"/>
              <a:sym typeface="Arial"/>
            </a:endParaRPr>
          </a:p>
        </p:txBody>
      </p:sp>
      <p:sp>
        <p:nvSpPr>
          <p:cNvPr id="258" name="Google Shape;258;p12"/>
          <p:cNvSpPr/>
          <p:nvPr/>
        </p:nvSpPr>
        <p:spPr>
          <a:xfrm>
            <a:off x="1078992" y="2139696"/>
            <a:ext cx="4160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600"/>
              <a:buFont typeface="Arial"/>
              <a:buNone/>
            </a:pPr>
            <a:r>
              <a:rPr b="1" i="0" lang="en-US" sz="2600" u="none" cap="none" strike="noStrike">
                <a:solidFill>
                  <a:srgbClr val="101828"/>
                </a:solidFill>
                <a:latin typeface="Arial"/>
                <a:ea typeface="Arial"/>
                <a:cs typeface="Arial"/>
                <a:sym typeface="Arial"/>
              </a:rPr>
              <a:t>Prioritising retention outreach</a:t>
            </a:r>
            <a:endParaRPr b="0" i="0" sz="2600" u="none" cap="none" strike="noStrike">
              <a:solidFill>
                <a:schemeClr val="dk1"/>
              </a:solidFill>
              <a:latin typeface="Arial"/>
              <a:ea typeface="Arial"/>
              <a:cs typeface="Arial"/>
              <a:sym typeface="Arial"/>
            </a:endParaRPr>
          </a:p>
        </p:txBody>
      </p:sp>
      <p:sp>
        <p:nvSpPr>
          <p:cNvPr id="259" name="Google Shape;259;p12"/>
          <p:cNvSpPr/>
          <p:nvPr/>
        </p:nvSpPr>
        <p:spPr>
          <a:xfrm>
            <a:off x="1078992" y="297180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1261872" y="2880360"/>
            <a:ext cx="4114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Ranking who gets attention first</a:t>
            </a:r>
            <a:endParaRPr b="0" i="0" sz="1600" u="none" cap="none" strike="noStrike">
              <a:solidFill>
                <a:schemeClr val="dk1"/>
              </a:solidFill>
              <a:latin typeface="Arial"/>
              <a:ea typeface="Arial"/>
              <a:cs typeface="Arial"/>
              <a:sym typeface="Arial"/>
            </a:endParaRPr>
          </a:p>
        </p:txBody>
      </p:sp>
      <p:sp>
        <p:nvSpPr>
          <p:cNvPr id="261" name="Google Shape;261;p12"/>
          <p:cNvSpPr/>
          <p:nvPr/>
        </p:nvSpPr>
        <p:spPr>
          <a:xfrm>
            <a:off x="1078992" y="361188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1261872" y="3520440"/>
            <a:ext cx="4114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Low-cost contact where some false alarms are acceptable</a:t>
            </a:r>
            <a:endParaRPr b="0" i="0" sz="1600" u="none" cap="none" strike="noStrike">
              <a:solidFill>
                <a:schemeClr val="dk1"/>
              </a:solidFill>
              <a:latin typeface="Arial"/>
              <a:ea typeface="Arial"/>
              <a:cs typeface="Arial"/>
              <a:sym typeface="Arial"/>
            </a:endParaRPr>
          </a:p>
        </p:txBody>
      </p:sp>
      <p:sp>
        <p:nvSpPr>
          <p:cNvPr id="263" name="Google Shape;263;p12"/>
          <p:cNvSpPr/>
          <p:nvPr/>
        </p:nvSpPr>
        <p:spPr>
          <a:xfrm>
            <a:off x="1078992" y="425196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1261872" y="4160520"/>
            <a:ext cx="4114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A human decision with context, not an automatic action</a:t>
            </a:r>
            <a:endParaRPr b="0" i="0" sz="1600" u="none" cap="none" strike="noStrike">
              <a:solidFill>
                <a:schemeClr val="dk1"/>
              </a:solidFill>
              <a:latin typeface="Arial"/>
              <a:ea typeface="Arial"/>
              <a:cs typeface="Arial"/>
              <a:sym typeface="Arial"/>
            </a:endParaRPr>
          </a:p>
        </p:txBody>
      </p:sp>
      <p:sp>
        <p:nvSpPr>
          <p:cNvPr id="265" name="Google Shape;265;p12"/>
          <p:cNvSpPr/>
          <p:nvPr/>
        </p:nvSpPr>
        <p:spPr>
          <a:xfrm>
            <a:off x="6263640" y="1417320"/>
            <a:ext cx="5074920" cy="4251960"/>
          </a:xfrm>
          <a:prstGeom prst="roundRect">
            <a:avLst>
              <a:gd fmla="val 3011" name="adj"/>
            </a:avLst>
          </a:prstGeom>
          <a:solidFill>
            <a:srgbClr val="FFFFFF"/>
          </a:solidFill>
          <a:ln cap="flat" cmpd="sng" w="12700">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6611112" y="178308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1100"/>
              <a:buFont typeface="Arial"/>
              <a:buNone/>
            </a:pPr>
            <a:r>
              <a:rPr b="1" i="0" lang="en-US" sz="1100" u="none" cap="none" strike="noStrike">
                <a:solidFill>
                  <a:srgbClr val="B42318"/>
                </a:solidFill>
                <a:latin typeface="Arial"/>
                <a:ea typeface="Arial"/>
                <a:cs typeface="Arial"/>
                <a:sym typeface="Arial"/>
              </a:rPr>
              <a:t>DO NOT PRETEND IT KNOWS</a:t>
            </a:r>
            <a:endParaRPr b="0" i="0" sz="1100" u="none" cap="none" strike="noStrike">
              <a:solidFill>
                <a:schemeClr val="dk1"/>
              </a:solidFill>
              <a:latin typeface="Arial"/>
              <a:ea typeface="Arial"/>
              <a:cs typeface="Arial"/>
              <a:sym typeface="Arial"/>
            </a:endParaRPr>
          </a:p>
        </p:txBody>
      </p:sp>
      <p:sp>
        <p:nvSpPr>
          <p:cNvPr id="267" name="Google Shape;267;p12"/>
          <p:cNvSpPr/>
          <p:nvPr/>
        </p:nvSpPr>
        <p:spPr>
          <a:xfrm>
            <a:off x="6611112" y="2139696"/>
            <a:ext cx="4160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2600"/>
              <a:buFont typeface="Arial"/>
              <a:buNone/>
            </a:pPr>
            <a:r>
              <a:rPr b="1" i="0" lang="en-US" sz="2600" u="none" cap="none" strike="noStrike">
                <a:solidFill>
                  <a:srgbClr val="101828"/>
                </a:solidFill>
                <a:latin typeface="Arial"/>
                <a:ea typeface="Arial"/>
                <a:cs typeface="Arial"/>
                <a:sym typeface="Arial"/>
              </a:rPr>
              <a:t>What this data cannot see</a:t>
            </a:r>
            <a:endParaRPr b="0" i="0" sz="2600" u="none" cap="none" strike="noStrike">
              <a:solidFill>
                <a:schemeClr val="dk1"/>
              </a:solidFill>
              <a:latin typeface="Arial"/>
              <a:ea typeface="Arial"/>
              <a:cs typeface="Arial"/>
              <a:sym typeface="Arial"/>
            </a:endParaRPr>
          </a:p>
        </p:txBody>
      </p:sp>
      <p:sp>
        <p:nvSpPr>
          <p:cNvPr id="268" name="Google Shape;268;p12"/>
          <p:cNvSpPr/>
          <p:nvPr/>
        </p:nvSpPr>
        <p:spPr>
          <a:xfrm>
            <a:off x="6611112" y="297180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6793992" y="2880360"/>
            <a:ext cx="3931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Complaints, outages or recent support experiences</a:t>
            </a:r>
            <a:endParaRPr b="0" i="0" sz="1600" u="none" cap="none" strike="noStrike">
              <a:solidFill>
                <a:schemeClr val="dk1"/>
              </a:solidFill>
              <a:latin typeface="Arial"/>
              <a:ea typeface="Arial"/>
              <a:cs typeface="Arial"/>
              <a:sym typeface="Arial"/>
            </a:endParaRPr>
          </a:p>
        </p:txBody>
      </p:sp>
      <p:sp>
        <p:nvSpPr>
          <p:cNvPr id="270" name="Google Shape;270;p12"/>
          <p:cNvSpPr/>
          <p:nvPr/>
        </p:nvSpPr>
        <p:spPr>
          <a:xfrm>
            <a:off x="6611112" y="361188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6793992" y="3520440"/>
            <a:ext cx="3931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Competitor offers and changing prices</a:t>
            </a:r>
            <a:endParaRPr b="0" i="0" sz="1600" u="none" cap="none" strike="noStrike">
              <a:solidFill>
                <a:schemeClr val="dk1"/>
              </a:solidFill>
              <a:latin typeface="Arial"/>
              <a:ea typeface="Arial"/>
              <a:cs typeface="Arial"/>
              <a:sym typeface="Arial"/>
            </a:endParaRPr>
          </a:p>
        </p:txBody>
      </p:sp>
      <p:sp>
        <p:nvSpPr>
          <p:cNvPr id="272" name="Google Shape;272;p12"/>
          <p:cNvSpPr/>
          <p:nvPr/>
        </p:nvSpPr>
        <p:spPr>
          <a:xfrm>
            <a:off x="6611112" y="4251960"/>
            <a:ext cx="82296" cy="82296"/>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6793992" y="4160520"/>
            <a:ext cx="3931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600"/>
              <a:buFont typeface="Arial"/>
              <a:buNone/>
            </a:pPr>
            <a:r>
              <a:rPr b="0" i="0" lang="en-US" sz="1600" u="none" cap="none" strike="noStrike">
                <a:solidFill>
                  <a:srgbClr val="101828"/>
                </a:solidFill>
                <a:latin typeface="Arial"/>
                <a:ea typeface="Arial"/>
                <a:cs typeface="Arial"/>
                <a:sym typeface="Arial"/>
              </a:rPr>
              <a:t>Future behaviour drift — monitor and retrain</a:t>
            </a:r>
            <a:endParaRPr b="0" i="0" sz="1600" u="none" cap="none" strike="noStrike">
              <a:solidFill>
                <a:schemeClr val="dk1"/>
              </a:solidFill>
              <a:latin typeface="Arial"/>
              <a:ea typeface="Arial"/>
              <a:cs typeface="Arial"/>
              <a:sym typeface="Arial"/>
            </a:endParaRPr>
          </a:p>
        </p:txBody>
      </p:sp>
      <p:sp>
        <p:nvSpPr>
          <p:cNvPr id="274" name="Google Shape;274;p12"/>
          <p:cNvSpPr/>
          <p:nvPr/>
        </p:nvSpPr>
        <p:spPr>
          <a:xfrm>
            <a:off x="914400" y="5925312"/>
            <a:ext cx="10241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800"/>
              <a:buFont typeface="Arial"/>
              <a:buNone/>
            </a:pPr>
            <a:r>
              <a:rPr b="1" i="0" lang="en-US" sz="1800" u="none" cap="none" strike="noStrike">
                <a:solidFill>
                  <a:srgbClr val="101828"/>
                </a:solidFill>
                <a:latin typeface="Arial"/>
                <a:ea typeface="Arial"/>
                <a:cs typeface="Arial"/>
                <a:sym typeface="Arial"/>
              </a:rPr>
              <a:t>Model = prioritisation tool, not a crystal ball.</a:t>
            </a:r>
            <a:endParaRPr b="0" i="0" sz="1800" u="none" cap="none" strike="noStrike">
              <a:solidFill>
                <a:schemeClr val="dk1"/>
              </a:solidFill>
              <a:latin typeface="Arial"/>
              <a:ea typeface="Arial"/>
              <a:cs typeface="Arial"/>
              <a:sym typeface="Arial"/>
            </a:endParaRPr>
          </a:p>
        </p:txBody>
      </p:sp>
      <p:sp>
        <p:nvSpPr>
          <p:cNvPr id="275" name="Google Shape;275;p12"/>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3"/>
          <p:cNvSpPr/>
          <p:nvPr/>
        </p:nvSpPr>
        <p:spPr>
          <a:xfrm>
            <a:off x="777240" y="713232"/>
            <a:ext cx="667512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3400"/>
              <a:buFont typeface="Arial"/>
              <a:buNone/>
            </a:pPr>
            <a:r>
              <a:rPr b="1" i="0" lang="en-US" sz="3400" u="none" cap="none" strike="noStrike">
                <a:solidFill>
                  <a:srgbClr val="101828"/>
                </a:solidFill>
                <a:latin typeface="Arial"/>
                <a:ea typeface="Arial"/>
                <a:cs typeface="Arial"/>
                <a:sym typeface="Arial"/>
              </a:rPr>
              <a:t>78% of churners caught.</a:t>
            </a:r>
            <a:endParaRPr b="0" i="0" sz="3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3400"/>
              <a:buFont typeface="Arial"/>
              <a:buNone/>
            </a:pPr>
            <a:r>
              <a:rPr b="1" i="0" lang="en-US" sz="3400" u="none" cap="none" strike="noStrike">
                <a:solidFill>
                  <a:srgbClr val="101828"/>
                </a:solidFill>
                <a:latin typeface="Arial"/>
                <a:ea typeface="Arial"/>
                <a:cs typeface="Arial"/>
                <a:sym typeface="Arial"/>
              </a:rPr>
              <a:t>Now let’s make it tangible.</a:t>
            </a:r>
            <a:endParaRPr b="0" i="0" sz="3400" u="none" cap="none" strike="noStrike">
              <a:solidFill>
                <a:schemeClr val="dk1"/>
              </a:solidFill>
              <a:latin typeface="Arial"/>
              <a:ea typeface="Arial"/>
              <a:cs typeface="Arial"/>
              <a:sym typeface="Arial"/>
            </a:endParaRPr>
          </a:p>
        </p:txBody>
      </p:sp>
      <p:sp>
        <p:nvSpPr>
          <p:cNvPr id="282" name="Google Shape;282;p13"/>
          <p:cNvSpPr/>
          <p:nvPr/>
        </p:nvSpPr>
        <p:spPr>
          <a:xfrm>
            <a:off x="822960" y="2359152"/>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100"/>
              <a:buFont typeface="Arial"/>
              <a:buNone/>
            </a:pPr>
            <a:r>
              <a:rPr b="1" i="0" lang="en-US" sz="1100" u="none" cap="none" strike="noStrike">
                <a:solidFill>
                  <a:srgbClr val="0F766E"/>
                </a:solidFill>
                <a:latin typeface="Arial"/>
                <a:ea typeface="Arial"/>
                <a:cs typeface="Arial"/>
                <a:sym typeface="Arial"/>
              </a:rPr>
              <a:t>LIVE DEMO</a:t>
            </a:r>
            <a:endParaRPr b="0" i="0" sz="1100" u="none" cap="none" strike="noStrike">
              <a:solidFill>
                <a:schemeClr val="dk1"/>
              </a:solidFill>
              <a:latin typeface="Arial"/>
              <a:ea typeface="Arial"/>
              <a:cs typeface="Arial"/>
              <a:sym typeface="Arial"/>
            </a:endParaRPr>
          </a:p>
        </p:txBody>
      </p:sp>
      <p:sp>
        <p:nvSpPr>
          <p:cNvPr id="283" name="Google Shape;283;p13"/>
          <p:cNvSpPr/>
          <p:nvPr/>
        </p:nvSpPr>
        <p:spPr>
          <a:xfrm>
            <a:off x="822960" y="2743200"/>
            <a:ext cx="2606040" cy="1874520"/>
          </a:xfrm>
          <a:prstGeom prst="roundRect">
            <a:avLst>
              <a:gd fmla="val 5854" name="adj"/>
            </a:avLst>
          </a:prstGeom>
          <a:solidFill>
            <a:srgbClr val="FEE4E2"/>
          </a:solidFill>
          <a:ln cap="flat" cmpd="sng" w="12700">
            <a:solidFill>
              <a:srgbClr val="FEE4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1005840" y="297180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2318"/>
              </a:buClr>
              <a:buSzPts val="1300"/>
              <a:buFont typeface="Arial"/>
              <a:buNone/>
            </a:pPr>
            <a:r>
              <a:rPr b="1" i="0" lang="en-US" sz="1300" u="none" cap="none" strike="noStrike">
                <a:solidFill>
                  <a:srgbClr val="B42318"/>
                </a:solidFill>
                <a:latin typeface="Arial"/>
                <a:ea typeface="Arial"/>
                <a:cs typeface="Arial"/>
                <a:sym typeface="Arial"/>
              </a:rPr>
              <a:t>High risk</a:t>
            </a:r>
            <a:endParaRPr b="0" i="0" sz="1300" u="none" cap="none" strike="noStrike">
              <a:solidFill>
                <a:schemeClr val="dk1"/>
              </a:solidFill>
              <a:latin typeface="Arial"/>
              <a:ea typeface="Arial"/>
              <a:cs typeface="Arial"/>
              <a:sym typeface="Arial"/>
            </a:endParaRPr>
          </a:p>
        </p:txBody>
      </p:sp>
      <p:sp>
        <p:nvSpPr>
          <p:cNvPr id="285" name="Google Shape;285;p13"/>
          <p:cNvSpPr/>
          <p:nvPr/>
        </p:nvSpPr>
        <p:spPr>
          <a:xfrm>
            <a:off x="1005840" y="3319272"/>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3200"/>
              <a:buFont typeface="Arial"/>
              <a:buNone/>
            </a:pPr>
            <a:r>
              <a:rPr b="1" i="0" lang="en-US" sz="3200" u="none" cap="none" strike="noStrike">
                <a:solidFill>
                  <a:srgbClr val="101828"/>
                </a:solidFill>
                <a:latin typeface="Arial"/>
                <a:ea typeface="Arial"/>
                <a:cs typeface="Arial"/>
                <a:sym typeface="Arial"/>
              </a:rPr>
              <a:t>89.2%</a:t>
            </a:r>
            <a:endParaRPr b="0" i="0" sz="3200" u="none" cap="none" strike="noStrike">
              <a:solidFill>
                <a:schemeClr val="dk1"/>
              </a:solidFill>
              <a:latin typeface="Arial"/>
              <a:ea typeface="Arial"/>
              <a:cs typeface="Arial"/>
              <a:sym typeface="Arial"/>
            </a:endParaRPr>
          </a:p>
        </p:txBody>
      </p:sp>
      <p:sp>
        <p:nvSpPr>
          <p:cNvPr id="286" name="Google Shape;286;p13"/>
          <p:cNvSpPr/>
          <p:nvPr/>
        </p:nvSpPr>
        <p:spPr>
          <a:xfrm>
            <a:off x="1005840" y="3904488"/>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3 months · month-to-month</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fibre · electronic cheque</a:t>
            </a:r>
            <a:endParaRPr b="0" i="0" sz="1200" u="none" cap="none" strike="noStrike">
              <a:solidFill>
                <a:schemeClr val="dk1"/>
              </a:solidFill>
              <a:latin typeface="Arial"/>
              <a:ea typeface="Arial"/>
              <a:cs typeface="Arial"/>
              <a:sym typeface="Arial"/>
            </a:endParaRPr>
          </a:p>
        </p:txBody>
      </p:sp>
      <p:sp>
        <p:nvSpPr>
          <p:cNvPr id="287" name="Google Shape;287;p13"/>
          <p:cNvSpPr/>
          <p:nvPr/>
        </p:nvSpPr>
        <p:spPr>
          <a:xfrm>
            <a:off x="3931920" y="2743200"/>
            <a:ext cx="2606040" cy="1874520"/>
          </a:xfrm>
          <a:prstGeom prst="roundRect">
            <a:avLst>
              <a:gd fmla="val 5854" name="adj"/>
            </a:avLst>
          </a:prstGeom>
          <a:solidFill>
            <a:srgbClr val="E8F5EE"/>
          </a:solidFill>
          <a:ln cap="flat" cmpd="sng" w="12700">
            <a:solidFill>
              <a:srgbClr val="E8F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p:nvPr/>
        </p:nvSpPr>
        <p:spPr>
          <a:xfrm>
            <a:off x="4114800" y="297180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647"/>
              </a:buClr>
              <a:buSzPts val="1300"/>
              <a:buFont typeface="Arial"/>
              <a:buNone/>
            </a:pPr>
            <a:r>
              <a:rPr b="1" i="0" lang="en-US" sz="1300" u="none" cap="none" strike="noStrike">
                <a:solidFill>
                  <a:srgbClr val="067647"/>
                </a:solidFill>
                <a:latin typeface="Arial"/>
                <a:ea typeface="Arial"/>
                <a:cs typeface="Arial"/>
                <a:sym typeface="Arial"/>
              </a:rPr>
              <a:t>Low risk</a:t>
            </a:r>
            <a:endParaRPr b="0" i="0" sz="1300" u="none" cap="none" strike="noStrike">
              <a:solidFill>
                <a:schemeClr val="dk1"/>
              </a:solidFill>
              <a:latin typeface="Arial"/>
              <a:ea typeface="Arial"/>
              <a:cs typeface="Arial"/>
              <a:sym typeface="Arial"/>
            </a:endParaRPr>
          </a:p>
        </p:txBody>
      </p:sp>
      <p:sp>
        <p:nvSpPr>
          <p:cNvPr id="289" name="Google Shape;289;p13"/>
          <p:cNvSpPr/>
          <p:nvPr/>
        </p:nvSpPr>
        <p:spPr>
          <a:xfrm>
            <a:off x="4114800" y="3319272"/>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3200"/>
              <a:buFont typeface="Arial"/>
              <a:buNone/>
            </a:pPr>
            <a:r>
              <a:rPr b="1" i="0" lang="en-US" sz="3200" u="none" cap="none" strike="noStrike">
                <a:solidFill>
                  <a:srgbClr val="101828"/>
                </a:solidFill>
                <a:latin typeface="Arial"/>
                <a:ea typeface="Arial"/>
                <a:cs typeface="Arial"/>
                <a:sym typeface="Arial"/>
              </a:rPr>
              <a:t>2.1%</a:t>
            </a:r>
            <a:endParaRPr b="0" i="0" sz="3200" u="none" cap="none" strike="noStrike">
              <a:solidFill>
                <a:schemeClr val="dk1"/>
              </a:solidFill>
              <a:latin typeface="Arial"/>
              <a:ea typeface="Arial"/>
              <a:cs typeface="Arial"/>
              <a:sym typeface="Arial"/>
            </a:endParaRPr>
          </a:p>
        </p:txBody>
      </p:sp>
      <p:sp>
        <p:nvSpPr>
          <p:cNvPr id="290" name="Google Shape;290;p13"/>
          <p:cNvSpPr/>
          <p:nvPr/>
        </p:nvSpPr>
        <p:spPr>
          <a:xfrm>
            <a:off x="4114800" y="3904488"/>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60 months · two-year</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DSL · automatic bank transfer</a:t>
            </a:r>
            <a:endParaRPr b="0" i="0" sz="1200" u="none" cap="none" strike="noStrike">
              <a:solidFill>
                <a:schemeClr val="dk1"/>
              </a:solidFill>
              <a:latin typeface="Arial"/>
              <a:ea typeface="Arial"/>
              <a:cs typeface="Arial"/>
              <a:sym typeface="Arial"/>
            </a:endParaRPr>
          </a:p>
        </p:txBody>
      </p:sp>
      <p:sp>
        <p:nvSpPr>
          <p:cNvPr id="291" name="Google Shape;291;p13"/>
          <p:cNvSpPr/>
          <p:nvPr/>
        </p:nvSpPr>
        <p:spPr>
          <a:xfrm>
            <a:off x="7040880" y="2743200"/>
            <a:ext cx="2606040" cy="1874520"/>
          </a:xfrm>
          <a:prstGeom prst="roundRect">
            <a:avLst>
              <a:gd fmla="val 5854" name="adj"/>
            </a:avLst>
          </a:prstGeom>
          <a:solidFill>
            <a:srgbClr val="FFF0D5"/>
          </a:solidFill>
          <a:ln cap="flat" cmpd="sng" w="12700">
            <a:solidFill>
              <a:srgbClr val="FFF0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7223760" y="2971800"/>
            <a:ext cx="21945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Arial"/>
              <a:buNone/>
            </a:pPr>
            <a:r>
              <a:rPr b="1" i="0" lang="en-US" sz="1300" u="none" cap="none" strike="noStrike">
                <a:solidFill>
                  <a:srgbClr val="D97706"/>
                </a:solidFill>
                <a:latin typeface="Arial"/>
                <a:ea typeface="Arial"/>
                <a:cs typeface="Arial"/>
                <a:sym typeface="Arial"/>
              </a:rPr>
              <a:t>Borderline-ish</a:t>
            </a:r>
            <a:endParaRPr b="0" i="0" sz="1300" u="none" cap="none" strike="noStrike">
              <a:solidFill>
                <a:schemeClr val="dk1"/>
              </a:solidFill>
              <a:latin typeface="Arial"/>
              <a:ea typeface="Arial"/>
              <a:cs typeface="Arial"/>
              <a:sym typeface="Arial"/>
            </a:endParaRPr>
          </a:p>
        </p:txBody>
      </p:sp>
      <p:sp>
        <p:nvSpPr>
          <p:cNvPr id="293" name="Google Shape;293;p13"/>
          <p:cNvSpPr/>
          <p:nvPr/>
        </p:nvSpPr>
        <p:spPr>
          <a:xfrm>
            <a:off x="7223760" y="3319272"/>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3200"/>
              <a:buFont typeface="Arial"/>
              <a:buNone/>
            </a:pPr>
            <a:r>
              <a:rPr b="1" i="0" lang="en-US" sz="3200" u="none" cap="none" strike="noStrike">
                <a:solidFill>
                  <a:srgbClr val="101828"/>
                </a:solidFill>
                <a:latin typeface="Arial"/>
                <a:ea typeface="Arial"/>
                <a:cs typeface="Arial"/>
                <a:sym typeface="Arial"/>
              </a:rPr>
              <a:t>62.6%</a:t>
            </a:r>
            <a:endParaRPr b="0" i="0" sz="3200" u="none" cap="none" strike="noStrike">
              <a:solidFill>
                <a:schemeClr val="dk1"/>
              </a:solidFill>
              <a:latin typeface="Arial"/>
              <a:ea typeface="Arial"/>
              <a:cs typeface="Arial"/>
              <a:sym typeface="Arial"/>
            </a:endParaRPr>
          </a:p>
        </p:txBody>
      </p:sp>
      <p:sp>
        <p:nvSpPr>
          <p:cNvPr id="294" name="Google Shape;294;p13"/>
          <p:cNvSpPr/>
          <p:nvPr/>
        </p:nvSpPr>
        <p:spPr>
          <a:xfrm>
            <a:off x="7223760" y="3904488"/>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18 months · one-year</a:t>
            </a:r>
            <a:endParaRPr b="0" i="0" sz="1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01828"/>
              </a:buClr>
              <a:buSzPts val="1200"/>
              <a:buFont typeface="Arial"/>
              <a:buNone/>
            </a:pPr>
            <a:r>
              <a:rPr b="0" i="0" lang="en-US" sz="1200" u="none" cap="none" strike="noStrike">
                <a:solidFill>
                  <a:srgbClr val="101828"/>
                </a:solidFill>
                <a:latin typeface="Arial"/>
                <a:ea typeface="Arial"/>
                <a:cs typeface="Arial"/>
                <a:sym typeface="Arial"/>
              </a:rPr>
              <a:t>fibre · automatic card</a:t>
            </a:r>
            <a:endParaRPr b="0" i="0" sz="1200" u="none" cap="none" strike="noStrike">
              <a:solidFill>
                <a:schemeClr val="dk1"/>
              </a:solidFill>
              <a:latin typeface="Arial"/>
              <a:ea typeface="Arial"/>
              <a:cs typeface="Arial"/>
              <a:sym typeface="Arial"/>
            </a:endParaRPr>
          </a:p>
        </p:txBody>
      </p:sp>
      <p:sp>
        <p:nvSpPr>
          <p:cNvPr id="295" name="Google Shape;295;p13"/>
          <p:cNvSpPr/>
          <p:nvPr/>
        </p:nvSpPr>
        <p:spPr>
          <a:xfrm>
            <a:off x="9966960" y="2706624"/>
            <a:ext cx="1600200" cy="1965960"/>
          </a:xfrm>
          <a:prstGeom prst="roundRect">
            <a:avLst>
              <a:gd fmla="val 6857" name="adj"/>
            </a:avLst>
          </a:prstGeom>
          <a:solidFill>
            <a:srgbClr val="101828"/>
          </a:solidFill>
          <a:ln cap="flat" cmpd="sng" w="12700">
            <a:solidFill>
              <a:srgbClr val="101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868680" y="5285232"/>
            <a:ext cx="99669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828"/>
              </a:buClr>
              <a:buSzPts val="1600"/>
              <a:buFont typeface="Arial"/>
              <a:buNone/>
            </a:pPr>
            <a:r>
              <a:rPr b="1" i="0" lang="en-US" sz="1600" u="none" cap="none" strike="noStrike">
                <a:solidFill>
                  <a:srgbClr val="101828"/>
                </a:solidFill>
                <a:latin typeface="Arial"/>
                <a:ea typeface="Arial"/>
                <a:cs typeface="Arial"/>
                <a:sym typeface="Arial"/>
              </a:rPr>
              <a:t>The app will load the saved pipeline and score a customer live — same preprocessing, same threshold, no notebook magic.</a:t>
            </a:r>
            <a:endParaRPr b="0" i="0" sz="1600" u="none" cap="none" strike="noStrike">
              <a:solidFill>
                <a:schemeClr val="dk1"/>
              </a:solidFill>
              <a:latin typeface="Arial"/>
              <a:ea typeface="Arial"/>
              <a:cs typeface="Arial"/>
              <a:sym typeface="Arial"/>
            </a:endParaRPr>
          </a:p>
        </p:txBody>
      </p:sp>
      <p:sp>
        <p:nvSpPr>
          <p:cNvPr id="297" name="Google Shape;297;p13"/>
          <p:cNvSpPr/>
          <p:nvPr/>
        </p:nvSpPr>
        <p:spPr>
          <a:xfrm>
            <a:off x="868680" y="5989320"/>
            <a:ext cx="98755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5E59"/>
              </a:buClr>
              <a:buSzPts val="2000"/>
              <a:buFont typeface="Arial"/>
              <a:buNone/>
            </a:pPr>
            <a:r>
              <a:rPr b="1" i="0" lang="en-US" sz="2000" u="none" cap="none" strike="noStrike">
                <a:solidFill>
                  <a:srgbClr val="115E59"/>
                </a:solidFill>
                <a:latin typeface="Arial"/>
                <a:ea typeface="Arial"/>
                <a:cs typeface="Arial"/>
                <a:sym typeface="Arial"/>
              </a:rPr>
              <a:t>Thank you</a:t>
            </a:r>
            <a:endParaRPr b="0" i="0" sz="2000" u="none" cap="none" strike="noStrike">
              <a:solidFill>
                <a:schemeClr val="dk1"/>
              </a:solidFill>
              <a:latin typeface="Arial"/>
              <a:ea typeface="Arial"/>
              <a:cs typeface="Arial"/>
              <a:sym typeface="Arial"/>
            </a:endParaRPr>
          </a:p>
        </p:txBody>
      </p:sp>
      <p:sp>
        <p:nvSpPr>
          <p:cNvPr id="298" name="Google Shape;298;p13"/>
          <p:cNvSpPr txBox="1"/>
          <p:nvPr>
            <p:ph idx="4294967295" type="sldNum"/>
          </p:nvPr>
        </p:nvSpPr>
        <p:spPr>
          <a:xfrm>
            <a:off x="11201400" y="6428232"/>
            <a:ext cx="41148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8A2B3"/>
                </a:solidFill>
                <a:latin typeface="Arial"/>
                <a:ea typeface="Arial"/>
                <a:cs typeface="Arial"/>
                <a:sym typeface="Arial"/>
              </a:rPr>
              <a:t>‹#›</a:t>
            </a:fld>
            <a:endParaRPr b="0" i="0" sz="900" u="none" cap="none" strike="noStrike">
              <a:solidFill>
                <a:srgbClr val="98A2B3"/>
              </a:solidFill>
              <a:latin typeface="Arial"/>
              <a:ea typeface="Arial"/>
              <a:cs typeface="Arial"/>
              <a:sym typeface="Arial"/>
            </a:endParaRPr>
          </a:p>
        </p:txBody>
      </p:sp>
      <p:pic>
        <p:nvPicPr>
          <p:cNvPr id="299" name="Google Shape;299;p13" title="alex_retention_control_room_qr.png"/>
          <p:cNvPicPr preferRelativeResize="0"/>
          <p:nvPr/>
        </p:nvPicPr>
        <p:blipFill>
          <a:blip r:embed="rId3">
            <a:alphaModFix/>
          </a:blip>
          <a:stretch>
            <a:fillRect/>
          </a:stretch>
        </p:blipFill>
        <p:spPr>
          <a:xfrm>
            <a:off x="9989800" y="2903213"/>
            <a:ext cx="1554501" cy="1554501"/>
          </a:xfrm>
          <a:prstGeom prst="rect">
            <a:avLst/>
          </a:prstGeom>
          <a:solidFill>
            <a:srgbClr val="101828"/>
          </a:solidFill>
          <a:ln cap="flat" cmpd="sng" w="12700">
            <a:solidFill>
              <a:srgbClr val="101828"/>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14" title="alex_retention_control_room_qr.png"/>
          <p:cNvPicPr preferRelativeResize="0"/>
          <p:nvPr/>
        </p:nvPicPr>
        <p:blipFill>
          <a:blip r:embed="rId3">
            <a:alphaModFix/>
          </a:blip>
          <a:stretch>
            <a:fillRect/>
          </a:stretch>
        </p:blipFill>
        <p:spPr>
          <a:xfrm>
            <a:off x="3723099" y="476774"/>
            <a:ext cx="4745799" cy="4745799"/>
          </a:xfrm>
          <a:prstGeom prst="rect">
            <a:avLst/>
          </a:prstGeom>
          <a:solidFill>
            <a:srgbClr val="101828"/>
          </a:solidFill>
          <a:ln cap="flat" cmpd="sng" w="12700">
            <a:solidFill>
              <a:srgbClr val="101828"/>
            </a:solidFill>
            <a:prstDash val="solid"/>
            <a:round/>
            <a:headEnd len="sm" w="sm" type="none"/>
            <a:tailEnd len="sm" w="sm" type="none"/>
          </a:ln>
        </p:spPr>
      </p:pic>
      <p:sp>
        <p:nvSpPr>
          <p:cNvPr id="306" name="Google Shape;306;p14"/>
          <p:cNvSpPr txBox="1"/>
          <p:nvPr/>
        </p:nvSpPr>
        <p:spPr>
          <a:xfrm>
            <a:off x="3722950" y="5495800"/>
            <a:ext cx="474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188038"/>
                </a:solidFill>
                <a:latin typeface="Lexend"/>
                <a:ea typeface="Lexend"/>
                <a:cs typeface="Lexend"/>
                <a:sym typeface="Lexend"/>
              </a:rPr>
              <a:t>https://alex-retention-control-room.streamlit.app</a:t>
            </a:r>
            <a:r>
              <a:rPr b="1" lang="en-US">
                <a:solidFill>
                  <a:schemeClr val="dk1"/>
                </a:solidFill>
                <a:latin typeface="Lexend"/>
                <a:ea typeface="Lexend"/>
                <a:cs typeface="Lexend"/>
                <a:sym typeface="Lexend"/>
              </a:rPr>
              <a:t> </a:t>
            </a:r>
            <a:endParaRPr b="1" sz="1700">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